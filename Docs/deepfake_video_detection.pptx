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585" r:id="rId2"/>
    <p:sldId id="691" r:id="rId3"/>
    <p:sldId id="586" r:id="rId4"/>
    <p:sldId id="485" r:id="rId5"/>
    <p:sldId id="620" r:id="rId6"/>
    <p:sldId id="656" r:id="rId7"/>
    <p:sldId id="661" r:id="rId8"/>
    <p:sldId id="662" r:id="rId9"/>
    <p:sldId id="663" r:id="rId10"/>
    <p:sldId id="657" r:id="rId11"/>
    <p:sldId id="664" r:id="rId12"/>
    <p:sldId id="665" r:id="rId13"/>
    <p:sldId id="666" r:id="rId14"/>
    <p:sldId id="658" r:id="rId15"/>
    <p:sldId id="667" r:id="rId16"/>
    <p:sldId id="668" r:id="rId17"/>
    <p:sldId id="669" r:id="rId18"/>
    <p:sldId id="659" r:id="rId19"/>
    <p:sldId id="670" r:id="rId20"/>
    <p:sldId id="671" r:id="rId21"/>
    <p:sldId id="672" r:id="rId22"/>
    <p:sldId id="673" r:id="rId23"/>
    <p:sldId id="674" r:id="rId24"/>
    <p:sldId id="660" r:id="rId25"/>
    <p:sldId id="675" r:id="rId26"/>
    <p:sldId id="483" r:id="rId27"/>
    <p:sldId id="479" r:id="rId28"/>
    <p:sldId id="676" r:id="rId29"/>
    <p:sldId id="677" r:id="rId30"/>
    <p:sldId id="678" r:id="rId31"/>
    <p:sldId id="679" r:id="rId32"/>
    <p:sldId id="680" r:id="rId33"/>
    <p:sldId id="681" r:id="rId34"/>
    <p:sldId id="682" r:id="rId35"/>
    <p:sldId id="683" r:id="rId36"/>
    <p:sldId id="684" r:id="rId37"/>
    <p:sldId id="685" r:id="rId38"/>
    <p:sldId id="686" r:id="rId39"/>
    <p:sldId id="687" r:id="rId40"/>
    <p:sldId id="688" r:id="rId41"/>
    <p:sldId id="689" r:id="rId42"/>
    <p:sldId id="690" r:id="rId43"/>
  </p:sldIdLst>
  <p:sldSz cx="9144000" cy="6858000" type="screen4x3"/>
  <p:notesSz cx="6954838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D4141"/>
    <a:srgbClr val="006600"/>
    <a:srgbClr val="FFD757"/>
    <a:srgbClr val="FAFC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435FB-3F63-40C3-84D0-2F420BBAEE24}" v="258" dt="2026-01-29T20:11:44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5" autoAdjust="0"/>
  </p:normalViewPr>
  <p:slideViewPr>
    <p:cSldViewPr>
      <p:cViewPr>
        <p:scale>
          <a:sx n="75" d="100"/>
          <a:sy n="75" d="100"/>
        </p:scale>
        <p:origin x="169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3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466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8588" y="0"/>
            <a:ext cx="301466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375B65A-E619-40FD-A808-9D3EBD3F1A9F}" type="datetimeFigureOut">
              <a:rPr lang="en-US"/>
              <a:pPr>
                <a:defRPr/>
              </a:pPr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466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8588" y="8842375"/>
            <a:ext cx="301466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9B0E2B-CF5A-487E-8A81-107BEEAD90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18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7CF36C-D612-41C3-865C-48D6268B8C63}" type="datetimeFigureOut">
              <a:rPr lang="en-US"/>
              <a:pPr>
                <a:defRPr/>
              </a:pPr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vert="horz" lIns="92958" tIns="46479" rIns="92958" bIns="4647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B07EF80-EBF2-4091-BAB9-5E59769CF0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638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F80-EBF2-4091-BAB9-5E59769CF05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67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96AD-9118-1E6A-415B-488E2936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8A462-9F01-66B6-089C-B8E0B6C03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ECC9D-B490-5AC0-4E64-7CD2F75D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A017-8F87-E798-17F2-69E6694FF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F80-EBF2-4091-BAB9-5E59769CF05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9B21-17DF-86BF-32F7-A91BB230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A419F-426A-BAB4-3202-355DA6080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8B77B-8120-9679-8D00-35EF98DEA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1C1C3-6542-467F-E9DC-825FB7D09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F80-EBF2-4091-BAB9-5E59769CF05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42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BCB69-B3F1-D638-EF60-6B33E947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2D69D-DC4A-C1D4-2288-11876B511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AD8A7-ADEC-74CE-EF2F-F00EF662D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6887F-996D-08B4-4FF6-9AFB18F42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F80-EBF2-4091-BAB9-5E59769CF05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40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F80-EBF2-4091-BAB9-5E59769CF05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4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07963" y="1436688"/>
            <a:ext cx="8686800" cy="158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>
              <a:defRPr>
                <a:latin typeface="Andalus" pitchFamily="2" charset="-78"/>
                <a:cs typeface="Andalus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ndalus" pitchFamily="2" charset="-78"/>
                <a:cs typeface="Andalus" pitchFamily="2" charset="-7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622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07963" y="1436688"/>
            <a:ext cx="8686800" cy="158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228600" y="6096000"/>
            <a:ext cx="8686800" cy="158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578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07963" y="1436688"/>
            <a:ext cx="8686800" cy="158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228600" y="6118225"/>
            <a:ext cx="8686800" cy="158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DA5A3-5DE2-4772-9321-1B1D1FB455FD}" type="slidenum">
              <a:rPr lang="en-US"/>
              <a:pPr>
                <a:defRPr/>
              </a:pPr>
              <a:t>‹#›</a:t>
            </a:fld>
            <a:r>
              <a:rPr lang="en-US" dirty="0"/>
              <a:t>/109</a:t>
            </a:r>
          </a:p>
        </p:txBody>
      </p:sp>
    </p:spTree>
    <p:extLst>
      <p:ext uri="{BB962C8B-B14F-4D97-AF65-F5344CB8AC3E}">
        <p14:creationId xmlns:p14="http://schemas.microsoft.com/office/powerpoint/2010/main" val="428633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4F6AE-21B9-4080-B46E-B0E83353F6D2}" type="slidenum">
              <a:rPr lang="en-US"/>
              <a:pPr>
                <a:defRPr/>
              </a:pPr>
              <a:t>‹#›</a:t>
            </a:fld>
            <a:r>
              <a:rPr lang="en-US" dirty="0"/>
              <a:t>/109</a:t>
            </a:r>
          </a:p>
        </p:txBody>
      </p:sp>
    </p:spTree>
    <p:extLst>
      <p:ext uri="{BB962C8B-B14F-4D97-AF65-F5344CB8AC3E}">
        <p14:creationId xmlns:p14="http://schemas.microsoft.com/office/powerpoint/2010/main" val="1192956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66F41-0669-47E4-9F21-08C2827E0EAF}" type="slidenum">
              <a:rPr lang="en-US"/>
              <a:pPr>
                <a:defRPr/>
              </a:pPr>
              <a:t>‹#›</a:t>
            </a:fld>
            <a:r>
              <a:rPr lang="en-US" dirty="0"/>
              <a:t>/109</a:t>
            </a:r>
          </a:p>
        </p:txBody>
      </p:sp>
    </p:spTree>
    <p:extLst>
      <p:ext uri="{BB962C8B-B14F-4D97-AF65-F5344CB8AC3E}">
        <p14:creationId xmlns:p14="http://schemas.microsoft.com/office/powerpoint/2010/main" val="418359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71DDE-3745-494B-8964-FA67FCB657EF}" type="slidenum">
              <a:rPr lang="en-US"/>
              <a:pPr>
                <a:defRPr/>
              </a:pPr>
              <a:t>‹#›</a:t>
            </a:fld>
            <a:r>
              <a:rPr lang="en-US" dirty="0"/>
              <a:t>/109</a:t>
            </a:r>
          </a:p>
        </p:txBody>
      </p:sp>
    </p:spTree>
    <p:extLst>
      <p:ext uri="{BB962C8B-B14F-4D97-AF65-F5344CB8AC3E}">
        <p14:creationId xmlns:p14="http://schemas.microsoft.com/office/powerpoint/2010/main" val="221422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86F87-D012-4D1D-9802-3053F836DFDA}" type="slidenum">
              <a:rPr lang="en-US"/>
              <a:pPr>
                <a:defRPr/>
              </a:pPr>
              <a:t>‹#›</a:t>
            </a:fld>
            <a:r>
              <a:rPr lang="en-US" dirty="0"/>
              <a:t>/ 109</a:t>
            </a:r>
          </a:p>
        </p:txBody>
      </p:sp>
    </p:spTree>
    <p:extLst>
      <p:ext uri="{BB962C8B-B14F-4D97-AF65-F5344CB8AC3E}">
        <p14:creationId xmlns:p14="http://schemas.microsoft.com/office/powerpoint/2010/main" val="220807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18987-F808-4227-B628-15A352195663}" type="slidenum">
              <a:rPr lang="en-US"/>
              <a:pPr>
                <a:defRPr/>
              </a:pPr>
              <a:t>‹#›</a:t>
            </a:fld>
            <a:r>
              <a:rPr lang="en-US" dirty="0"/>
              <a:t>/ 109</a:t>
            </a:r>
          </a:p>
        </p:txBody>
      </p:sp>
    </p:spTree>
    <p:extLst>
      <p:ext uri="{BB962C8B-B14F-4D97-AF65-F5344CB8AC3E}">
        <p14:creationId xmlns:p14="http://schemas.microsoft.com/office/powerpoint/2010/main" val="198734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5C2D81-41AC-4EFF-82BB-DA216249FCD1}" type="slidenum">
              <a:rPr lang="en-US"/>
              <a:pPr>
                <a:defRPr/>
              </a:pPr>
              <a:t>‹#›</a:t>
            </a:fld>
            <a:r>
              <a:rPr lang="en-US" dirty="0"/>
              <a:t>/ 109</a:t>
            </a:r>
          </a:p>
        </p:txBody>
      </p:sp>
    </p:spTree>
    <p:extLst>
      <p:ext uri="{BB962C8B-B14F-4D97-AF65-F5344CB8AC3E}">
        <p14:creationId xmlns:p14="http://schemas.microsoft.com/office/powerpoint/2010/main" val="418342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1330B-73DF-457B-9011-3FBF54F7A6C1}" type="slidenum">
              <a:rPr lang="en-US"/>
              <a:pPr>
                <a:defRPr/>
              </a:pPr>
              <a:t>‹#›</a:t>
            </a:fld>
            <a:r>
              <a:rPr lang="en-US" dirty="0"/>
              <a:t>/ 109</a:t>
            </a:r>
          </a:p>
        </p:txBody>
      </p:sp>
    </p:spTree>
    <p:extLst>
      <p:ext uri="{BB962C8B-B14F-4D97-AF65-F5344CB8AC3E}">
        <p14:creationId xmlns:p14="http://schemas.microsoft.com/office/powerpoint/2010/main" val="80306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BF5FCB-F3F3-4702-953C-0C4C3DB16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07963" y="1436688"/>
            <a:ext cx="8686800" cy="158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228600" y="6130925"/>
            <a:ext cx="8686800" cy="1588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ndalus" pitchFamily="2" charset="-78"/>
          <a:ea typeface="+mj-ea"/>
          <a:cs typeface="Andalus" pitchFamily="2" charset="-7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dalus" pitchFamily="2" charset="-78"/>
          <a:cs typeface="Andalus" pitchFamily="2" charset="-7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ndalus" pitchFamily="2" charset="-78"/>
          <a:ea typeface="+mn-ea"/>
          <a:cs typeface="Andalus" pitchFamily="2" charset="-7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ndalus" pitchFamily="2" charset="-78"/>
          <a:ea typeface="+mn-ea"/>
          <a:cs typeface="Andalus" pitchFamily="2" charset="-7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ndalus" pitchFamily="2" charset="-78"/>
          <a:ea typeface="+mn-ea"/>
          <a:cs typeface="Andalus" pitchFamily="2" charset="-7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ndalus" pitchFamily="2" charset="-78"/>
          <a:ea typeface="+mn-ea"/>
          <a:cs typeface="Andalus" pitchFamily="2" charset="-7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ndalus" pitchFamily="2" charset="-78"/>
          <a:ea typeface="+mn-ea"/>
          <a:cs typeface="Andalus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447800"/>
            <a:ext cx="8991600" cy="204724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Deepfake Short Video Detection using Spatial–Temporal Attention Models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24200"/>
            <a:ext cx="6400800" cy="2971800"/>
          </a:xfrm>
        </p:spPr>
        <p:txBody>
          <a:bodyPr>
            <a:noAutofit/>
          </a:bodyPr>
          <a:lstStyle/>
          <a:p>
            <a:endParaRPr lang="en-IN" sz="11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2800" dirty="0" err="1">
                <a:solidFill>
                  <a:schemeClr val="tx2">
                    <a:lumMod val="50000"/>
                  </a:schemeClr>
                </a:solidFill>
              </a:rPr>
              <a:t>By:Shaurya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IN" sz="2800" dirty="0" err="1">
                <a:solidFill>
                  <a:schemeClr val="tx2">
                    <a:lumMod val="50000"/>
                  </a:schemeClr>
                </a:solidFill>
              </a:rPr>
              <a:t>Naithani,Yash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IN" sz="2800" dirty="0" err="1">
                <a:solidFill>
                  <a:schemeClr val="tx2">
                    <a:lumMod val="50000"/>
                  </a:schemeClr>
                </a:solidFill>
              </a:rPr>
              <a:t>Srivastava,Hardik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 Dahiya</a:t>
            </a:r>
          </a:p>
          <a:p>
            <a:r>
              <a:rPr lang="en-IN" sz="2800" b="1" dirty="0">
                <a:solidFill>
                  <a:schemeClr val="tx2">
                    <a:lumMod val="50000"/>
                  </a:schemeClr>
                </a:solidFill>
              </a:rPr>
              <a:t>Guide: Dr. S. Geetha </a:t>
            </a:r>
            <a:endParaRPr lang="en-IN" sz="1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IN" sz="1800" dirty="0">
                <a:solidFill>
                  <a:schemeClr val="tx2">
                    <a:lumMod val="50000"/>
                  </a:schemeClr>
                </a:solidFill>
              </a:rPr>
              <a:t>School of Computing Science &amp; Engineering </a:t>
            </a:r>
          </a:p>
          <a:p>
            <a:r>
              <a:rPr lang="en-IN" sz="1800" dirty="0">
                <a:solidFill>
                  <a:schemeClr val="tx2">
                    <a:lumMod val="50000"/>
                  </a:schemeClr>
                </a:solidFill>
              </a:rPr>
              <a:t>Vellore Institute of Technology Chennai Campus </a:t>
            </a:r>
          </a:p>
          <a:p>
            <a:pPr>
              <a:spcBef>
                <a:spcPts val="0"/>
              </a:spcBef>
            </a:pPr>
            <a:r>
              <a:rPr lang="en-IN" sz="1800" dirty="0">
                <a:solidFill>
                  <a:schemeClr val="tx2">
                    <a:lumMod val="50000"/>
                  </a:schemeClr>
                </a:solidFill>
              </a:rPr>
              <a:t>Chennai, India</a:t>
            </a:r>
            <a:r>
              <a:rPr lang="en-IN" sz="2400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en-IN" sz="20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858000" y="612354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  </a:t>
            </a:r>
            <a:fld id="{00CFE371-8602-434E-A03A-183DD7E4EEA9}" type="slidenum">
              <a:rPr lang="en-US" smtClean="0">
                <a:latin typeface="Andalus" panose="02020603050405020304" pitchFamily="18" charset="-78"/>
                <a:cs typeface="Andalus" panose="02020603050405020304" pitchFamily="18" charset="-78"/>
              </a:rPr>
              <a:pPr/>
              <a:t>1</a:t>
            </a:fld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2-09-2019</a:t>
            </a:r>
          </a:p>
        </p:txBody>
      </p:sp>
      <p:pic>
        <p:nvPicPr>
          <p:cNvPr id="4" name="Picture 2" descr="Image result for vit chennai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97907"/>
            <a:ext cx="4006878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71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D6B5-37B7-8F45-6901-F66218D8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8670-9085-5846-36DC-32153072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 Approval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E01924-DD37-ACEF-A502-9717EDD38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62" y="1524000"/>
            <a:ext cx="3240075" cy="43751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90BFC-CF79-EB2B-5F05-7DFB89C0F27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8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Background &amp; Motivation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79754"/>
            <a:ext cx="6019800" cy="4375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Deepfake Threat Landscape: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Deepfakes represent sophisticated AI-generated synthetic face manipulations powered by advanced machine learning architectures including Generative Adversarial Networks (GANs), Autoencoders, and Diffusion Models. As these techniques achieve increasing photorealism, human detection capability diminishes dramatically.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Critical implications span multiple domains: misinformation campaigns and political manipulation, identity fraud and financial scams, non-consensual explicit content creation, and fundamental challenges to digital forensics integrity.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07F7174-76BA-3240-6159-F4BB9E8E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396" y="1981200"/>
            <a:ext cx="3036198" cy="353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6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 Definition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4114800" cy="4343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Primary Objective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Accurately classify short video segments as authentic or synthetically generated with high precision across diverse manipulation techniques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Technical Challenges</a:t>
            </a:r>
          </a:p>
          <a:p>
            <a:pPr>
              <a:lnSpc>
                <a:spcPts val="160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High-quality GAN manipulations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60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Subtle temporal artifacts in blink patterns and lip synchronization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60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Cross-dataset generalization requirements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60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Compression and noise distortions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detection system must maintain robust performance despite video compression, varying lighting conditions, and sophisticated adversarial techniques designed to evade detection mechanisms.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800600" y="2971800"/>
            <a:ext cx="3657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800600" y="4343400"/>
            <a:ext cx="3657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800600" y="5715000"/>
            <a:ext cx="3657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807748-4C42-2857-DB39-D3ADDE135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27445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97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Cybersecurity &amp; Forensics Importance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B0222-FE8E-8DB7-0449-C3DD27A3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45720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Critical Infrastructure Protection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Digital media serves as evidentiary artifacts in legal proceedings, requiring authentication mechanisms that can withstand sophisticated forgery attempts. AI-driven impersonation enables unprecedented identity abuse vectors.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Financial institutions face emerging fraud threats through deepfake voice and video authentication bypass. Law enforcement and forensics organizations urgently need automated verification tools capable of operating at scale.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defensive landscape must continuously adapt to evolving generative models, creating an ongoing arms race between synthetic generation and detection capabilities.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9961F1B-9FD8-65F0-2185-12FE99CB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82185"/>
            <a:ext cx="3515611" cy="436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1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7881-A11F-FE1A-1F0A-91FF9B45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80CD-23A4-2066-2F8A-C78560AA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BE1C1D-FE81-6441-FB07-85D9210C0A3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8C57C-84F5-5AF0-1C38-329675F09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76400"/>
            <a:ext cx="8229600" cy="41910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MesoNet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CNN Forgery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Face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Deepfake Dataset, Face2Face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Detect low-quality early deepfake texture artifacts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No temporal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modeling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; weak cross-dataset generalization</a:t>
            </a:r>
          </a:p>
          <a:p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Afchar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D., Nozick, V., Yamagishi, J., &amp; Echizen, I. (2018). </a:t>
            </a:r>
            <a:r>
              <a:rPr lang="en-IN" sz="24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MesoNet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a compact facial video forgery detection network.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5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433F-39A0-FEB8-D9AD-B043A4297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73CA-BD40-4597-91BB-2C3C0BA9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D50E74-D153-8C97-1B90-406F113C7B7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6718794-AF3D-C9AF-F99E-C6E7E1A70245}"/>
              </a:ext>
            </a:extLst>
          </p:cNvPr>
          <p:cNvSpPr txBox="1">
            <a:spLocks/>
          </p:cNvSpPr>
          <p:nvPr/>
        </p:nvSpPr>
        <p:spPr bwMode="auto">
          <a:xfrm>
            <a:off x="228600" y="1524794"/>
            <a:ext cx="8763000" cy="403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XceptionNet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Deepfake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Face Image/Video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FaceForensics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++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Established CNN benchmark for manipulated faces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Performance collapses on unseen datasets (dataset shift)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Rössler, A., Cozzolino, D.,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Verdoliva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L., Riess, C., (2019). </a:t>
            </a:r>
            <a:r>
              <a:rPr lang="en-IN" sz="24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FaceForensics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++: Learning to detect manipulated facial images.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67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3EA2-20E1-C910-CFE5-F892A151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7AB-D83F-D86A-D836-C96F39A4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BE48D1F-85B7-5DA9-CA0A-58F6B5DDF81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C7F2EA0-E551-9F73-285C-67FEF4709DB5}"/>
              </a:ext>
            </a:extLst>
          </p:cNvPr>
          <p:cNvSpPr txBox="1">
            <a:spLocks/>
          </p:cNvSpPr>
          <p:nvPr/>
        </p:nvSpPr>
        <p:spPr bwMode="auto">
          <a:xfrm>
            <a:off x="381000" y="1676399"/>
            <a:ext cx="8305799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CNN + LSTM Temporal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 Sequence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HOHA + Web Deepfakes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Captured motion inconsistencies across frames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Tested on limited dataset; early deepfakes only</a:t>
            </a:r>
          </a:p>
          <a:p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Güera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D., &amp; Delp, E. J. (2018).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 video detection using recurrent neural networks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47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FB1A-306B-E4FA-A6C1-5D3BA5DC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F65F-FAA8-405C-4E8C-65B678AE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626EF4F-080A-D653-C66E-9DEA6BDA83A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B9501B2-8FFD-1203-E47A-7390A80D87F7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534400" cy="434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4.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Eye Blinking Analysis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Facial Motion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Custom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DeepVision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Dataset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Detect unnatural blink frequency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Feature-specific; bypassed by improved GANs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Jung, S., Kim, S., &amp; Kim, K. (2020). </a:t>
            </a:r>
            <a:r>
              <a:rPr lang="en-IN" sz="24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DeepVision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Deepfake detection using eye blinking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8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2E5D-C871-F721-A932-87082256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E5A1-BEF4-41DA-9B63-F66DA952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2379C57-72DB-AB45-43DC-9BF90955832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9188AF-47CE-559E-A305-918831B02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76400"/>
            <a:ext cx="8534399" cy="38862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5.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DFDC Large-Scale Benchmark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DFDC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Realistic evaluation of deepfake detectors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Revealed weakness of CNN-only detectors</a:t>
            </a:r>
          </a:p>
          <a:p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Dolhansky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B.,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 </a:t>
            </a:r>
            <a:r>
              <a:rPr lang="en-IN" sz="24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Detection Challenge dataset.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14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20C5-D9BA-6318-A5BF-02260FAB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13C4-292F-5335-F185-070BA99E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E7B6A6D-8CDD-C0FB-41AB-8DB0248B2A8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D86C779-EAFF-8520-E7DA-184937D923E2}"/>
              </a:ext>
            </a:extLst>
          </p:cNvPr>
          <p:cNvSpPr txBox="1">
            <a:spLocks/>
          </p:cNvSpPr>
          <p:nvPr/>
        </p:nvSpPr>
        <p:spPr bwMode="auto">
          <a:xfrm>
            <a:off x="228600" y="1676400"/>
            <a:ext cx="8763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6.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Survey &amp; Taxonomy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Image +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Multiple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Categorized deepfake detection landscape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Highlighted lack of robust generalization</a:t>
            </a:r>
          </a:p>
          <a:p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Tolosana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R.,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Deepfakes and beyond: A survey of face manipulation.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6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B4C1-FFB1-264D-2215-41D5BE4B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C9BC-C64D-7BCA-EDEE-1FAC47F8C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EA3F65-0AC0-607D-61D5-E6606AF01B0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020DAAC-53D9-1767-8578-C9BFA1DF8E10}"/>
              </a:ext>
            </a:extLst>
          </p:cNvPr>
          <p:cNvSpPr txBox="1">
            <a:spLocks/>
          </p:cNvSpPr>
          <p:nvPr/>
        </p:nvSpPr>
        <p:spPr bwMode="auto">
          <a:xfrm>
            <a:off x="304800" y="1676399"/>
            <a:ext cx="8610599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7.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Attention + CNN + LSTM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Short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FF++ →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CelebDF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Localized GAN artifacts + temporal anomalies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Needs evaluation on future unseen generators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Lal, K., Shiwani, S., &amp; Gandhi, G. (2025).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Visual attention-based deepfake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116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212C-6425-E244-D045-17C2FCE7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FF9B-D09C-D408-7B6B-72F97A85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93BC41E-B1EE-E7CB-BCBF-F25391662DF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1FAB3D3-AD34-16F4-0D56-FAEB54103F64}"/>
              </a:ext>
            </a:extLst>
          </p:cNvPr>
          <p:cNvSpPr txBox="1">
            <a:spLocks/>
          </p:cNvSpPr>
          <p:nvPr/>
        </p:nvSpPr>
        <p:spPr bwMode="auto">
          <a:xfrm>
            <a:off x="228600" y="1752600"/>
            <a:ext cx="8610600" cy="434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8.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3D CNN Video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FaceForensics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++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Spatio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-temporal deepfake classification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High compute; weak real-world deployment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Roy, S.,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3D CNNs for video deepfake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2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0207-91E0-CBFF-439A-6EFC3636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B1F3-1887-D9F0-EED1-2753F3C2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779BF7A-6457-D781-8600-DB37A4E840C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A4BB3-D705-6073-28F5-28FBC35E1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382000" cy="40386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9.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Capsule Networks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Image/Video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FF++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Robust feature hierarchy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modeling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Heavy architecture; poor scalability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Nguyen, H. H., et al. (2019).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Capsule networks for deepfake detection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69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FB6E-1136-A783-E676-D05D7276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5987F-2233-D4D0-941E-FF361B5C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F07D05C-964C-E949-75A1-C686FE2EF0A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D7B3B47-16D2-48E4-83CF-3F0AEE823883}"/>
              </a:ext>
            </a:extLst>
          </p:cNvPr>
          <p:cNvSpPr txBox="1">
            <a:spLocks/>
          </p:cNvSpPr>
          <p:nvPr/>
        </p:nvSpPr>
        <p:spPr bwMode="auto">
          <a:xfrm>
            <a:off x="228600" y="1752600"/>
            <a:ext cx="8763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GAN Fingerprint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Image Forensics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GAN Image Sets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Identified generator-specific signatures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Fails against adaptive generators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Marra, F., et al. (2019).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 GANs leave artificial fingerprints?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2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D0D7D-9C7D-0252-D710-0FBC64C4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2719-599F-C23D-F9A6-010C97C7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C25C78-A847-7F2C-50E0-FDC75B473C1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FC7DB00-8A46-1848-E4A4-F60C6D7FD5D1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599"/>
            <a:ext cx="8534399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11.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Frequency Domain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Face Image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CelebDF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Exposed spectral artifacts of GANs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Sensitive to compression noise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Durall, R.,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Exposing deepfakes using frequency artifacts.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451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7F3B0-17EA-DC22-610A-4642D6EC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69E2-814B-FD36-57F0-D5F89DEA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EA513C8-BFB7-CCA2-E60A-C4A2EA87D38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24AC76D-33D4-8F80-A1E0-C34EE2652A31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534400" cy="434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12.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Face Warping Artifact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Image/Video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FF++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Detected geometric distortions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Ineffective on advanced face synthesis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Li, Y., &amp; Lyu, S. (2019).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Exposing deepfake videos by detecting face warping artifacts.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8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48D12-525A-CE00-B873-F6D7940E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F285-EC6A-5975-F4C2-344E417C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3C8A267-CA68-E865-DAFE-AAFA89284051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A8D15-16D4-7745-DC65-934759C7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0"/>
            <a:ext cx="8382000" cy="38862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13.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Two-Stream CNN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Spatial + Temporal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FF++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Combined frame + motion cues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Limited dataset diversity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Zhou, P., et al. (2017).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Two-stream neural networks for tampered video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38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18C6-5B97-E88C-53E3-CEAD314F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3D49-5ADD-8B2E-A356-2A0B2717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845D45E-72F8-B208-A879-79B87562AA9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BE355EF-21EA-D82C-1AF9-ED3BBC38D14E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686800" cy="419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14.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Vision Transformer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DFDC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Captured long-range temporal dependencies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Large training data requirement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Wang, J., et al. (2021).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Vision transformer for deepfake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69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59FE-CBCC-AB43-607F-BA24EC81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FC8D-14B8-0FC7-BD19-5EA44502B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5B48034-7CC9-E0FA-2ED1-534F27BC6FC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C1A9E2F-B962-5FD0-BBF8-C4937AE23E70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599"/>
            <a:ext cx="8458199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15.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Audio-Visual Sync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 + Audio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FakeAVCeleb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Detected lip/audio mismatch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Requires clean audio channel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Mittal, T., et al. (2020). </a:t>
            </a:r>
            <a:r>
              <a:rPr lang="en-IN" sz="24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SyncNet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for audiovisual deepfake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53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0385-4915-6DD6-9D4F-D26568C9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96FA-8008-B0B3-B182-4F366EE6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D07FB4-8C8B-065B-C2CF-AF7EDCC0BC8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1F90AA4-9E92-6026-C8E7-D57234E20A1E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534400" cy="434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16.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Residual Attention CNN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Face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CelebDF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Attention-guided forgery localization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Still dataset-sensitive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Dang, H.,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On the detection of digital face manipulation.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25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0B851-0734-DEF9-7381-D693C995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C5A6-B824-7DFE-F3FE-FB568B5B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AF233E1-4DB2-3783-60B5-FF1EBB6B6B7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69EB5-F64C-E457-919E-E2E71BBA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534399" cy="41148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17.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Adversarial Robust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DFDC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Studied detector vulnerability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No universal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defense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strategy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Carlini, N., et al.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Adversarial attacks on deepfake detectors.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575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8417-B263-580F-8AE4-B166051C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E2D5-A73F-5621-253F-8A4ABA5C2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313F09B-C4F6-E089-1932-CA726EBB5A7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CE74E79-0B34-8428-AD6A-0FAABA18B919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686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18.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Multimodal Fusion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Audio + Visual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</a:t>
            </a:r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FakeAVCeleb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Joint modality analysis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Higher computational complexity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Zhou, P., &amp; Lim, S. (2021).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Joint audio-visual deepfake detection.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103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32E9-3057-953D-D53C-6664D5AE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8597-B090-2DD2-E648-2E299285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91A2AA-5035-E588-8D53-CF5138C24CC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24E37C-AA2F-95EF-9374-F29E21F7726E}"/>
              </a:ext>
            </a:extLst>
          </p:cNvPr>
          <p:cNvSpPr txBox="1">
            <a:spLocks/>
          </p:cNvSpPr>
          <p:nvPr/>
        </p:nvSpPr>
        <p:spPr bwMode="auto">
          <a:xfrm>
            <a:off x="304800" y="1752600"/>
            <a:ext cx="8534399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19.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Ensemble CNN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DFDC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Practical competition-grade detector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Still ~65% accuracy ceiling</a:t>
            </a:r>
          </a:p>
          <a:p>
            <a:r>
              <a:rPr lang="en-IN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Seferbekov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S. (2020).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DFDC winning ensemble solution.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215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8352-147B-E8B6-4E5A-773162C3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2096-37FB-40DC-FE90-F0CFEECB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Review: Early Detection Approaches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E54A288-4E82-095A-3D64-C5941F9AB8F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47D92EE-5EB3-BDB0-D1C8-17C593DDAF00}"/>
              </a:ext>
            </a:extLst>
          </p:cNvPr>
          <p:cNvSpPr txBox="1">
            <a:spLocks/>
          </p:cNvSpPr>
          <p:nvPr/>
        </p:nvSpPr>
        <p:spPr bwMode="auto">
          <a:xfrm>
            <a:off x="381000" y="1828800"/>
            <a:ext cx="8458200" cy="4268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ndalus" pitchFamily="2" charset="-78"/>
                <a:ea typeface="+mn-ea"/>
                <a:cs typeface="Andalus" pitchFamily="2" charset="-7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20. Technique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Diffusion Artifact Detection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Modality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Image/Video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Dataset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Synthetic diffusion sets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Solved Problem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Detection of diffusion-generated fakes</a:t>
            </a:r>
            <a:b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24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Research Gap</a:t>
            </a:r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– Emerging area; lacks benchmarks</a:t>
            </a:r>
          </a:p>
          <a:p>
            <a:r>
              <a:rPr lang="en-IN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Cozzolino, D., et al. (2023). </a:t>
            </a:r>
            <a:r>
              <a:rPr lang="en-IN" sz="24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Diffusion artifacts for deepfake detection.</a:t>
            </a: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endParaRPr lang="en-IN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208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Research Gap: 2021 Dataset Shift Vulnerability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82069-EFB3-85A1-9865-0EDDF66B2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00200"/>
            <a:ext cx="846836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Critical Findings from 2021 Analysis: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Older CNN-based models trained exclusively on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FaceForensics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++ exhibited catastrophic performance degradation when evaluated on the Deepfake Detection Challenge (DFDC) dataset.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accuracy dropped from 95% on source dataset to approximately 51% overall, with deepfake-specific detection plummeting to just 13%. This demonstrates severe dataset shift vulnerability.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Models must achieve robust generalization across diverse datasets and manipulation techniques to be forensically viable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2025 study demonstrated that combining CNN spatial feature extraction with attention mechanisms and LSTM temporal modeling achieves robust cross-dataset performance. This architecture successfully detects both GAN-induced spatial artifacts and temporal inconsistencies, establishing attention and temporal modeling as critical components for next-generation detection systems.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0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839200" cy="1417638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Research Objective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33191"/>
            <a:ext cx="8522368" cy="4107715"/>
          </a:xfrm>
        </p:spPr>
        <p:txBody>
          <a:bodyPr/>
          <a:lstStyle/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1. Spatial Feature Extraction</a:t>
            </a: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Capture GAN-specific artifacts through advanced CNN architectures analyzing frame-level manipulation signatures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2. Temporal Dynamics Modeling</a:t>
            </a: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 micro-expressions and temporal inconsistencies using LSTM networks for sequential analysis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 Attention Mechanisms</a:t>
            </a: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Highlight discriminative facial regions and temporal segments most indicative of synthetic generation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4. Cross-Dataset Generalization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Maintain robust performance across diverse datasets, compression levels, and manipulation techniques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Roboto Light" pitchFamily="34" charset="0"/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5. Forensic Deployment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Optimize for real-world cybersecurity and digital forensics applications with practical deployment requirements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6568" y="1417638"/>
            <a:ext cx="8610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Develop a Spatial-Temporal Detection System for Short Videos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091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ABA4-1BC2-EB74-4BE0-FAA9266F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2220-DA02-255E-9C85-EECF248C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839200" cy="1417638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Proposed Architecture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3CC04-6C46-F144-812B-2E74AC354FE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1B931A2-7394-2A87-6609-AB999A521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524000"/>
            <a:ext cx="2743200" cy="4495800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24973E-A80E-814B-D8E2-3FA8660ECAFC}"/>
              </a:ext>
            </a:extLst>
          </p:cNvPr>
          <p:cNvSpPr txBox="1"/>
          <p:nvPr/>
        </p:nvSpPr>
        <p:spPr>
          <a:xfrm>
            <a:off x="533400" y="1648241"/>
            <a:ext cx="5410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We propose a hybrid spatial–temporal deepfake detection pipeline designed specifically for short video clips.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architecture combines a CNN backbone for spatial artifact detection with an attention module to localize suspicious facial regions.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ui-sans-serif"/>
              </a:rPr>
              <a:t>BiLSTM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 network models temporal inconsistencies across frames, capturing motion anomalies that static detectors miss.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system is optimized for cross-dataset generalization, making it suitable for real-world forensic deployment.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pipeline is lightweight enough for practical implementation while maintaining high detection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267682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26F1-9996-691A-2A7C-CD352434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6480-EE2F-AA79-1C26-A4F3D329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839200" cy="1417638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Strategy (Cross-Domain)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F2C69-8958-26AA-CA3B-D7A76A20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16" y="1557105"/>
            <a:ext cx="8522368" cy="2996009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1. Training: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FaceForensics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++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	Foundation for model learning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2.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Validation: Celeb-DFv2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Cross-dataset generalization assessment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 Stress-Test: DFDC dataset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cs typeface="Poppins Light" pitchFamily="34" charset="-120"/>
              </a:rPr>
              <a:t>	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Robustness against challenging, real-world scenarios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Rationale:</a:t>
            </a:r>
          </a:p>
          <a:p>
            <a:pPr>
              <a:lnSpc>
                <a:spcPts val="195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High-quality and compressed videos for varied real-world conditions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95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Diverse GANs used in dataset generation ensure GAN diversity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ts val="195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Ensures real-world forensics robustness across deepfake types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marL="0" indent="0" algn="just">
              <a:buNone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C00F0-B21B-AA10-C8CE-CCA28E24883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2FED80D-B8A9-1842-E611-DC60C1919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60" y="4623095"/>
            <a:ext cx="7849279" cy="1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34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5B32-4348-731C-A668-10254D0C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5798-B9A3-8B87-32B8-364EF238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839200" cy="1417638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Face Detection &amp; Preprocessing Pipeline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C46E-D973-7DE4-859D-5322BD2F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23" y="2194454"/>
            <a:ext cx="8522368" cy="309205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Face Detection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Utilizing state-of-the-art methods like MTCNN(Multi-task Cascaded Convolutional Networks)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RetinaFace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precise facial localization within video frames, ensuring the focus remains on the manipulated region.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Face Alignment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Correcting facial orientation and ensuring consistent positioning across all detected faces. This step normalizes pose variations, reducing noise and improving the accuracy of subsequent feature extraction.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Normalization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Standardizing pixel values (e.g., zero-mean, unit-variance) and resizing image dimensions to a consistent input format. This ensures uniform data distribution and compatibility with the CNN Architecture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Frame Sampling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Strategically selecting key frames from video sequences rather than processing every frame. This balances computational efficiency with the need to retain critical temporal information and detect subtle inconsistencies.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Augmentation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Applying techniques such as random rotation, brightness adjustment, horizontal flipping, and noise injection. This artificially expands the training dataset, enhancing model robustness and generalization capabilities to unseen deepfakes.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6A86C-59C9-BD7E-39A5-31151DE3E35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447351-76F5-702E-4919-8B42FDCB487A}"/>
              </a:ext>
            </a:extLst>
          </p:cNvPr>
          <p:cNvSpPr/>
          <p:nvPr/>
        </p:nvSpPr>
        <p:spPr>
          <a:xfrm>
            <a:off x="216568" y="1417638"/>
            <a:ext cx="84702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Effective deepfake detection relies heavily on robust preprocessing. This pipeline outlines the critical steps from raw video input to a normalized, augmented dataset ready for spatial-temporal analysis, ensuring optimal conditions for our CNN and LSTM models.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5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E153-0035-D7E6-0952-E1453CDD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E65A-D423-442C-146F-4FE8748A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Spatial Feature Extraction</a:t>
            </a:r>
            <a:b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(CNN)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D4352-EEE5-7BAF-F7B3-FB8A3AFA819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723EB-3CAC-16AF-E184-919F8B824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00201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Role of CNN in Deepfake Detection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CNN backbone extracts spatial forgery artifacts from facial regions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Detects texture abnormalities introduced by GAN synthesis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Identifies face boundary blending and morphing seams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Captures color inconsistencies and lighting mismatches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Reveals frequency-domain and compression artifacts invisible to humans</a:t>
            </a:r>
          </a:p>
          <a:p>
            <a:pPr marL="0" indent="0">
              <a:buNone/>
            </a:pP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Chosen Backbone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ResNeXt-50 pretrained on ImageNet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Transfer learning improves convergence and generalization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Strong balance between accuracy and computational efficiency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921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683-6CE0-CB7E-5324-9CAED9C7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4799-9CA1-28EB-22AA-0B390598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Attention Mechanism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A09B-E213-A53D-42F3-6F196A2E0FB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E16DD-83A8-9F97-99C4-1A26B63C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00201"/>
            <a:ext cx="4429760" cy="3276599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Attention-Guided Artifact Localization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CBAM attention improves interpretability and feature focus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Channel Attention → learns 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which features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are important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Spatial Attention → learns 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where anomalies occur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High-risk facial regions emphasized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Eyes → abnormal blinking patterns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Mouth → lip-sync inconsistencies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Cheeks → unnatural skin texture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Jawline → blending artifacts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Attention allows the model to prioritize suspicious regions rather than treating the face uniformly.</a:t>
            </a:r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66AA90EE-05EF-DB2F-8C4D-1DF7A70A7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31774" y="1597743"/>
            <a:ext cx="4085303" cy="256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409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DFBE-305A-47DE-11A9-FE6DBA24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B761-50C9-E4AA-75D1-A8AD6874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Temporal </a:t>
            </a:r>
            <a:r>
              <a:rPr lang="en-IN" dirty="0" err="1">
                <a:latin typeface="Poppins Light" panose="00000400000000000000" pitchFamily="2" charset="0"/>
                <a:cs typeface="Poppins Light" panose="00000400000000000000" pitchFamily="2" charset="0"/>
              </a:rPr>
              <a:t>Modeling</a:t>
            </a:r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 (</a:t>
            </a:r>
            <a:r>
              <a:rPr lang="en-IN" dirty="0" err="1">
                <a:latin typeface="Poppins Light" panose="00000400000000000000" pitchFamily="2" charset="0"/>
                <a:cs typeface="Poppins Light" panose="00000400000000000000" pitchFamily="2" charset="0"/>
              </a:rPr>
              <a:t>BiLSTM</a:t>
            </a:r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)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637F7-9658-F9E0-9D16-6715C651072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430DE-EFA0-8525-8860-2151FD721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00201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/>
              <a:t>Why Temporal </a:t>
            </a:r>
            <a:r>
              <a:rPr lang="en-IN" sz="1800" b="1" dirty="0" err="1"/>
              <a:t>Modeling</a:t>
            </a:r>
            <a:r>
              <a:rPr lang="en-IN" sz="1800" b="1" dirty="0"/>
              <a:t> Matters</a:t>
            </a:r>
            <a:endParaRPr lang="en-IN" sz="1800" dirty="0"/>
          </a:p>
          <a:p>
            <a:r>
              <a:rPr lang="en-IN" sz="1800" dirty="0"/>
              <a:t>Deepfakes often look correct in single frames but fail across motion.</a:t>
            </a:r>
          </a:p>
          <a:p>
            <a:r>
              <a:rPr lang="en-IN" sz="1800" dirty="0" err="1"/>
              <a:t>BiLSTM</a:t>
            </a:r>
            <a:r>
              <a:rPr lang="en-IN" sz="1800" dirty="0"/>
              <a:t> captures sequence-level inconsistencies such as:</a:t>
            </a:r>
          </a:p>
          <a:p>
            <a:r>
              <a:rPr lang="en-IN" sz="1800" dirty="0"/>
              <a:t>Reduced or irregular blinking frequency</a:t>
            </a:r>
          </a:p>
          <a:p>
            <a:r>
              <a:rPr lang="en-IN" sz="1800" dirty="0"/>
              <a:t>Unnatural lip synchronization</a:t>
            </a:r>
          </a:p>
          <a:p>
            <a:r>
              <a:rPr lang="en-IN" sz="1800" dirty="0"/>
              <a:t>Frame repetition or motion jitter</a:t>
            </a:r>
          </a:p>
          <a:p>
            <a:r>
              <a:rPr lang="en-IN" sz="1800" dirty="0"/>
              <a:t>Over-smoothed facial transitions</a:t>
            </a:r>
          </a:p>
          <a:p>
            <a:r>
              <a:rPr lang="en-IN" sz="1800" dirty="0"/>
              <a:t>Audio-video mismatch (future extension)</a:t>
            </a:r>
          </a:p>
          <a:p>
            <a:r>
              <a:rPr lang="en-IN" sz="1800" dirty="0" err="1"/>
              <a:t>BiLSTM</a:t>
            </a:r>
            <a:r>
              <a:rPr lang="en-IN" sz="1800" dirty="0"/>
              <a:t> acts as memory across frames, learning realistic facial motion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953777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E185-7980-35AF-3B9D-4F329026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8A1E-C74F-1064-4644-DABC95F6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ea typeface="Roboto Light" panose="02000000000000000000" pitchFamily="2" charset="0"/>
                <a:cs typeface="Poppins Light" panose="00000400000000000000" pitchFamily="2" charset="0"/>
              </a:rPr>
              <a:t>Experimental Setup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ea typeface="Roboto Light" panose="020000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AD3B3-17E8-3500-6B10-3A53C14EE9B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D3110-20E7-9ABC-2E89-5DC55E8A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00201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/>
              <a:t>Implementation Framework</a:t>
            </a:r>
            <a:endParaRPr lang="en-IN" sz="1600" dirty="0"/>
          </a:p>
          <a:p>
            <a:r>
              <a:rPr lang="en-IN" sz="1600" dirty="0" err="1"/>
              <a:t>PyTorch</a:t>
            </a:r>
            <a:r>
              <a:rPr lang="en-IN" sz="1600" dirty="0"/>
              <a:t> + </a:t>
            </a:r>
            <a:r>
              <a:rPr lang="en-IN" sz="1600" dirty="0" err="1"/>
              <a:t>timm</a:t>
            </a:r>
            <a:r>
              <a:rPr lang="en-IN" sz="1600" dirty="0"/>
              <a:t> + OpenCV pipeline</a:t>
            </a:r>
          </a:p>
          <a:p>
            <a:r>
              <a:rPr lang="en-IN" sz="1600" dirty="0"/>
              <a:t>Random + uniform frame sampling per video</a:t>
            </a:r>
          </a:p>
          <a:p>
            <a:pPr marL="0" indent="0">
              <a:buNone/>
            </a:pPr>
            <a:r>
              <a:rPr lang="en-IN" sz="1600" b="1" dirty="0"/>
              <a:t>Training Configuration</a:t>
            </a:r>
            <a:endParaRPr lang="en-IN" sz="1600" dirty="0"/>
          </a:p>
          <a:p>
            <a:r>
              <a:rPr lang="en-IN" sz="1600" dirty="0"/>
              <a:t>Optimizer: </a:t>
            </a:r>
            <a:r>
              <a:rPr lang="en-IN" sz="1600" dirty="0" err="1"/>
              <a:t>AdamW</a:t>
            </a:r>
            <a:r>
              <a:rPr lang="en-IN" sz="1600" dirty="0"/>
              <a:t> / SGD</a:t>
            </a:r>
          </a:p>
          <a:p>
            <a:r>
              <a:rPr lang="en-IN" sz="1600" dirty="0"/>
              <a:t>Epochs: 20–40</a:t>
            </a:r>
          </a:p>
          <a:p>
            <a:r>
              <a:rPr lang="en-IN" sz="1600" dirty="0"/>
              <a:t>Batch size: 8–16 videos</a:t>
            </a:r>
          </a:p>
          <a:p>
            <a:r>
              <a:rPr lang="en-IN" sz="1600" dirty="0"/>
              <a:t>Cross-entropy / focal loss</a:t>
            </a:r>
          </a:p>
          <a:p>
            <a:pPr marL="0" indent="0">
              <a:buNone/>
            </a:pPr>
            <a:r>
              <a:rPr lang="en-IN" sz="1600" b="1" dirty="0"/>
              <a:t>Evaluation Metrics</a:t>
            </a:r>
            <a:endParaRPr lang="en-IN" sz="1600" dirty="0"/>
          </a:p>
          <a:p>
            <a:r>
              <a:rPr lang="en-IN" sz="1600" dirty="0"/>
              <a:t>Accuracy &amp; F1 Score</a:t>
            </a:r>
          </a:p>
          <a:p>
            <a:r>
              <a:rPr lang="en-IN" sz="1600" dirty="0"/>
              <a:t>ROC &amp; AUC</a:t>
            </a:r>
          </a:p>
          <a:p>
            <a:r>
              <a:rPr lang="en-IN" sz="1600" dirty="0"/>
              <a:t>Equal Error Rate (EER)</a:t>
            </a:r>
          </a:p>
          <a:p>
            <a:r>
              <a:rPr lang="en-IN" sz="1600" dirty="0" err="1"/>
              <a:t>LogLoss</a:t>
            </a:r>
            <a:r>
              <a:rPr lang="en-IN" sz="1600" dirty="0"/>
              <a:t> (DFDC standard)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07923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96B0-A094-784D-A65D-F11AAEE8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486-5C13-9640-B5E5-105AF299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Expected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A0200-D192-2F36-F215-E6BF32ADE76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B0A8E-71E4-4C94-6E34-1C25FC86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676400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Performance Benchmarks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Based on modern deepfake detection research: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Intra-dataset (FF++): &gt;90% accuracy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FF++ →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CelebDF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80–88% generalization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FF++ → DFDC: 60–72% robustness stress test</a:t>
            </a:r>
          </a:p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Challenging scenarios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Occlusions (masks, glasses)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Low-resolution videos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Extreme lighting conditions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Adversarial perturbations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Results reflect real-world forensic difficulty, not ideal lab conditions.</a:t>
            </a:r>
          </a:p>
        </p:txBody>
      </p:sp>
    </p:spTree>
    <p:extLst>
      <p:ext uri="{BB962C8B-B14F-4D97-AF65-F5344CB8AC3E}">
        <p14:creationId xmlns:p14="http://schemas.microsoft.com/office/powerpoint/2010/main" val="2452704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A3CB-BE7E-C0BC-A062-E70CD4B7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AFAC-F556-473B-8E64-39BC4436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Forensic Applications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CAE45-78D3-A0D0-2DB0-2C2237A124B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F75C8-3196-28DF-5E3C-6DE208F7F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676400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Real-World Impact &amp; Applications</a:t>
            </a:r>
          </a:p>
          <a:p>
            <a:r>
              <a:rPr lang="en-IN" sz="1600" b="1" dirty="0"/>
              <a:t>Legal evidence verification</a:t>
            </a:r>
            <a:br>
              <a:rPr lang="en-IN" sz="1600" dirty="0"/>
            </a:br>
            <a:r>
              <a:rPr lang="en-IN" sz="1600" dirty="0"/>
              <a:t>Supports forensic experts in validating digital video evidence used in courts and investigations, reducing the risk of manipulated media influencing legal outcomes.</a:t>
            </a:r>
          </a:p>
          <a:p>
            <a:r>
              <a:rPr lang="en-IN" sz="1600" b="1" dirty="0"/>
              <a:t>Identity fraud prevention</a:t>
            </a:r>
            <a:br>
              <a:rPr lang="en-IN" sz="1600" dirty="0"/>
            </a:br>
            <a:r>
              <a:rPr lang="en-IN" sz="1600" dirty="0"/>
              <a:t>Detects deepfake impersonation in authentication systems, protecting financial platforms and biometric verification pipelines.</a:t>
            </a:r>
          </a:p>
          <a:p>
            <a:r>
              <a:rPr lang="en-IN" sz="1600" b="1" dirty="0"/>
              <a:t>Political misinformation detection</a:t>
            </a:r>
            <a:br>
              <a:rPr lang="en-IN" sz="1600" dirty="0"/>
            </a:br>
            <a:r>
              <a:rPr lang="en-IN" sz="1600" dirty="0"/>
              <a:t>Helps identify manipulated media used in propaganda campaigns, safeguarding public trust in democratic communication.</a:t>
            </a:r>
          </a:p>
          <a:p>
            <a:r>
              <a:rPr lang="en-IN" sz="1600" b="1" dirty="0"/>
              <a:t>Social media authenticity monitoring</a:t>
            </a:r>
            <a:br>
              <a:rPr lang="en-IN" sz="1600" dirty="0"/>
            </a:br>
            <a:r>
              <a:rPr lang="en-IN" sz="1600" dirty="0"/>
              <a:t>Enables platforms to flag synthetic videos before large-scale misinformation spread, improving digital content integrity.</a:t>
            </a:r>
          </a:p>
          <a:p>
            <a:r>
              <a:rPr lang="en-IN" sz="1600" b="1" dirty="0"/>
              <a:t>Enterprise authentication security</a:t>
            </a:r>
            <a:br>
              <a:rPr lang="en-IN" sz="1600" dirty="0"/>
            </a:br>
            <a:r>
              <a:rPr lang="en-IN" sz="1600" dirty="0"/>
              <a:t>Strengthens video-based identity verification in remote onboarding, interviews, and secure enterprise communications.</a:t>
            </a:r>
          </a:p>
          <a:p>
            <a:pPr marL="0" indent="0">
              <a:buNone/>
            </a:pPr>
            <a:endParaRPr lang="en-IN" sz="1400" b="1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222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1928-3A44-D1F2-DE41-66EF0411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48FF-B683-0D88-E227-E2643DC1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Limitations &amp; Future Work (Merged)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B4951-A0A8-3590-64B4-A0867F26FF1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53BAF-18F7-7F11-B2A2-71857A5E5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676400"/>
            <a:ext cx="8468360" cy="3733800"/>
          </a:xfrm>
        </p:spPr>
        <p:txBody>
          <a:bodyPr/>
          <a:lstStyle/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Current Limitations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Detection arms race vs evolving generative models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Domain shift reduces cross-dataset reliability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High computational cost for real-time deployment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Limited handling of audio or multimodal deepfakes</a:t>
            </a:r>
          </a:p>
          <a:p>
            <a:pPr marL="0" indent="0">
              <a:buNone/>
            </a:pPr>
            <a:r>
              <a:rPr lang="en-IN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Future Extensions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Audio-visual alignment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modeling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Vision Transformers for long-range temporal reasoning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Diffusion-based deepfake detection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Real-time streaming deployment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Adversarial robustness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defenses</a:t>
            </a:r>
            <a:endParaRPr lang="en-IN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Forensic watermark verification systems</a:t>
            </a:r>
          </a:p>
          <a:p>
            <a:pPr marL="0" indent="0">
              <a:buNone/>
            </a:pPr>
            <a:endParaRPr lang="en-IN" sz="1600" b="1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03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7CEA-5C17-DDB2-B72A-8A4C7B77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FD7F-08AA-1170-750F-348A6590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Conclusion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69BC5-19D0-F5A6-4735-60BD87359BE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547A9-7366-256E-910D-ED4936084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828800"/>
            <a:ext cx="8468360" cy="3733800"/>
          </a:xfrm>
        </p:spPr>
        <p:txBody>
          <a:bodyPr/>
          <a:lstStyle/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Deepfakes represent a growing threat to digital trust, cybersecurity, and public information integrity, making automated verification systems essential.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Combining </a:t>
            </a: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spatial CNN features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with </a:t>
            </a:r>
            <a:r>
              <a:rPr lang="en-US" sz="18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temporal sequence modeling</a:t>
            </a:r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 significantly improves detection robustness compared to image-only methods.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Attention mechanisms enhance interpretability by highlighting suspicious facial regions, supporting explainable AI in forensic applications.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Cross-dataset evaluation ensures the system generalizes to unseen deepfake techniques, reflecting realistic deployment scenarios.</a:t>
            </a:r>
          </a:p>
          <a:p>
            <a:r>
              <a:rPr lang="en-US" sz="18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The proposed architecture bridges advanced computer vision research with practical cybersecurity needs, contributing toward scalable forensic verification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224419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C280-9C7D-9C25-2CF3-897CE84F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C1F3-2F54-1EF0-4D65-26C2C76A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References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1DF2-32CE-4A45-A58F-F2166C8DE00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5F92B-8A50-A088-AE53-1E7365F1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752600"/>
            <a:ext cx="8468360" cy="3733800"/>
          </a:xfrm>
        </p:spPr>
        <p:txBody>
          <a:bodyPr/>
          <a:lstStyle/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Afchar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V. Nozick, J. Yamagishi, and I. Echizen,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MesoNet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A compact facial video forgery detection network,”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Workshop Inf. Forensics Security (WIFS)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2018, pp. 1–7.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A. Rössler, D. Cozzolino, L.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Verdoliva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C. Riess, J. Thies, and M.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Nießner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FaceForensics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++: Learning to detect manipulated facial images,”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Conf. Computer Vision (ICCV)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2019, pp. 1–11.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Güera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and E. J. Delp,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“Deepfake video detection using recurrent neural networks,”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Conf. Advanced Video and Signal-Based Surveillance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2018, pp. 1–6.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Dolhansky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et al.,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“The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Detection Challenge dataset,”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arXiv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preprint arXiv:2006.07397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Tolosana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R. Vera-Rodriguez, J.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Fierrez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A. Morales, and J. Ortega-Garcia,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“Deepfakes and beyond: A survey of face manipulation and fake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Information Fusion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vol. 64, pp. 131–148, 2020.</a:t>
            </a:r>
          </a:p>
        </p:txBody>
      </p:sp>
    </p:spTree>
    <p:extLst>
      <p:ext uri="{BB962C8B-B14F-4D97-AF65-F5344CB8AC3E}">
        <p14:creationId xmlns:p14="http://schemas.microsoft.com/office/powerpoint/2010/main" val="2466368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16CE-5BCF-B2DC-53F6-A5D31485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52DF-7B45-7C03-2059-EE5914E7F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References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2622E-CAAE-2830-ACC4-194BC98552F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D9C38-D90D-4416-2B90-233092795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76400"/>
            <a:ext cx="8763000" cy="3733800"/>
          </a:xfrm>
        </p:spPr>
        <p:txBody>
          <a:bodyPr/>
          <a:lstStyle/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Y. Li and S. Lyu,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“Exposing deepfake videos by detecting face warping artifacts,”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Conf. Computer Vision and Pattern Recognition Workshops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2019, pp. 46–52.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F. Marra, D.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Gragnaniello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L.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Verdoliva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and G. Poggi,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“Do GANs leave artificial fingerprints?”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Conf. Multimedia Information Processing and Retrieval (MIPR)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2019, pp. 506–511.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R. Durall, M. Keuper, and J. Keuper,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“Exposing deepfakes using frequency artifacts,”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Conf. Image Processing (ICIP)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2020, pp. 2895–2899.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H. H. Nguyen, J. Yamagishi, and I. Echizen,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“Capsule-Forensics: Using capsule networks to detect forged images and videos,”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Conf. Acoustics, Speech and Signal Processing (ICASSP)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2019, pp. 2307–2311.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T. Mittal, U. Bhattacharya, and N. B. Desai,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SyncNet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Detecting audio-visual mismatch in manipulated videos,”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ACM Multimedia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2020, pp. 3085–3093.</a:t>
            </a:r>
          </a:p>
          <a:p>
            <a:endParaRPr lang="en-US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902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CF0F-4719-3062-16F4-BC6B3623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FAF6-E2DB-817F-B797-945C14E8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References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20728-A508-8274-CEF2-7134D60E948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8AFB4-D8FE-B4C9-0FBC-616ECB3F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752600"/>
            <a:ext cx="8468360" cy="3733800"/>
          </a:xfrm>
        </p:spPr>
        <p:txBody>
          <a:bodyPr/>
          <a:lstStyle/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P. Zhou, X. Han, V. I. Morariu, and L. S. Davis,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“Two-stream neural networks for tampered face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Conf. Computer Vision and Pattern Recognition Workshops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2017, pp. 21–29.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H. Dang, F. Liu, J. Stehouwer, X. Liu, and A. K. Jain,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“On the detection of digital face manipulation,”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Conf. Computer Vision and Pattern Recognition (CVPR)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2020, pp. 5781–5790.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Seferbekov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DeepFake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Detection Challenge: Winning solution,”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Kaggle Technical Report, 2020.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J. Wang, Z. Wu, and S. Wang,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“Vision transformer for deepfake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arXiv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preprint arXiv:2106.09363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2021.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N. Carlini, E. Wallace, M. Erlingsson, B. Koscher, and D. Song,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“Adversarial attacks on deepfake detectors,”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</a:t>
            </a:r>
            <a:r>
              <a:rPr lang="en-IN" sz="16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NeurIPS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Workshop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2020.</a:t>
            </a:r>
          </a:p>
        </p:txBody>
      </p:sp>
    </p:spTree>
    <p:extLst>
      <p:ext uri="{BB962C8B-B14F-4D97-AF65-F5344CB8AC3E}">
        <p14:creationId xmlns:p14="http://schemas.microsoft.com/office/powerpoint/2010/main" val="662528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FFF2-75E8-2DD1-9B66-23B2D1B5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1B4A-AD1B-D848-456D-336B4A9D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142"/>
            <a:ext cx="8229600" cy="1143000"/>
          </a:xfrm>
        </p:spPr>
        <p:txBody>
          <a:bodyPr/>
          <a:lstStyle/>
          <a:p>
            <a:r>
              <a:rPr lang="en-IN" dirty="0">
                <a:latin typeface="Poppins Light" panose="00000400000000000000" pitchFamily="2" charset="0"/>
                <a:cs typeface="Poppins Light" panose="00000400000000000000" pitchFamily="2" charset="0"/>
              </a:rPr>
              <a:t>References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97B09-6F9C-D06D-52A4-D89E79729E3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  <a:fld id="{00CFE371-8602-434E-A03A-183DD7E4EEA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AB980-21C2-FD68-B859-414F3F2B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20" y="1676400"/>
            <a:ext cx="8468360" cy="3733800"/>
          </a:xfrm>
        </p:spPr>
        <p:txBody>
          <a:bodyPr/>
          <a:lstStyle/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P. Zhou and S. Lim,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“Joint audio-visual deepfake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Int. Conf. Computer Vision Workshops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2021, pp. 1485–1494.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K. Lal, S. Shiwani, and G. Gandhi,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“Deepfake video deception detection using visual attention-based method,”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Scientific Reports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vol. 15, 2025.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Y. Li et al.,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“Celeb-DF: A large-scale challenging dataset for deepfake forensics,”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Proc. IEEE Conf. Computer Vision and Pattern Recognition (CVPR)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2020, pp. 3207–3216.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D. Cozzolino, J. Thies, A. Rössler, C. Riess, M.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Nießner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and L.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Verdoliva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“Forensic transfer: Weakly-supervised domain adaptation for forgery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IEEE Transactions on Information Forensics and Security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vol. 14, no. 6, pp. 1602–1617, 2019.</a:t>
            </a:r>
          </a:p>
          <a:p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D. Cozzolino, J. Thies, A. Rössler, and M. </a:t>
            </a:r>
            <a:r>
              <a:rPr lang="en-IN" sz="16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Nießner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“Diffusion artifacts for deepfake detection,”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en-IN" sz="1600" i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arXiv</a:t>
            </a:r>
            <a:r>
              <a:rPr lang="en-IN" sz="1600" i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preprint</a:t>
            </a:r>
            <a: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2023.</a:t>
            </a:r>
            <a:br>
              <a:rPr lang="en-IN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endParaRPr lang="en-US" sz="16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8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14751</TotalTime>
  <Words>3547</Words>
  <Application>Microsoft Office PowerPoint</Application>
  <PresentationFormat>On-screen Show (4:3)</PresentationFormat>
  <Paragraphs>290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Andalus</vt:lpstr>
      <vt:lpstr>Arial</vt:lpstr>
      <vt:lpstr>Calibri</vt:lpstr>
      <vt:lpstr>Poppins Light</vt:lpstr>
      <vt:lpstr>Roboto Light</vt:lpstr>
      <vt:lpstr>ui-sans-serif</vt:lpstr>
      <vt:lpstr>Office Theme</vt:lpstr>
      <vt:lpstr>Deepfake Short Video Detection using Spatial–Temporal Attention Models</vt:lpstr>
      <vt:lpstr>Guide Approval</vt:lpstr>
      <vt:lpstr>Background &amp; Motivation</vt:lpstr>
      <vt:lpstr>Problem Definition</vt:lpstr>
      <vt:lpstr>Cybersecurity &amp; Forensics Importance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Literature Review: Early Detection Approaches</vt:lpstr>
      <vt:lpstr>Research Gap: 2021 Dataset Shift Vulnerability</vt:lpstr>
      <vt:lpstr>Research Objective </vt:lpstr>
      <vt:lpstr>Proposed Architecture</vt:lpstr>
      <vt:lpstr>Dataset Strategy (Cross-Domain)</vt:lpstr>
      <vt:lpstr>Face Detection &amp; Preprocessing Pipeline</vt:lpstr>
      <vt:lpstr>Spatial Feature Extraction (CNN)</vt:lpstr>
      <vt:lpstr>Attention Mechanism</vt:lpstr>
      <vt:lpstr>Temporal Modeling (BiLSTM)</vt:lpstr>
      <vt:lpstr>Experimental Setup</vt:lpstr>
      <vt:lpstr>Expected Results</vt:lpstr>
      <vt:lpstr>Forensic Applications</vt:lpstr>
      <vt:lpstr>Limitations &amp; Future Work (Merged)</vt:lpstr>
      <vt:lpstr>Conclusion</vt:lpstr>
      <vt:lpstr>References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Shaurya Naithani</cp:lastModifiedBy>
  <cp:revision>647</cp:revision>
  <dcterms:created xsi:type="dcterms:W3CDTF">2011-09-04T16:22:06Z</dcterms:created>
  <dcterms:modified xsi:type="dcterms:W3CDTF">2026-01-30T07:42:05Z</dcterms:modified>
</cp:coreProperties>
</file>