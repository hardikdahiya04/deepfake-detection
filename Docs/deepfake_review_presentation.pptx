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6858000" type="screen4x3"/>
  <p:notesSz cx="6954838" cy="9309100"/>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D4141"/>
    <a:srgbClr val="006600"/>
    <a:srgbClr val="FFD757"/>
    <a:srgbClr val="FAFC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F435FB-3F63-40C3-84D0-2F420BBAEE24}" v="258" dt="2026-01-29T20:11:44.2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05" autoAdjust="0"/>
  </p:normalViewPr>
  <p:slideViewPr>
    <p:cSldViewPr>
      <p:cViewPr varScale="1">
        <p:scale>
          <a:sx n="110" d="100"/>
          <a:sy n="110" d="100"/>
        </p:scale>
        <p:origin x="1132" y="64"/>
      </p:cViewPr>
      <p:guideLst>
        <p:guide orient="horz" pos="2160"/>
        <p:guide pos="2880"/>
      </p:guideLst>
    </p:cSldViewPr>
  </p:slideViewPr>
  <p:outlineViewPr>
    <p:cViewPr>
      <p:scale>
        <a:sx n="33" d="100"/>
        <a:sy n="33" d="100"/>
      </p:scale>
      <p:origin x="0" y="3033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4663" cy="465138"/>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938588" y="0"/>
            <a:ext cx="3014662" cy="465138"/>
          </a:xfrm>
          <a:prstGeom prst="rect">
            <a:avLst/>
          </a:prstGeom>
        </p:spPr>
        <p:txBody>
          <a:bodyPr vert="horz" lIns="91440" tIns="45720" rIns="91440" bIns="45720" rtlCol="0"/>
          <a:lstStyle>
            <a:lvl1pPr algn="r">
              <a:defRPr sz="1200">
                <a:latin typeface="Arial" charset="0"/>
                <a:cs typeface="Arial" charset="0"/>
              </a:defRPr>
            </a:lvl1pPr>
          </a:lstStyle>
          <a:p>
            <a:pPr>
              <a:defRPr/>
            </a:pPr>
            <a:fld id="{D375B65A-E619-40FD-A808-9D3EBD3F1A9F}" type="datetimeFigureOut">
              <a:rPr lang="en-US"/>
              <a:pPr>
                <a:defRPr/>
              </a:pPr>
              <a:t>3/24/2026</a:t>
            </a:fld>
            <a:endParaRPr lang="en-US"/>
          </a:p>
        </p:txBody>
      </p:sp>
      <p:sp>
        <p:nvSpPr>
          <p:cNvPr id="4" name="Footer Placeholder 3"/>
          <p:cNvSpPr>
            <a:spLocks noGrp="1"/>
          </p:cNvSpPr>
          <p:nvPr>
            <p:ph type="ftr" sz="quarter" idx="2"/>
          </p:nvPr>
        </p:nvSpPr>
        <p:spPr>
          <a:xfrm>
            <a:off x="0" y="8842375"/>
            <a:ext cx="3014663" cy="465138"/>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938588" y="8842375"/>
            <a:ext cx="3014662" cy="465138"/>
          </a:xfrm>
          <a:prstGeom prst="rect">
            <a:avLst/>
          </a:prstGeom>
        </p:spPr>
        <p:txBody>
          <a:bodyPr vert="horz" lIns="91440" tIns="45720" rIns="91440" bIns="45720" rtlCol="0" anchor="b"/>
          <a:lstStyle>
            <a:lvl1pPr algn="r">
              <a:defRPr sz="1200">
                <a:latin typeface="Arial" charset="0"/>
                <a:cs typeface="Arial" charset="0"/>
              </a:defRPr>
            </a:lvl1pPr>
          </a:lstStyle>
          <a:p>
            <a:pPr>
              <a:defRPr/>
            </a:pPr>
            <a:fld id="{619B0E2B-CF5A-487E-8A81-107BEEAD9056}" type="slidenum">
              <a:rPr lang="en-US"/>
              <a:pPr>
                <a:defRPr/>
              </a:pPr>
              <a:t>‹#›</a:t>
            </a:fld>
            <a:endParaRPr lang="en-US"/>
          </a:p>
        </p:txBody>
      </p:sp>
    </p:spTree>
    <p:extLst>
      <p:ext uri="{BB962C8B-B14F-4D97-AF65-F5344CB8AC3E}">
        <p14:creationId xmlns:p14="http://schemas.microsoft.com/office/powerpoint/2010/main" val="36291187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58" tIns="46479" rIns="92958" bIns="46479"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40175" y="0"/>
            <a:ext cx="3013075" cy="465138"/>
          </a:xfrm>
          <a:prstGeom prst="rect">
            <a:avLst/>
          </a:prstGeom>
        </p:spPr>
        <p:txBody>
          <a:bodyPr vert="horz" lIns="92958" tIns="46479" rIns="92958" bIns="46479" rtlCol="0"/>
          <a:lstStyle>
            <a:lvl1pPr algn="r" fontAlgn="auto">
              <a:spcBef>
                <a:spcPts val="0"/>
              </a:spcBef>
              <a:spcAft>
                <a:spcPts val="0"/>
              </a:spcAft>
              <a:defRPr sz="1200">
                <a:latin typeface="+mn-lt"/>
                <a:cs typeface="+mn-cs"/>
              </a:defRPr>
            </a:lvl1pPr>
          </a:lstStyle>
          <a:p>
            <a:pPr>
              <a:defRPr/>
            </a:pPr>
            <a:fld id="{7A7CF36C-D612-41C3-865C-48D6268B8C63}" type="datetimeFigureOut">
              <a:rPr lang="en-US"/>
              <a:pPr>
                <a:defRPr/>
              </a:pPr>
              <a:t>3/24/2026</a:t>
            </a:fld>
            <a:endParaRPr lang="en-US"/>
          </a:p>
        </p:txBody>
      </p:sp>
      <p:sp>
        <p:nvSpPr>
          <p:cNvPr id="4" name="Slide Image Placeholder 3"/>
          <p:cNvSpPr>
            <a:spLocks noGrp="1" noRot="1" noChangeAspect="1"/>
          </p:cNvSpPr>
          <p:nvPr>
            <p:ph type="sldImg" idx="2"/>
          </p:nvPr>
        </p:nvSpPr>
        <p:spPr>
          <a:xfrm>
            <a:off x="1150938" y="698500"/>
            <a:ext cx="4652962" cy="3490913"/>
          </a:xfrm>
          <a:prstGeom prst="rect">
            <a:avLst/>
          </a:prstGeom>
          <a:noFill/>
          <a:ln w="12700">
            <a:solidFill>
              <a:prstClr val="black"/>
            </a:solidFill>
          </a:ln>
        </p:spPr>
        <p:txBody>
          <a:bodyPr vert="horz" lIns="92958" tIns="46479" rIns="92958" bIns="46479" rtlCol="0" anchor="ctr"/>
          <a:lstStyle/>
          <a:p>
            <a:pPr lvl="0"/>
            <a:endParaRPr lang="en-US" noProof="0"/>
          </a:p>
        </p:txBody>
      </p:sp>
      <p:sp>
        <p:nvSpPr>
          <p:cNvPr id="5" name="Notes Placeholder 4"/>
          <p:cNvSpPr>
            <a:spLocks noGrp="1"/>
          </p:cNvSpPr>
          <p:nvPr>
            <p:ph type="body" sz="quarter" idx="3"/>
          </p:nvPr>
        </p:nvSpPr>
        <p:spPr>
          <a:xfrm>
            <a:off x="695325" y="4421188"/>
            <a:ext cx="5564188" cy="4189412"/>
          </a:xfrm>
          <a:prstGeom prst="rect">
            <a:avLst/>
          </a:prstGeom>
        </p:spPr>
        <p:txBody>
          <a:bodyPr vert="horz" lIns="92958" tIns="46479" rIns="92958" bIns="4647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5138"/>
          </a:xfrm>
          <a:prstGeom prst="rect">
            <a:avLst/>
          </a:prstGeom>
        </p:spPr>
        <p:txBody>
          <a:bodyPr vert="horz" lIns="92958" tIns="46479" rIns="92958" bIns="46479"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40175" y="8842375"/>
            <a:ext cx="3013075" cy="465138"/>
          </a:xfrm>
          <a:prstGeom prst="rect">
            <a:avLst/>
          </a:prstGeom>
        </p:spPr>
        <p:txBody>
          <a:bodyPr vert="horz" lIns="92958" tIns="46479" rIns="92958" bIns="46479" rtlCol="0" anchor="b"/>
          <a:lstStyle>
            <a:lvl1pPr algn="r" fontAlgn="auto">
              <a:spcBef>
                <a:spcPts val="0"/>
              </a:spcBef>
              <a:spcAft>
                <a:spcPts val="0"/>
              </a:spcAft>
              <a:defRPr sz="1200">
                <a:latin typeface="+mn-lt"/>
                <a:cs typeface="+mn-cs"/>
              </a:defRPr>
            </a:lvl1pPr>
          </a:lstStyle>
          <a:p>
            <a:pPr>
              <a:defRPr/>
            </a:pPr>
            <a:fld id="{6B07EF80-EBF2-4091-BAB9-5E59769CF050}" type="slidenum">
              <a:rPr lang="en-US"/>
              <a:pPr>
                <a:defRPr/>
              </a:pPr>
              <a:t>‹#›</a:t>
            </a:fld>
            <a:endParaRPr lang="en-US"/>
          </a:p>
        </p:txBody>
      </p:sp>
    </p:spTree>
    <p:extLst>
      <p:ext uri="{BB962C8B-B14F-4D97-AF65-F5344CB8AC3E}">
        <p14:creationId xmlns:p14="http://schemas.microsoft.com/office/powerpoint/2010/main" val="12527638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cxnSp>
        <p:nvCxnSpPr>
          <p:cNvPr id="4" name="Straight Connector 3"/>
          <p:cNvCxnSpPr/>
          <p:nvPr userDrawn="1"/>
        </p:nvCxnSpPr>
        <p:spPr>
          <a:xfrm>
            <a:off x="207963" y="1436688"/>
            <a:ext cx="8686800" cy="1587"/>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2130426"/>
            <a:ext cx="7772400" cy="1470025"/>
          </a:xfrm>
        </p:spPr>
        <p:txBody>
          <a:bodyPr/>
          <a:lstStyle>
            <a:lvl1pPr>
              <a:defRPr>
                <a:latin typeface="Andalus" pitchFamily="2" charset="-78"/>
                <a:cs typeface="Andalus" pitchFamily="2" charset="-78"/>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Andalus" pitchFamily="2" charset="-78"/>
                <a:cs typeface="Andalus" pitchFamily="2" charset="-78"/>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extLst>
      <p:ext uri="{BB962C8B-B14F-4D97-AF65-F5344CB8AC3E}">
        <p14:creationId xmlns:p14="http://schemas.microsoft.com/office/powerpoint/2010/main" val="1246220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207963" y="1436688"/>
            <a:ext cx="8686800" cy="1587"/>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228600" y="6096000"/>
            <a:ext cx="8686800" cy="1588"/>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5789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userDrawn="1"/>
        </p:nvCxnSpPr>
        <p:spPr>
          <a:xfrm>
            <a:off x="207963" y="1436688"/>
            <a:ext cx="8686800" cy="1587"/>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228600" y="6118225"/>
            <a:ext cx="8686800" cy="1588"/>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6"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dirty="0"/>
          </a:p>
        </p:txBody>
      </p:sp>
      <p:sp>
        <p:nvSpPr>
          <p:cNvPr id="7"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8"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76DA5A3-5DE2-4772-9321-1B1D1FB455FD}" type="slidenum">
              <a:rPr lang="en-US"/>
              <a:pPr>
                <a:defRPr/>
              </a:pPr>
              <a:t>‹#›</a:t>
            </a:fld>
            <a:r>
              <a:rPr lang="en-US" dirty="0"/>
              <a:t>/109</a:t>
            </a:r>
          </a:p>
        </p:txBody>
      </p:sp>
    </p:spTree>
    <p:extLst>
      <p:ext uri="{BB962C8B-B14F-4D97-AF65-F5344CB8AC3E}">
        <p14:creationId xmlns:p14="http://schemas.microsoft.com/office/powerpoint/2010/main" val="4286333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E24F6AE-21B9-4080-B46E-B0E83353F6D2}" type="slidenum">
              <a:rPr lang="en-US"/>
              <a:pPr>
                <a:defRPr/>
              </a:pPr>
              <a:t>‹#›</a:t>
            </a:fld>
            <a:r>
              <a:rPr lang="en-US" dirty="0"/>
              <a:t>/109</a:t>
            </a:r>
          </a:p>
        </p:txBody>
      </p:sp>
    </p:spTree>
    <p:extLst>
      <p:ext uri="{BB962C8B-B14F-4D97-AF65-F5344CB8AC3E}">
        <p14:creationId xmlns:p14="http://schemas.microsoft.com/office/powerpoint/2010/main" val="119295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05466F41-0669-47E4-9F21-08C2827E0EAF}" type="slidenum">
              <a:rPr lang="en-US"/>
              <a:pPr>
                <a:defRPr/>
              </a:pPr>
              <a:t>‹#›</a:t>
            </a:fld>
            <a:r>
              <a:rPr lang="en-US" dirty="0"/>
              <a:t>/109</a:t>
            </a:r>
          </a:p>
        </p:txBody>
      </p:sp>
    </p:spTree>
    <p:extLst>
      <p:ext uri="{BB962C8B-B14F-4D97-AF65-F5344CB8AC3E}">
        <p14:creationId xmlns:p14="http://schemas.microsoft.com/office/powerpoint/2010/main" val="4183593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4C771DDE-3745-494B-8964-FA67FCB657EF}" type="slidenum">
              <a:rPr lang="en-US"/>
              <a:pPr>
                <a:defRPr/>
              </a:pPr>
              <a:t>‹#›</a:t>
            </a:fld>
            <a:r>
              <a:rPr lang="en-US" dirty="0"/>
              <a:t>/109</a:t>
            </a:r>
          </a:p>
        </p:txBody>
      </p:sp>
    </p:spTree>
    <p:extLst>
      <p:ext uri="{BB962C8B-B14F-4D97-AF65-F5344CB8AC3E}">
        <p14:creationId xmlns:p14="http://schemas.microsoft.com/office/powerpoint/2010/main" val="221422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CE986F87-D012-4D1D-9802-3053F836DFDA}" type="slidenum">
              <a:rPr lang="en-US"/>
              <a:pPr>
                <a:defRPr/>
              </a:pPr>
              <a:t>‹#›</a:t>
            </a:fld>
            <a:r>
              <a:rPr lang="en-US" dirty="0"/>
              <a:t>/ 109</a:t>
            </a:r>
          </a:p>
        </p:txBody>
      </p:sp>
    </p:spTree>
    <p:extLst>
      <p:ext uri="{BB962C8B-B14F-4D97-AF65-F5344CB8AC3E}">
        <p14:creationId xmlns:p14="http://schemas.microsoft.com/office/powerpoint/2010/main" val="2208074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7B18987-F808-4227-B628-15A352195663}" type="slidenum">
              <a:rPr lang="en-US"/>
              <a:pPr>
                <a:defRPr/>
              </a:pPr>
              <a:t>‹#›</a:t>
            </a:fld>
            <a:r>
              <a:rPr lang="en-US" dirty="0"/>
              <a:t>/ 109</a:t>
            </a:r>
          </a:p>
        </p:txBody>
      </p:sp>
    </p:spTree>
    <p:extLst>
      <p:ext uri="{BB962C8B-B14F-4D97-AF65-F5344CB8AC3E}">
        <p14:creationId xmlns:p14="http://schemas.microsoft.com/office/powerpoint/2010/main" val="1987342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C5C2D81-41AC-4EFF-82BB-DA216249FCD1}" type="slidenum">
              <a:rPr lang="en-US"/>
              <a:pPr>
                <a:defRPr/>
              </a:pPr>
              <a:t>‹#›</a:t>
            </a:fld>
            <a:r>
              <a:rPr lang="en-US" dirty="0"/>
              <a:t>/ 109</a:t>
            </a:r>
          </a:p>
        </p:txBody>
      </p:sp>
    </p:spTree>
    <p:extLst>
      <p:ext uri="{BB962C8B-B14F-4D97-AF65-F5344CB8AC3E}">
        <p14:creationId xmlns:p14="http://schemas.microsoft.com/office/powerpoint/2010/main" val="4183420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C41330B-73DF-457B-9011-3FBF54F7A6C1}" type="slidenum">
              <a:rPr lang="en-US"/>
              <a:pPr>
                <a:defRPr/>
              </a:pPr>
              <a:t>‹#›</a:t>
            </a:fld>
            <a:r>
              <a:rPr lang="en-US" dirty="0"/>
              <a:t>/ 109</a:t>
            </a:r>
          </a:p>
        </p:txBody>
      </p:sp>
    </p:spTree>
    <p:extLst>
      <p:ext uri="{BB962C8B-B14F-4D97-AF65-F5344CB8AC3E}">
        <p14:creationId xmlns:p14="http://schemas.microsoft.com/office/powerpoint/2010/main" val="803066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FFBF5FCB-F3F3-4702-953C-0C4C3DB1619D}" type="slidenum">
              <a:rPr lang="en-US"/>
              <a:pPr>
                <a:defRPr/>
              </a:pPr>
              <a:t>‹#›</a:t>
            </a:fld>
            <a:endParaRPr lang="en-US"/>
          </a:p>
        </p:txBody>
      </p:sp>
    </p:spTree>
    <p:extLst>
      <p:ext uri="{BB962C8B-B14F-4D97-AF65-F5344CB8AC3E}">
        <p14:creationId xmlns:p14="http://schemas.microsoft.com/office/powerpoint/2010/main" val="2922320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cxnSp>
        <p:nvCxnSpPr>
          <p:cNvPr id="10" name="Straight Connector 9"/>
          <p:cNvCxnSpPr/>
          <p:nvPr userDrawn="1"/>
        </p:nvCxnSpPr>
        <p:spPr>
          <a:xfrm>
            <a:off x="207963" y="1436688"/>
            <a:ext cx="8686800" cy="1587"/>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228600" y="6130925"/>
            <a:ext cx="8686800" cy="1588"/>
          </a:xfrm>
          <a:prstGeom prst="line">
            <a:avLst/>
          </a:prstGeom>
          <a:ln w="44450">
            <a:solidFill>
              <a:srgbClr val="FF000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101" r:id="rId1"/>
    <p:sldLayoutId id="2147484102" r:id="rId2"/>
    <p:sldLayoutId id="2147484103" r:id="rId3"/>
    <p:sldLayoutId id="2147484104" r:id="rId4"/>
    <p:sldLayoutId id="2147484105" r:id="rId5"/>
    <p:sldLayoutId id="2147484106" r:id="rId6"/>
    <p:sldLayoutId id="2147484107" r:id="rId7"/>
    <p:sldLayoutId id="2147484108" r:id="rId8"/>
    <p:sldLayoutId id="2147484109" r:id="rId9"/>
    <p:sldLayoutId id="2147484110" r:id="rId10"/>
    <p:sldLayoutId id="2147484111" r:id="rId11"/>
  </p:sldLayoutIdLst>
  <p:hf hdr="0" ftr="0" dt="0"/>
  <p:txStyles>
    <p:titleStyle>
      <a:lvl1pPr algn="ctr" rtl="0" eaLnBrk="0" fontAlgn="base" hangingPunct="0">
        <a:spcBef>
          <a:spcPct val="0"/>
        </a:spcBef>
        <a:spcAft>
          <a:spcPct val="0"/>
        </a:spcAft>
        <a:defRPr sz="4400" kern="1200">
          <a:solidFill>
            <a:schemeClr val="tx1"/>
          </a:solidFill>
          <a:latin typeface="Andalus" pitchFamily="2" charset="-78"/>
          <a:ea typeface="+mj-ea"/>
          <a:cs typeface="Andalus" pitchFamily="2" charset="-78"/>
        </a:defRPr>
      </a:lvl1pPr>
      <a:lvl2pPr algn="ctr" rtl="0" eaLnBrk="0" fontAlgn="base" hangingPunct="0">
        <a:spcBef>
          <a:spcPct val="0"/>
        </a:spcBef>
        <a:spcAft>
          <a:spcPct val="0"/>
        </a:spcAft>
        <a:defRPr sz="4400">
          <a:solidFill>
            <a:schemeClr val="tx1"/>
          </a:solidFill>
          <a:latin typeface="Andalus" pitchFamily="2" charset="-78"/>
          <a:cs typeface="Andalus" pitchFamily="2" charset="-78"/>
        </a:defRPr>
      </a:lvl2pPr>
      <a:lvl3pPr algn="ctr" rtl="0" eaLnBrk="0" fontAlgn="base" hangingPunct="0">
        <a:spcBef>
          <a:spcPct val="0"/>
        </a:spcBef>
        <a:spcAft>
          <a:spcPct val="0"/>
        </a:spcAft>
        <a:defRPr sz="4400">
          <a:solidFill>
            <a:schemeClr val="tx1"/>
          </a:solidFill>
          <a:latin typeface="Andalus" pitchFamily="2" charset="-78"/>
          <a:cs typeface="Andalus" pitchFamily="2" charset="-78"/>
        </a:defRPr>
      </a:lvl3pPr>
      <a:lvl4pPr algn="ctr" rtl="0" eaLnBrk="0" fontAlgn="base" hangingPunct="0">
        <a:spcBef>
          <a:spcPct val="0"/>
        </a:spcBef>
        <a:spcAft>
          <a:spcPct val="0"/>
        </a:spcAft>
        <a:defRPr sz="4400">
          <a:solidFill>
            <a:schemeClr val="tx1"/>
          </a:solidFill>
          <a:latin typeface="Andalus" pitchFamily="2" charset="-78"/>
          <a:cs typeface="Andalus" pitchFamily="2" charset="-78"/>
        </a:defRPr>
      </a:lvl4pPr>
      <a:lvl5pPr algn="ctr" rtl="0" eaLnBrk="0" fontAlgn="base" hangingPunct="0">
        <a:spcBef>
          <a:spcPct val="0"/>
        </a:spcBef>
        <a:spcAft>
          <a:spcPct val="0"/>
        </a:spcAft>
        <a:defRPr sz="4400">
          <a:solidFill>
            <a:schemeClr val="tx1"/>
          </a:solidFill>
          <a:latin typeface="Andalus" pitchFamily="2" charset="-78"/>
          <a:cs typeface="Andalus" pitchFamily="2" charset="-78"/>
        </a:defRPr>
      </a:lvl5pPr>
      <a:lvl6pPr marL="457200" algn="ctr" rtl="0" fontAlgn="base">
        <a:spcBef>
          <a:spcPct val="0"/>
        </a:spcBef>
        <a:spcAft>
          <a:spcPct val="0"/>
        </a:spcAft>
        <a:defRPr sz="4400">
          <a:solidFill>
            <a:schemeClr val="tx1"/>
          </a:solidFill>
          <a:latin typeface="Andalus" pitchFamily="2" charset="-78"/>
          <a:cs typeface="Andalus" pitchFamily="2" charset="-78"/>
        </a:defRPr>
      </a:lvl6pPr>
      <a:lvl7pPr marL="914400" algn="ctr" rtl="0" fontAlgn="base">
        <a:spcBef>
          <a:spcPct val="0"/>
        </a:spcBef>
        <a:spcAft>
          <a:spcPct val="0"/>
        </a:spcAft>
        <a:defRPr sz="4400">
          <a:solidFill>
            <a:schemeClr val="tx1"/>
          </a:solidFill>
          <a:latin typeface="Andalus" pitchFamily="2" charset="-78"/>
          <a:cs typeface="Andalus" pitchFamily="2" charset="-78"/>
        </a:defRPr>
      </a:lvl7pPr>
      <a:lvl8pPr marL="1371600" algn="ctr" rtl="0" fontAlgn="base">
        <a:spcBef>
          <a:spcPct val="0"/>
        </a:spcBef>
        <a:spcAft>
          <a:spcPct val="0"/>
        </a:spcAft>
        <a:defRPr sz="4400">
          <a:solidFill>
            <a:schemeClr val="tx1"/>
          </a:solidFill>
          <a:latin typeface="Andalus" pitchFamily="2" charset="-78"/>
          <a:cs typeface="Andalus" pitchFamily="2" charset="-78"/>
        </a:defRPr>
      </a:lvl8pPr>
      <a:lvl9pPr marL="1828800" algn="ctr" rtl="0" fontAlgn="base">
        <a:spcBef>
          <a:spcPct val="0"/>
        </a:spcBef>
        <a:spcAft>
          <a:spcPct val="0"/>
        </a:spcAft>
        <a:defRPr sz="4400">
          <a:solidFill>
            <a:schemeClr val="tx1"/>
          </a:solidFill>
          <a:latin typeface="Andalus" pitchFamily="2" charset="-78"/>
          <a:cs typeface="Andalus" pitchFamily="2" charset="-78"/>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Andalus" pitchFamily="2" charset="-78"/>
          <a:ea typeface="+mn-ea"/>
          <a:cs typeface="Andalus" pitchFamily="2" charset="-78"/>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Andalus" pitchFamily="2" charset="-78"/>
          <a:ea typeface="+mn-ea"/>
          <a:cs typeface="Andalus" pitchFamily="2" charset="-78"/>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Andalus" pitchFamily="2" charset="-78"/>
          <a:ea typeface="+mn-ea"/>
          <a:cs typeface="Andalus" pitchFamily="2" charset="-78"/>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Andalus" pitchFamily="2" charset="-78"/>
          <a:ea typeface="+mn-ea"/>
          <a:cs typeface="Andalus" pitchFamily="2" charset="-78"/>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Andalus" pitchFamily="2" charset="-78"/>
          <a:ea typeface="+mn-ea"/>
          <a:cs typeface="Andalus"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2926080" y="274320"/>
            <a:ext cx="3291840" cy="914400"/>
          </a:xfrm>
          <a:prstGeom prst="rect">
            <a:avLst/>
          </a:prstGeom>
        </p:spPr>
      </p:pic>
      <p:sp>
        <p:nvSpPr>
          <p:cNvPr id="4" name="TextBox 3"/>
          <p:cNvSpPr txBox="1"/>
          <p:nvPr/>
        </p:nvSpPr>
        <p:spPr>
          <a:xfrm>
            <a:off x="457200" y="1371600"/>
            <a:ext cx="8229600" cy="1371600"/>
          </a:xfrm>
          <a:prstGeom prst="rect">
            <a:avLst/>
          </a:prstGeom>
          <a:noFill/>
        </p:spPr>
        <p:txBody>
          <a:bodyPr wrap="square">
            <a:spAutoFit/>
          </a:bodyPr>
          <a:lstStyle/>
          <a:p>
            <a:pPr algn="ctr">
              <a:defRPr sz="3600" b="0">
                <a:solidFill>
                  <a:srgbClr val="FFFFFF"/>
                </a:solidFill>
                <a:latin typeface="Poppins Light"/>
              </a:defRPr>
            </a:pPr>
            <a:r>
              <a:rPr dirty="0"/>
              <a:t>Deepfake Short Video Detection using</a:t>
            </a:r>
            <a:br>
              <a:rPr dirty="0"/>
            </a:br>
            <a:r>
              <a:rPr dirty="0"/>
              <a:t>Spatial–Temporal Attention Models</a:t>
            </a:r>
          </a:p>
        </p:txBody>
      </p:sp>
      <p:sp>
        <p:nvSpPr>
          <p:cNvPr id="6" name="TextBox 5"/>
          <p:cNvSpPr txBox="1"/>
          <p:nvPr/>
        </p:nvSpPr>
        <p:spPr>
          <a:xfrm>
            <a:off x="914400" y="3108960"/>
            <a:ext cx="7315200" cy="731520"/>
          </a:xfrm>
          <a:prstGeom prst="rect">
            <a:avLst/>
          </a:prstGeom>
          <a:noFill/>
        </p:spPr>
        <p:txBody>
          <a:bodyPr wrap="square">
            <a:spAutoFit/>
          </a:bodyPr>
          <a:lstStyle/>
          <a:p>
            <a:pPr algn="ctr">
              <a:defRPr sz="2200" b="0">
                <a:solidFill>
                  <a:srgbClr val="DDEEFF"/>
                </a:solidFill>
                <a:latin typeface="Roboto Light"/>
              </a:defRPr>
            </a:pPr>
            <a:r>
              <a:t>By: Shaurya Naithani, Yash Srivastava, Hardik Dahiya</a:t>
            </a:r>
          </a:p>
        </p:txBody>
      </p:sp>
      <p:sp>
        <p:nvSpPr>
          <p:cNvPr id="7" name="TextBox 6"/>
          <p:cNvSpPr txBox="1"/>
          <p:nvPr/>
        </p:nvSpPr>
        <p:spPr>
          <a:xfrm>
            <a:off x="914400" y="3749039"/>
            <a:ext cx="7315200" cy="457200"/>
          </a:xfrm>
          <a:prstGeom prst="rect">
            <a:avLst/>
          </a:prstGeom>
          <a:noFill/>
        </p:spPr>
        <p:txBody>
          <a:bodyPr wrap="square">
            <a:spAutoFit/>
          </a:bodyPr>
          <a:lstStyle/>
          <a:p>
            <a:pPr algn="ctr">
              <a:defRPr sz="2000" b="1">
                <a:solidFill>
                  <a:srgbClr val="FFFFFF"/>
                </a:solidFill>
                <a:latin typeface="Poppins Light"/>
              </a:defRPr>
            </a:pPr>
            <a:r>
              <a:t>Guide: Dr. S. Geetha</a:t>
            </a:r>
          </a:p>
        </p:txBody>
      </p:sp>
      <p:sp>
        <p:nvSpPr>
          <p:cNvPr id="8" name="TextBox 7"/>
          <p:cNvSpPr txBox="1"/>
          <p:nvPr/>
        </p:nvSpPr>
        <p:spPr>
          <a:xfrm>
            <a:off x="914400" y="4297680"/>
            <a:ext cx="7315200" cy="1097280"/>
          </a:xfrm>
          <a:prstGeom prst="rect">
            <a:avLst/>
          </a:prstGeom>
          <a:noFill/>
        </p:spPr>
        <p:txBody>
          <a:bodyPr wrap="square">
            <a:spAutoFit/>
          </a:bodyPr>
          <a:lstStyle/>
          <a:p>
            <a:pPr algn="ctr">
              <a:defRPr sz="1600" b="0">
                <a:solidFill>
                  <a:srgbClr val="BBCCDD"/>
                </a:solidFill>
                <a:latin typeface="Roboto Light"/>
              </a:defRPr>
            </a:pPr>
            <a:r>
              <a:t>School of Computing Science &amp; Engineering</a:t>
            </a:r>
            <a:br/>
            <a:r>
              <a:t>Vellore Institute of Technology Chennai Campus</a:t>
            </a:r>
            <a:br/>
            <a:r>
              <a:t>Chennai, India</a:t>
            </a:r>
          </a:p>
        </p:txBody>
      </p:sp>
      <p:sp>
        <p:nvSpPr>
          <p:cNvPr id="9" name="Rounded Rectangle 8"/>
          <p:cNvSpPr/>
          <p:nvPr/>
        </p:nvSpPr>
        <p:spPr>
          <a:xfrm>
            <a:off x="2286000" y="5577840"/>
            <a:ext cx="4572000" cy="45720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86000" y="5554691"/>
            <a:ext cx="4572000" cy="523220"/>
          </a:xfrm>
          <a:prstGeom prst="rect">
            <a:avLst/>
          </a:prstGeom>
          <a:noFill/>
        </p:spPr>
        <p:txBody>
          <a:bodyPr wrap="square">
            <a:spAutoFit/>
          </a:bodyPr>
          <a:lstStyle/>
          <a:p>
            <a:pPr algn="ctr">
              <a:defRPr sz="1400" b="1">
                <a:solidFill>
                  <a:srgbClr val="FFFFFF"/>
                </a:solidFill>
                <a:latin typeface="Roboto Light"/>
              </a:defRPr>
            </a:pPr>
            <a:r>
              <a:rPr dirty="0"/>
              <a:t>R</a:t>
            </a:r>
            <a:r>
              <a:rPr lang="en-IN" dirty="0" err="1"/>
              <a:t>evi</a:t>
            </a:r>
            <a:r>
              <a:rPr dirty="0" err="1"/>
              <a:t>ew</a:t>
            </a:r>
            <a:r>
              <a:rPr dirty="0"/>
              <a:t> 3: 90% Work Completion &amp; Implementation Progress</a:t>
            </a:r>
          </a:p>
        </p:txBody>
      </p:sp>
      <p:sp>
        <p:nvSpPr>
          <p:cNvPr id="11" name="TextBox 10"/>
          <p:cNvSpPr txBox="1"/>
          <p:nvPr/>
        </p:nvSpPr>
        <p:spPr>
          <a:xfrm>
            <a:off x="3200400" y="6126480"/>
            <a:ext cx="2743200" cy="274320"/>
          </a:xfrm>
          <a:prstGeom prst="rect">
            <a:avLst/>
          </a:prstGeom>
          <a:noFill/>
        </p:spPr>
        <p:txBody>
          <a:bodyPr wrap="square">
            <a:spAutoFit/>
          </a:bodyPr>
          <a:lstStyle/>
          <a:p>
            <a:pPr algn="ctr">
              <a:defRPr sz="1300" b="0">
                <a:solidFill>
                  <a:srgbClr val="99AABB"/>
                </a:solidFill>
                <a:latin typeface="Roboto Light"/>
              </a:defRPr>
            </a:pPr>
            <a:r>
              <a:t>March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Presentation Outline</a:t>
            </a:r>
          </a:p>
        </p:txBody>
      </p:sp>
      <p:sp>
        <p:nvSpPr>
          <p:cNvPr id="4" name="Rectangle 3"/>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14400" y="150876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457200" cy="365760"/>
          </a:xfrm>
          <a:prstGeom prst="rect">
            <a:avLst/>
          </a:prstGeom>
          <a:noFill/>
        </p:spPr>
        <p:txBody>
          <a:bodyPr wrap="square">
            <a:spAutoFit/>
          </a:bodyPr>
          <a:lstStyle/>
          <a:p>
            <a:pPr algn="ctr">
              <a:defRPr sz="1600" b="1">
                <a:solidFill>
                  <a:srgbClr val="FFFFFF"/>
                </a:solidFill>
                <a:latin typeface="Poppins Light"/>
              </a:defRPr>
            </a:pPr>
            <a:r>
              <a:rPr dirty="0"/>
              <a:t>01</a:t>
            </a:r>
          </a:p>
        </p:txBody>
      </p:sp>
      <p:sp>
        <p:nvSpPr>
          <p:cNvPr id="7" name="TextBox 6"/>
          <p:cNvSpPr txBox="1"/>
          <p:nvPr/>
        </p:nvSpPr>
        <p:spPr>
          <a:xfrm>
            <a:off x="1554480" y="1508760"/>
            <a:ext cx="5486400" cy="365760"/>
          </a:xfrm>
          <a:prstGeom prst="rect">
            <a:avLst/>
          </a:prstGeom>
          <a:noFill/>
        </p:spPr>
        <p:txBody>
          <a:bodyPr wrap="square">
            <a:spAutoFit/>
          </a:bodyPr>
          <a:lstStyle/>
          <a:p>
            <a:pPr algn="l">
              <a:defRPr sz="2000" b="0">
                <a:solidFill>
                  <a:srgbClr val="1A1A2E"/>
                </a:solidFill>
                <a:latin typeface="Poppins Light"/>
              </a:defRPr>
            </a:pPr>
            <a:r>
              <a:rPr dirty="0"/>
              <a:t>Introduction &amp; Objectives</a:t>
            </a:r>
          </a:p>
        </p:txBody>
      </p:sp>
      <p:sp>
        <p:nvSpPr>
          <p:cNvPr id="8" name="Oval 7"/>
          <p:cNvSpPr/>
          <p:nvPr/>
        </p:nvSpPr>
        <p:spPr>
          <a:xfrm>
            <a:off x="914400" y="219456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240280"/>
            <a:ext cx="457200" cy="365760"/>
          </a:xfrm>
          <a:prstGeom prst="rect">
            <a:avLst/>
          </a:prstGeom>
          <a:noFill/>
        </p:spPr>
        <p:txBody>
          <a:bodyPr wrap="square">
            <a:spAutoFit/>
          </a:bodyPr>
          <a:lstStyle/>
          <a:p>
            <a:pPr algn="ctr">
              <a:defRPr sz="1600" b="1">
                <a:solidFill>
                  <a:srgbClr val="FFFFFF"/>
                </a:solidFill>
                <a:latin typeface="Poppins Light"/>
              </a:defRPr>
            </a:pPr>
            <a:r>
              <a:t>02</a:t>
            </a:r>
          </a:p>
        </p:txBody>
      </p:sp>
      <p:sp>
        <p:nvSpPr>
          <p:cNvPr id="10" name="TextBox 9"/>
          <p:cNvSpPr txBox="1"/>
          <p:nvPr/>
        </p:nvSpPr>
        <p:spPr>
          <a:xfrm>
            <a:off x="1554480" y="2194560"/>
            <a:ext cx="5486400" cy="365760"/>
          </a:xfrm>
          <a:prstGeom prst="rect">
            <a:avLst/>
          </a:prstGeom>
          <a:noFill/>
        </p:spPr>
        <p:txBody>
          <a:bodyPr wrap="square">
            <a:spAutoFit/>
          </a:bodyPr>
          <a:lstStyle/>
          <a:p>
            <a:pPr algn="l">
              <a:defRPr sz="2000" b="0">
                <a:solidFill>
                  <a:srgbClr val="1A1A2E"/>
                </a:solidFill>
                <a:latin typeface="Poppins Light"/>
              </a:defRPr>
            </a:pPr>
            <a:r>
              <a:t>System Design &amp; Architecture</a:t>
            </a:r>
          </a:p>
        </p:txBody>
      </p:sp>
      <p:sp>
        <p:nvSpPr>
          <p:cNvPr id="11" name="Oval 10"/>
          <p:cNvSpPr/>
          <p:nvPr/>
        </p:nvSpPr>
        <p:spPr>
          <a:xfrm>
            <a:off x="914400" y="288036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2926080"/>
            <a:ext cx="457200" cy="365760"/>
          </a:xfrm>
          <a:prstGeom prst="rect">
            <a:avLst/>
          </a:prstGeom>
          <a:noFill/>
        </p:spPr>
        <p:txBody>
          <a:bodyPr wrap="square">
            <a:spAutoFit/>
          </a:bodyPr>
          <a:lstStyle/>
          <a:p>
            <a:pPr algn="ctr">
              <a:defRPr sz="1600" b="1">
                <a:solidFill>
                  <a:srgbClr val="FFFFFF"/>
                </a:solidFill>
                <a:latin typeface="Poppins Light"/>
              </a:defRPr>
            </a:pPr>
            <a:r>
              <a:t>03</a:t>
            </a:r>
          </a:p>
        </p:txBody>
      </p:sp>
      <p:sp>
        <p:nvSpPr>
          <p:cNvPr id="13" name="TextBox 12"/>
          <p:cNvSpPr txBox="1"/>
          <p:nvPr/>
        </p:nvSpPr>
        <p:spPr>
          <a:xfrm>
            <a:off x="1554480" y="2880360"/>
            <a:ext cx="5486400" cy="365760"/>
          </a:xfrm>
          <a:prstGeom prst="rect">
            <a:avLst/>
          </a:prstGeom>
          <a:noFill/>
        </p:spPr>
        <p:txBody>
          <a:bodyPr wrap="square">
            <a:spAutoFit/>
          </a:bodyPr>
          <a:lstStyle/>
          <a:p>
            <a:pPr algn="l">
              <a:defRPr sz="2000" b="0">
                <a:solidFill>
                  <a:srgbClr val="1A1A2E"/>
                </a:solidFill>
                <a:latin typeface="Poppins Light"/>
              </a:defRPr>
            </a:pPr>
            <a:r>
              <a:t>Implementation Details</a:t>
            </a:r>
          </a:p>
        </p:txBody>
      </p:sp>
      <p:sp>
        <p:nvSpPr>
          <p:cNvPr id="14" name="Oval 13"/>
          <p:cNvSpPr/>
          <p:nvPr/>
        </p:nvSpPr>
        <p:spPr>
          <a:xfrm>
            <a:off x="914400" y="3566160"/>
            <a:ext cx="457200" cy="4572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611880"/>
            <a:ext cx="457200" cy="365760"/>
          </a:xfrm>
          <a:prstGeom prst="rect">
            <a:avLst/>
          </a:prstGeom>
          <a:noFill/>
        </p:spPr>
        <p:txBody>
          <a:bodyPr wrap="square">
            <a:spAutoFit/>
          </a:bodyPr>
          <a:lstStyle/>
          <a:p>
            <a:pPr algn="ctr">
              <a:defRPr sz="1600" b="1">
                <a:solidFill>
                  <a:srgbClr val="FFFFFF"/>
                </a:solidFill>
                <a:latin typeface="Poppins Light"/>
              </a:defRPr>
            </a:pPr>
            <a:r>
              <a:t>04</a:t>
            </a:r>
          </a:p>
        </p:txBody>
      </p:sp>
      <p:sp>
        <p:nvSpPr>
          <p:cNvPr id="16" name="TextBox 15"/>
          <p:cNvSpPr txBox="1"/>
          <p:nvPr/>
        </p:nvSpPr>
        <p:spPr>
          <a:xfrm>
            <a:off x="1554480" y="3566160"/>
            <a:ext cx="5486400" cy="365760"/>
          </a:xfrm>
          <a:prstGeom prst="rect">
            <a:avLst/>
          </a:prstGeom>
          <a:noFill/>
        </p:spPr>
        <p:txBody>
          <a:bodyPr wrap="square">
            <a:spAutoFit/>
          </a:bodyPr>
          <a:lstStyle/>
          <a:p>
            <a:pPr algn="l">
              <a:defRPr sz="2000" b="0">
                <a:solidFill>
                  <a:srgbClr val="1A1A2E"/>
                </a:solidFill>
                <a:latin typeface="Poppins Light"/>
              </a:defRPr>
            </a:pPr>
            <a:r>
              <a:t>Results &amp; Analysis</a:t>
            </a:r>
          </a:p>
        </p:txBody>
      </p:sp>
      <p:sp>
        <p:nvSpPr>
          <p:cNvPr id="17" name="Oval 16"/>
          <p:cNvSpPr/>
          <p:nvPr/>
        </p:nvSpPr>
        <p:spPr>
          <a:xfrm>
            <a:off x="914400" y="4251960"/>
            <a:ext cx="457200" cy="45720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4297680"/>
            <a:ext cx="457200" cy="365760"/>
          </a:xfrm>
          <a:prstGeom prst="rect">
            <a:avLst/>
          </a:prstGeom>
          <a:noFill/>
        </p:spPr>
        <p:txBody>
          <a:bodyPr wrap="square">
            <a:spAutoFit/>
          </a:bodyPr>
          <a:lstStyle/>
          <a:p>
            <a:pPr algn="ctr">
              <a:defRPr sz="1600" b="1">
                <a:solidFill>
                  <a:srgbClr val="FFFFFF"/>
                </a:solidFill>
                <a:latin typeface="Poppins Light"/>
              </a:defRPr>
            </a:pPr>
            <a:r>
              <a:t>05</a:t>
            </a:r>
          </a:p>
        </p:txBody>
      </p:sp>
      <p:sp>
        <p:nvSpPr>
          <p:cNvPr id="19" name="TextBox 18"/>
          <p:cNvSpPr txBox="1"/>
          <p:nvPr/>
        </p:nvSpPr>
        <p:spPr>
          <a:xfrm>
            <a:off x="1554480" y="4251960"/>
            <a:ext cx="5486400" cy="365760"/>
          </a:xfrm>
          <a:prstGeom prst="rect">
            <a:avLst/>
          </a:prstGeom>
          <a:noFill/>
        </p:spPr>
        <p:txBody>
          <a:bodyPr wrap="square">
            <a:spAutoFit/>
          </a:bodyPr>
          <a:lstStyle/>
          <a:p>
            <a:pPr algn="l">
              <a:defRPr sz="2000" b="0">
                <a:solidFill>
                  <a:srgbClr val="1A1A2E"/>
                </a:solidFill>
                <a:latin typeface="Poppins Light"/>
              </a:defRPr>
            </a:pPr>
            <a:r>
              <a:t>Challenges &amp; Solutions</a:t>
            </a:r>
          </a:p>
        </p:txBody>
      </p:sp>
      <p:sp>
        <p:nvSpPr>
          <p:cNvPr id="20" name="Oval 19"/>
          <p:cNvSpPr/>
          <p:nvPr/>
        </p:nvSpPr>
        <p:spPr>
          <a:xfrm>
            <a:off x="914400" y="4937760"/>
            <a:ext cx="457200" cy="45720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4983480"/>
            <a:ext cx="457200" cy="365760"/>
          </a:xfrm>
          <a:prstGeom prst="rect">
            <a:avLst/>
          </a:prstGeom>
          <a:noFill/>
        </p:spPr>
        <p:txBody>
          <a:bodyPr wrap="square">
            <a:spAutoFit/>
          </a:bodyPr>
          <a:lstStyle/>
          <a:p>
            <a:pPr algn="ctr">
              <a:defRPr sz="1600" b="1">
                <a:solidFill>
                  <a:srgbClr val="FFFFFF"/>
                </a:solidFill>
                <a:latin typeface="Poppins Light"/>
              </a:defRPr>
            </a:pPr>
            <a:r>
              <a:t>06</a:t>
            </a:r>
          </a:p>
        </p:txBody>
      </p:sp>
      <p:sp>
        <p:nvSpPr>
          <p:cNvPr id="22" name="TextBox 21"/>
          <p:cNvSpPr txBox="1"/>
          <p:nvPr/>
        </p:nvSpPr>
        <p:spPr>
          <a:xfrm>
            <a:off x="1554480" y="4937760"/>
            <a:ext cx="5486400" cy="365760"/>
          </a:xfrm>
          <a:prstGeom prst="rect">
            <a:avLst/>
          </a:prstGeom>
          <a:noFill/>
        </p:spPr>
        <p:txBody>
          <a:bodyPr wrap="square">
            <a:spAutoFit/>
          </a:bodyPr>
          <a:lstStyle/>
          <a:p>
            <a:pPr algn="l">
              <a:defRPr sz="2000" b="0">
                <a:solidFill>
                  <a:srgbClr val="1A1A2E"/>
                </a:solidFill>
                <a:latin typeface="Poppins Light"/>
              </a:defRPr>
            </a:pPr>
            <a:r>
              <a:t>Remaining Work &amp; Future Scope</a:t>
            </a:r>
          </a:p>
        </p:txBody>
      </p:sp>
      <p:sp>
        <p:nvSpPr>
          <p:cNvPr id="23" name="Oval 22"/>
          <p:cNvSpPr/>
          <p:nvPr/>
        </p:nvSpPr>
        <p:spPr>
          <a:xfrm>
            <a:off x="914400" y="5623560"/>
            <a:ext cx="457200" cy="457200"/>
          </a:xfrm>
          <a:prstGeom prst="ellipse">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4400" y="5669280"/>
            <a:ext cx="457200" cy="365760"/>
          </a:xfrm>
          <a:prstGeom prst="rect">
            <a:avLst/>
          </a:prstGeom>
          <a:noFill/>
        </p:spPr>
        <p:txBody>
          <a:bodyPr wrap="square">
            <a:spAutoFit/>
          </a:bodyPr>
          <a:lstStyle/>
          <a:p>
            <a:pPr algn="ctr">
              <a:defRPr sz="1600" b="1">
                <a:solidFill>
                  <a:srgbClr val="FFFFFF"/>
                </a:solidFill>
                <a:latin typeface="Poppins Light"/>
              </a:defRPr>
            </a:pPr>
            <a:r>
              <a:t>07</a:t>
            </a:r>
          </a:p>
        </p:txBody>
      </p:sp>
      <p:sp>
        <p:nvSpPr>
          <p:cNvPr id="25" name="TextBox 24"/>
          <p:cNvSpPr txBox="1"/>
          <p:nvPr/>
        </p:nvSpPr>
        <p:spPr>
          <a:xfrm>
            <a:off x="1554480" y="5623560"/>
            <a:ext cx="5486400" cy="365760"/>
          </a:xfrm>
          <a:prstGeom prst="rect">
            <a:avLst/>
          </a:prstGeom>
          <a:noFill/>
        </p:spPr>
        <p:txBody>
          <a:bodyPr wrap="square">
            <a:spAutoFit/>
          </a:bodyPr>
          <a:lstStyle/>
          <a:p>
            <a:pPr algn="l">
              <a:defRPr sz="2000" b="0">
                <a:solidFill>
                  <a:srgbClr val="1A1A2E"/>
                </a:solidFill>
                <a:latin typeface="Poppins Light"/>
              </a:defRPr>
            </a:pPr>
            <a:r>
              <a:t>References</a:t>
            </a:r>
          </a:p>
        </p:txBody>
      </p:sp>
      <p:sp>
        <p:nvSpPr>
          <p:cNvPr id="26" name="TextBox 25"/>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2/22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Introduction &amp; Objectives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Background &amp; Motivation</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1456365"/>
            <a:ext cx="8046720" cy="365760"/>
          </a:xfrm>
          <a:prstGeom prst="rect">
            <a:avLst/>
          </a:prstGeom>
          <a:noFill/>
        </p:spPr>
        <p:txBody>
          <a:bodyPr wrap="square">
            <a:spAutoFit/>
          </a:bodyPr>
          <a:lstStyle/>
          <a:p>
            <a:pPr algn="l">
              <a:defRPr sz="2000" b="1">
                <a:solidFill>
                  <a:srgbClr val="1B3A5C"/>
                </a:solidFill>
                <a:latin typeface="Poppins Light"/>
              </a:defRPr>
            </a:pPr>
            <a:r>
              <a:t>The Deepfake Threat Landscape</a:t>
            </a:r>
          </a:p>
        </p:txBody>
      </p:sp>
      <p:sp>
        <p:nvSpPr>
          <p:cNvPr id="7" name="TextBox 6"/>
          <p:cNvSpPr txBox="1"/>
          <p:nvPr/>
        </p:nvSpPr>
        <p:spPr>
          <a:xfrm>
            <a:off x="548640" y="1828800"/>
            <a:ext cx="8046720" cy="1908215"/>
          </a:xfrm>
          <a:prstGeom prst="rect">
            <a:avLst/>
          </a:prstGeom>
          <a:noFill/>
        </p:spPr>
        <p:txBody>
          <a:bodyPr wrap="square">
            <a:spAutoFit/>
          </a:bodyPr>
          <a:lstStyle/>
          <a:p>
            <a:pPr>
              <a:spcBef>
                <a:spcPts val="200"/>
              </a:spcBef>
              <a:spcAft>
                <a:spcPts val="600"/>
              </a:spcAft>
              <a:defRPr sz="1400">
                <a:solidFill>
                  <a:srgbClr val="333333"/>
                </a:solidFill>
                <a:latin typeface="Roboto Light"/>
              </a:defRPr>
            </a:pPr>
            <a:r>
              <a:rPr dirty="0"/>
              <a:t>• Deepfakes leverage GANs, Autoencoders, and Diffusion Models to create synthetic face manipulations increasingly indistinguishable from authentic video</a:t>
            </a:r>
            <a:r>
              <a:rPr lang="en-IN" dirty="0"/>
              <a:t>.</a:t>
            </a:r>
            <a:endParaRPr dirty="0"/>
          </a:p>
          <a:p>
            <a:pPr>
              <a:spcBef>
                <a:spcPts val="200"/>
              </a:spcBef>
              <a:spcAft>
                <a:spcPts val="600"/>
              </a:spcAft>
              <a:defRPr sz="1400">
                <a:solidFill>
                  <a:srgbClr val="333333"/>
                </a:solidFill>
                <a:latin typeface="Roboto Light"/>
              </a:defRPr>
            </a:pPr>
            <a:r>
              <a:rPr dirty="0"/>
              <a:t>• User-friendly tools (</a:t>
            </a:r>
            <a:r>
              <a:rPr dirty="0" err="1"/>
              <a:t>DeepFaceLab</a:t>
            </a:r>
            <a:r>
              <a:rPr dirty="0"/>
              <a:t>, </a:t>
            </a:r>
            <a:r>
              <a:rPr dirty="0" err="1"/>
              <a:t>FaceSwap</a:t>
            </a:r>
            <a:r>
              <a:rPr dirty="0"/>
              <a:t>) have democratized creation — anyone with modest compute resources can generate convincing fakes</a:t>
            </a:r>
            <a:r>
              <a:rPr lang="en-IN" dirty="0"/>
              <a:t>.</a:t>
            </a:r>
            <a:endParaRPr dirty="0"/>
          </a:p>
          <a:p>
            <a:pPr>
              <a:spcBef>
                <a:spcPts val="200"/>
              </a:spcBef>
              <a:spcAft>
                <a:spcPts val="600"/>
              </a:spcAft>
              <a:defRPr sz="1400">
                <a:solidFill>
                  <a:srgbClr val="333333"/>
                </a:solidFill>
                <a:latin typeface="Roboto Light"/>
              </a:defRPr>
            </a:pPr>
            <a:r>
              <a:rPr dirty="0"/>
              <a:t>• Critical threats: political misinformation, identity fraud, non-consensual imagery, judicial evidence tampering</a:t>
            </a:r>
            <a:r>
              <a:rPr lang="en-IN" dirty="0"/>
              <a:t>.</a:t>
            </a:r>
            <a:endParaRPr dirty="0"/>
          </a:p>
          <a:p>
            <a:pPr>
              <a:spcBef>
                <a:spcPts val="200"/>
              </a:spcBef>
              <a:spcAft>
                <a:spcPts val="600"/>
              </a:spcAft>
              <a:defRPr sz="1400">
                <a:solidFill>
                  <a:srgbClr val="333333"/>
                </a:solidFill>
                <a:latin typeface="Roboto Light"/>
              </a:defRPr>
            </a:pPr>
            <a:r>
              <a:rPr dirty="0"/>
              <a:t>• Detection-generation arms race demands robust, generalizable detection systems</a:t>
            </a:r>
            <a:r>
              <a:rPr lang="en-IN" dirty="0"/>
              <a:t>.</a:t>
            </a:r>
            <a:endParaRPr dirty="0"/>
          </a:p>
        </p:txBody>
      </p:sp>
      <p:sp>
        <p:nvSpPr>
          <p:cNvPr id="8" name="Rounded Rectangle 7"/>
          <p:cNvSpPr/>
          <p:nvPr/>
        </p:nvSpPr>
        <p:spPr>
          <a:xfrm>
            <a:off x="500026" y="3995928"/>
            <a:ext cx="2560320" cy="201168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4279392"/>
            <a:ext cx="2286000" cy="320040"/>
          </a:xfrm>
          <a:prstGeom prst="rect">
            <a:avLst/>
          </a:prstGeom>
          <a:noFill/>
        </p:spPr>
        <p:txBody>
          <a:bodyPr wrap="square">
            <a:spAutoFit/>
          </a:bodyPr>
          <a:lstStyle/>
          <a:p>
            <a:pPr algn="l">
              <a:defRPr sz="1400" b="1">
                <a:solidFill>
                  <a:srgbClr val="DC3545"/>
                </a:solidFill>
                <a:latin typeface="Poppins Light"/>
              </a:defRPr>
            </a:pPr>
            <a:r>
              <a:t>Political Manipulation</a:t>
            </a:r>
          </a:p>
        </p:txBody>
      </p:sp>
      <p:sp>
        <p:nvSpPr>
          <p:cNvPr id="10" name="TextBox 9"/>
          <p:cNvSpPr txBox="1"/>
          <p:nvPr/>
        </p:nvSpPr>
        <p:spPr>
          <a:xfrm>
            <a:off x="583750" y="4572000"/>
            <a:ext cx="2286000" cy="155448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Fabricated political speeches</a:t>
            </a:r>
          </a:p>
          <a:p>
            <a:pPr>
              <a:spcBef>
                <a:spcPts val="200"/>
              </a:spcBef>
              <a:spcAft>
                <a:spcPts val="300"/>
              </a:spcAft>
              <a:defRPr sz="1200">
                <a:solidFill>
                  <a:srgbClr val="333333"/>
                </a:solidFill>
                <a:latin typeface="Roboto Light"/>
              </a:defRPr>
            </a:pPr>
            <a:r>
              <a:t>• Election interference risk</a:t>
            </a:r>
          </a:p>
          <a:p>
            <a:pPr>
              <a:spcBef>
                <a:spcPts val="200"/>
              </a:spcBef>
              <a:spcAft>
                <a:spcPts val="300"/>
              </a:spcAft>
              <a:defRPr sz="1200">
                <a:solidFill>
                  <a:srgbClr val="333333"/>
                </a:solidFill>
                <a:latin typeface="Roboto Light"/>
              </a:defRPr>
            </a:pPr>
            <a:r>
              <a:t>• Diplomatic incident potential</a:t>
            </a:r>
          </a:p>
        </p:txBody>
      </p:sp>
      <p:sp>
        <p:nvSpPr>
          <p:cNvPr id="11" name="Rounded Rectangle 10"/>
          <p:cNvSpPr/>
          <p:nvPr/>
        </p:nvSpPr>
        <p:spPr>
          <a:xfrm>
            <a:off x="3281230" y="3995928"/>
            <a:ext cx="2560320" cy="201168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29000" y="4279392"/>
            <a:ext cx="2286000" cy="320040"/>
          </a:xfrm>
          <a:prstGeom prst="rect">
            <a:avLst/>
          </a:prstGeom>
          <a:noFill/>
        </p:spPr>
        <p:txBody>
          <a:bodyPr wrap="square">
            <a:spAutoFit/>
          </a:bodyPr>
          <a:lstStyle/>
          <a:p>
            <a:pPr algn="l">
              <a:defRPr sz="1400" b="1">
                <a:solidFill>
                  <a:srgbClr val="DC3545"/>
                </a:solidFill>
                <a:latin typeface="Poppins Light"/>
              </a:defRPr>
            </a:pPr>
            <a:r>
              <a:t>Identity Fraud</a:t>
            </a:r>
          </a:p>
        </p:txBody>
      </p:sp>
      <p:sp>
        <p:nvSpPr>
          <p:cNvPr id="13" name="TextBox 12"/>
          <p:cNvSpPr txBox="1"/>
          <p:nvPr/>
        </p:nvSpPr>
        <p:spPr>
          <a:xfrm>
            <a:off x="3429000" y="4572000"/>
            <a:ext cx="2286000" cy="155448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Biometric spoofing attacks</a:t>
            </a:r>
          </a:p>
          <a:p>
            <a:pPr>
              <a:spcBef>
                <a:spcPts val="200"/>
              </a:spcBef>
              <a:spcAft>
                <a:spcPts val="300"/>
              </a:spcAft>
              <a:defRPr sz="1200">
                <a:solidFill>
                  <a:srgbClr val="333333"/>
                </a:solidFill>
                <a:latin typeface="Roboto Light"/>
              </a:defRPr>
            </a:pPr>
            <a:r>
              <a:t>• Financial institution fraud</a:t>
            </a:r>
          </a:p>
          <a:p>
            <a:pPr>
              <a:spcBef>
                <a:spcPts val="200"/>
              </a:spcBef>
              <a:spcAft>
                <a:spcPts val="300"/>
              </a:spcAft>
              <a:defRPr sz="1200">
                <a:solidFill>
                  <a:srgbClr val="333333"/>
                </a:solidFill>
                <a:latin typeface="Roboto Light"/>
              </a:defRPr>
            </a:pPr>
            <a:r>
              <a:t>• Voice + video impersonation</a:t>
            </a:r>
          </a:p>
        </p:txBody>
      </p:sp>
      <p:sp>
        <p:nvSpPr>
          <p:cNvPr id="14" name="Rounded Rectangle 13"/>
          <p:cNvSpPr/>
          <p:nvPr/>
        </p:nvSpPr>
        <p:spPr>
          <a:xfrm>
            <a:off x="6126480" y="3995928"/>
            <a:ext cx="2560320" cy="201168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63640" y="4279392"/>
            <a:ext cx="2286000" cy="320040"/>
          </a:xfrm>
          <a:prstGeom prst="rect">
            <a:avLst/>
          </a:prstGeom>
          <a:noFill/>
        </p:spPr>
        <p:txBody>
          <a:bodyPr wrap="square">
            <a:spAutoFit/>
          </a:bodyPr>
          <a:lstStyle/>
          <a:p>
            <a:pPr algn="l">
              <a:defRPr sz="1400" b="1">
                <a:solidFill>
                  <a:srgbClr val="DC3545"/>
                </a:solidFill>
                <a:latin typeface="Poppins Light"/>
              </a:defRPr>
            </a:pPr>
            <a:r>
              <a:t>Forensic Integrity</a:t>
            </a:r>
          </a:p>
        </p:txBody>
      </p:sp>
      <p:sp>
        <p:nvSpPr>
          <p:cNvPr id="16" name="TextBox 15"/>
          <p:cNvSpPr txBox="1"/>
          <p:nvPr/>
        </p:nvSpPr>
        <p:spPr>
          <a:xfrm>
            <a:off x="6263640" y="4572000"/>
            <a:ext cx="2286000" cy="155448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Court evidence authentication</a:t>
            </a:r>
          </a:p>
          <a:p>
            <a:pPr>
              <a:spcBef>
                <a:spcPts val="200"/>
              </a:spcBef>
              <a:spcAft>
                <a:spcPts val="300"/>
              </a:spcAft>
              <a:defRPr sz="1200">
                <a:solidFill>
                  <a:srgbClr val="333333"/>
                </a:solidFill>
                <a:latin typeface="Roboto Light"/>
              </a:defRPr>
            </a:pPr>
            <a:r>
              <a:rPr dirty="0"/>
              <a:t>• Law enforcement challenges</a:t>
            </a:r>
          </a:p>
          <a:p>
            <a:pPr>
              <a:spcBef>
                <a:spcPts val="200"/>
              </a:spcBef>
              <a:spcAft>
                <a:spcPts val="300"/>
              </a:spcAft>
              <a:defRPr sz="1200">
                <a:solidFill>
                  <a:srgbClr val="333333"/>
                </a:solidFill>
                <a:latin typeface="Roboto Light"/>
              </a:defRPr>
            </a:pPr>
            <a:r>
              <a:rPr dirty="0"/>
              <a:t>• Digital trust erosion</a:t>
            </a:r>
          </a:p>
        </p:txBody>
      </p:sp>
      <p:sp>
        <p:nvSpPr>
          <p:cNvPr id="17" name="TextBox 16"/>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3/22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Introduction &amp; Objectives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Research Objectives</a:t>
            </a:r>
          </a:p>
        </p:txBody>
      </p:sp>
      <p:sp>
        <p:nvSpPr>
          <p:cNvPr id="5" name="Rectangle 4"/>
          <p:cNvSpPr/>
          <p:nvPr/>
        </p:nvSpPr>
        <p:spPr>
          <a:xfrm>
            <a:off x="0" y="1092708"/>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365760" y="1586484"/>
            <a:ext cx="365760" cy="3657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613916"/>
            <a:ext cx="365760" cy="320040"/>
          </a:xfrm>
          <a:prstGeom prst="rect">
            <a:avLst/>
          </a:prstGeom>
          <a:noFill/>
        </p:spPr>
        <p:txBody>
          <a:bodyPr wrap="square">
            <a:spAutoFit/>
          </a:bodyPr>
          <a:lstStyle/>
          <a:p>
            <a:pPr algn="ctr">
              <a:defRPr sz="1400" b="1">
                <a:solidFill>
                  <a:srgbClr val="FFFFFF"/>
                </a:solidFill>
                <a:latin typeface="Poppins Light"/>
              </a:defRPr>
            </a:pPr>
            <a:r>
              <a:t>1</a:t>
            </a:r>
          </a:p>
        </p:txBody>
      </p:sp>
      <p:sp>
        <p:nvSpPr>
          <p:cNvPr id="8" name="TextBox 7"/>
          <p:cNvSpPr txBox="1"/>
          <p:nvPr/>
        </p:nvSpPr>
        <p:spPr>
          <a:xfrm>
            <a:off x="914399" y="1609344"/>
            <a:ext cx="2499360" cy="320040"/>
          </a:xfrm>
          <a:prstGeom prst="rect">
            <a:avLst/>
          </a:prstGeom>
          <a:noFill/>
        </p:spPr>
        <p:txBody>
          <a:bodyPr wrap="square">
            <a:spAutoFit/>
          </a:bodyPr>
          <a:lstStyle/>
          <a:p>
            <a:pPr algn="l">
              <a:defRPr sz="1400" b="1">
                <a:solidFill>
                  <a:srgbClr val="1B3A5C"/>
                </a:solidFill>
                <a:latin typeface="Poppins Light"/>
              </a:defRPr>
            </a:pPr>
            <a:r>
              <a:rPr dirty="0"/>
              <a:t>Spatial Feature Extraction</a:t>
            </a:r>
          </a:p>
        </p:txBody>
      </p:sp>
      <p:sp>
        <p:nvSpPr>
          <p:cNvPr id="9" name="TextBox 8"/>
          <p:cNvSpPr txBox="1"/>
          <p:nvPr/>
        </p:nvSpPr>
        <p:spPr>
          <a:xfrm>
            <a:off x="914399" y="1888236"/>
            <a:ext cx="7498079" cy="461665"/>
          </a:xfrm>
          <a:prstGeom prst="rect">
            <a:avLst/>
          </a:prstGeom>
          <a:noFill/>
        </p:spPr>
        <p:txBody>
          <a:bodyPr wrap="square">
            <a:spAutoFit/>
          </a:bodyPr>
          <a:lstStyle/>
          <a:p>
            <a:pPr algn="l">
              <a:defRPr sz="1200" b="0">
                <a:solidFill>
                  <a:srgbClr val="333333"/>
                </a:solidFill>
                <a:latin typeface="Roboto Light"/>
              </a:defRPr>
            </a:pPr>
            <a:r>
              <a:rPr dirty="0"/>
              <a:t>Develop robust CNN-based spatial artifact detection using ResNeXt-50 backbone with ImageNet transfer learning</a:t>
            </a:r>
            <a:r>
              <a:rPr lang="en-IN" dirty="0"/>
              <a:t>.</a:t>
            </a:r>
            <a:endParaRPr dirty="0"/>
          </a:p>
        </p:txBody>
      </p:sp>
      <p:sp>
        <p:nvSpPr>
          <p:cNvPr id="10" name="Oval 9"/>
          <p:cNvSpPr/>
          <p:nvPr/>
        </p:nvSpPr>
        <p:spPr>
          <a:xfrm>
            <a:off x="365760" y="2546604"/>
            <a:ext cx="365760" cy="3657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2574036"/>
            <a:ext cx="365760" cy="320040"/>
          </a:xfrm>
          <a:prstGeom prst="rect">
            <a:avLst/>
          </a:prstGeom>
          <a:noFill/>
        </p:spPr>
        <p:txBody>
          <a:bodyPr wrap="square">
            <a:spAutoFit/>
          </a:bodyPr>
          <a:lstStyle/>
          <a:p>
            <a:pPr algn="ctr">
              <a:defRPr sz="1400" b="1">
                <a:solidFill>
                  <a:srgbClr val="FFFFFF"/>
                </a:solidFill>
                <a:latin typeface="Poppins Light"/>
              </a:defRPr>
            </a:pPr>
            <a:r>
              <a:t>2</a:t>
            </a:r>
          </a:p>
        </p:txBody>
      </p:sp>
      <p:sp>
        <p:nvSpPr>
          <p:cNvPr id="12" name="TextBox 11"/>
          <p:cNvSpPr txBox="1"/>
          <p:nvPr/>
        </p:nvSpPr>
        <p:spPr>
          <a:xfrm>
            <a:off x="914400" y="2528316"/>
            <a:ext cx="2971800" cy="320040"/>
          </a:xfrm>
          <a:prstGeom prst="rect">
            <a:avLst/>
          </a:prstGeom>
          <a:noFill/>
        </p:spPr>
        <p:txBody>
          <a:bodyPr wrap="square">
            <a:spAutoFit/>
          </a:bodyPr>
          <a:lstStyle/>
          <a:p>
            <a:pPr algn="l">
              <a:defRPr sz="1400" b="1">
                <a:solidFill>
                  <a:srgbClr val="1B3A5C"/>
                </a:solidFill>
                <a:latin typeface="Poppins Light"/>
              </a:defRPr>
            </a:pPr>
            <a:r>
              <a:rPr dirty="0"/>
              <a:t>Temporal Dynamics Modeling</a:t>
            </a:r>
          </a:p>
        </p:txBody>
      </p:sp>
      <p:sp>
        <p:nvSpPr>
          <p:cNvPr id="13" name="TextBox 12"/>
          <p:cNvSpPr txBox="1"/>
          <p:nvPr/>
        </p:nvSpPr>
        <p:spPr>
          <a:xfrm>
            <a:off x="925009" y="2775204"/>
            <a:ext cx="7498079" cy="276999"/>
          </a:xfrm>
          <a:prstGeom prst="rect">
            <a:avLst/>
          </a:prstGeom>
          <a:noFill/>
        </p:spPr>
        <p:txBody>
          <a:bodyPr wrap="square">
            <a:spAutoFit/>
          </a:bodyPr>
          <a:lstStyle/>
          <a:p>
            <a:pPr algn="l">
              <a:defRPr sz="1200" b="0">
                <a:solidFill>
                  <a:srgbClr val="333333"/>
                </a:solidFill>
                <a:latin typeface="Roboto Light"/>
              </a:defRPr>
            </a:pPr>
            <a:r>
              <a:rPr dirty="0"/>
              <a:t>Capture inter-frame inconsistencies (flickering, unnatural blinking, motion jitter) using Bidirectional LSTM</a:t>
            </a:r>
            <a:r>
              <a:rPr lang="en-IN" dirty="0"/>
              <a:t>.</a:t>
            </a:r>
            <a:endParaRPr dirty="0"/>
          </a:p>
        </p:txBody>
      </p:sp>
      <p:sp>
        <p:nvSpPr>
          <p:cNvPr id="14" name="Oval 13"/>
          <p:cNvSpPr/>
          <p:nvPr/>
        </p:nvSpPr>
        <p:spPr>
          <a:xfrm>
            <a:off x="365760" y="3506724"/>
            <a:ext cx="365760" cy="3657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5760" y="3534156"/>
            <a:ext cx="365760" cy="320040"/>
          </a:xfrm>
          <a:prstGeom prst="rect">
            <a:avLst/>
          </a:prstGeom>
          <a:noFill/>
        </p:spPr>
        <p:txBody>
          <a:bodyPr wrap="square">
            <a:spAutoFit/>
          </a:bodyPr>
          <a:lstStyle/>
          <a:p>
            <a:pPr algn="ctr">
              <a:defRPr sz="1400" b="1">
                <a:solidFill>
                  <a:srgbClr val="FFFFFF"/>
                </a:solidFill>
                <a:latin typeface="Poppins Light"/>
              </a:defRPr>
            </a:pPr>
            <a:r>
              <a:t>3</a:t>
            </a:r>
          </a:p>
        </p:txBody>
      </p:sp>
      <p:sp>
        <p:nvSpPr>
          <p:cNvPr id="16" name="TextBox 15"/>
          <p:cNvSpPr txBox="1"/>
          <p:nvPr/>
        </p:nvSpPr>
        <p:spPr>
          <a:xfrm>
            <a:off x="914400" y="3488436"/>
            <a:ext cx="2971800" cy="320040"/>
          </a:xfrm>
          <a:prstGeom prst="rect">
            <a:avLst/>
          </a:prstGeom>
          <a:noFill/>
        </p:spPr>
        <p:txBody>
          <a:bodyPr wrap="square">
            <a:spAutoFit/>
          </a:bodyPr>
          <a:lstStyle/>
          <a:p>
            <a:pPr algn="l">
              <a:defRPr sz="1400" b="1">
                <a:solidFill>
                  <a:srgbClr val="1B3A5C"/>
                </a:solidFill>
                <a:latin typeface="Poppins Light"/>
              </a:defRPr>
            </a:pPr>
            <a:r>
              <a:rPr dirty="0"/>
              <a:t>Attention-Guided Localization</a:t>
            </a:r>
          </a:p>
        </p:txBody>
      </p:sp>
      <p:sp>
        <p:nvSpPr>
          <p:cNvPr id="17" name="TextBox 16"/>
          <p:cNvSpPr txBox="1"/>
          <p:nvPr/>
        </p:nvSpPr>
        <p:spPr>
          <a:xfrm>
            <a:off x="914400" y="3781044"/>
            <a:ext cx="7498079" cy="276999"/>
          </a:xfrm>
          <a:prstGeom prst="rect">
            <a:avLst/>
          </a:prstGeom>
          <a:noFill/>
        </p:spPr>
        <p:txBody>
          <a:bodyPr wrap="square">
            <a:spAutoFit/>
          </a:bodyPr>
          <a:lstStyle/>
          <a:p>
            <a:pPr algn="l">
              <a:defRPr sz="1200" b="0">
                <a:solidFill>
                  <a:srgbClr val="333333"/>
                </a:solidFill>
                <a:latin typeface="Roboto Light"/>
              </a:defRPr>
            </a:pPr>
            <a:r>
              <a:rPr dirty="0"/>
              <a:t>Integrate CBAM attention to highlight discriminative facial regions (eyes, mouth, jawline, blending boundaries)</a:t>
            </a:r>
            <a:r>
              <a:rPr lang="en-IN" dirty="0"/>
              <a:t>.</a:t>
            </a:r>
            <a:endParaRPr dirty="0"/>
          </a:p>
        </p:txBody>
      </p:sp>
      <p:sp>
        <p:nvSpPr>
          <p:cNvPr id="18" name="Oval 17"/>
          <p:cNvSpPr/>
          <p:nvPr/>
        </p:nvSpPr>
        <p:spPr>
          <a:xfrm>
            <a:off x="365760" y="4466844"/>
            <a:ext cx="365760" cy="3657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65760" y="4494276"/>
            <a:ext cx="365760" cy="320040"/>
          </a:xfrm>
          <a:prstGeom prst="rect">
            <a:avLst/>
          </a:prstGeom>
          <a:noFill/>
        </p:spPr>
        <p:txBody>
          <a:bodyPr wrap="square">
            <a:spAutoFit/>
          </a:bodyPr>
          <a:lstStyle/>
          <a:p>
            <a:pPr algn="ctr">
              <a:defRPr sz="1400" b="1">
                <a:solidFill>
                  <a:srgbClr val="FFFFFF"/>
                </a:solidFill>
                <a:latin typeface="Poppins Light"/>
              </a:defRPr>
            </a:pPr>
            <a:r>
              <a:t>4</a:t>
            </a:r>
          </a:p>
        </p:txBody>
      </p:sp>
      <p:sp>
        <p:nvSpPr>
          <p:cNvPr id="20" name="TextBox 19"/>
          <p:cNvSpPr txBox="1"/>
          <p:nvPr/>
        </p:nvSpPr>
        <p:spPr>
          <a:xfrm>
            <a:off x="914400" y="4448556"/>
            <a:ext cx="2971800" cy="320040"/>
          </a:xfrm>
          <a:prstGeom prst="rect">
            <a:avLst/>
          </a:prstGeom>
          <a:noFill/>
        </p:spPr>
        <p:txBody>
          <a:bodyPr wrap="square">
            <a:spAutoFit/>
          </a:bodyPr>
          <a:lstStyle/>
          <a:p>
            <a:pPr algn="l">
              <a:defRPr sz="1400" b="1">
                <a:solidFill>
                  <a:srgbClr val="1B3A5C"/>
                </a:solidFill>
                <a:latin typeface="Poppins Light"/>
              </a:defRPr>
            </a:pPr>
            <a:r>
              <a:rPr dirty="0"/>
              <a:t>Cross-Dataset Generalization</a:t>
            </a:r>
          </a:p>
        </p:txBody>
      </p:sp>
      <p:sp>
        <p:nvSpPr>
          <p:cNvPr id="21" name="TextBox 20"/>
          <p:cNvSpPr txBox="1"/>
          <p:nvPr/>
        </p:nvSpPr>
        <p:spPr>
          <a:xfrm>
            <a:off x="914400" y="4741164"/>
            <a:ext cx="7498079" cy="276999"/>
          </a:xfrm>
          <a:prstGeom prst="rect">
            <a:avLst/>
          </a:prstGeom>
          <a:noFill/>
        </p:spPr>
        <p:txBody>
          <a:bodyPr wrap="square">
            <a:spAutoFit/>
          </a:bodyPr>
          <a:lstStyle/>
          <a:p>
            <a:pPr algn="l">
              <a:defRPr sz="1200" b="0">
                <a:solidFill>
                  <a:srgbClr val="333333"/>
                </a:solidFill>
                <a:latin typeface="Roboto Light"/>
              </a:defRPr>
            </a:pPr>
            <a:r>
              <a:rPr dirty="0"/>
              <a:t>Train on Celeb-DF v2 and validate for robust generalization across unseen manipulation techniques</a:t>
            </a:r>
            <a:r>
              <a:rPr lang="en-IN" dirty="0"/>
              <a:t>.</a:t>
            </a:r>
            <a:endParaRPr dirty="0"/>
          </a:p>
        </p:txBody>
      </p:sp>
      <p:sp>
        <p:nvSpPr>
          <p:cNvPr id="22" name="Oval 21"/>
          <p:cNvSpPr/>
          <p:nvPr/>
        </p:nvSpPr>
        <p:spPr>
          <a:xfrm>
            <a:off x="365760" y="5426964"/>
            <a:ext cx="365760" cy="3657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5454396"/>
            <a:ext cx="365760" cy="320040"/>
          </a:xfrm>
          <a:prstGeom prst="rect">
            <a:avLst/>
          </a:prstGeom>
          <a:noFill/>
        </p:spPr>
        <p:txBody>
          <a:bodyPr wrap="square">
            <a:spAutoFit/>
          </a:bodyPr>
          <a:lstStyle/>
          <a:p>
            <a:pPr algn="ctr">
              <a:defRPr sz="1400" b="1">
                <a:solidFill>
                  <a:srgbClr val="FFFFFF"/>
                </a:solidFill>
                <a:latin typeface="Poppins Light"/>
              </a:defRPr>
            </a:pPr>
            <a:r>
              <a:t>5</a:t>
            </a:r>
          </a:p>
        </p:txBody>
      </p:sp>
      <p:sp>
        <p:nvSpPr>
          <p:cNvPr id="24" name="TextBox 23"/>
          <p:cNvSpPr txBox="1"/>
          <p:nvPr/>
        </p:nvSpPr>
        <p:spPr>
          <a:xfrm>
            <a:off x="914400" y="5408676"/>
            <a:ext cx="2971800" cy="320040"/>
          </a:xfrm>
          <a:prstGeom prst="rect">
            <a:avLst/>
          </a:prstGeom>
          <a:noFill/>
        </p:spPr>
        <p:txBody>
          <a:bodyPr wrap="square">
            <a:spAutoFit/>
          </a:bodyPr>
          <a:lstStyle/>
          <a:p>
            <a:pPr algn="l">
              <a:defRPr sz="1400" b="1">
                <a:solidFill>
                  <a:srgbClr val="1B3A5C"/>
                </a:solidFill>
                <a:latin typeface="Poppins Light"/>
              </a:defRPr>
            </a:pPr>
            <a:r>
              <a:rPr dirty="0"/>
              <a:t>Practical Deployment</a:t>
            </a:r>
          </a:p>
        </p:txBody>
      </p:sp>
      <p:sp>
        <p:nvSpPr>
          <p:cNvPr id="25" name="TextBox 24"/>
          <p:cNvSpPr txBox="1"/>
          <p:nvPr/>
        </p:nvSpPr>
        <p:spPr>
          <a:xfrm>
            <a:off x="929832" y="5669280"/>
            <a:ext cx="7498079" cy="276999"/>
          </a:xfrm>
          <a:prstGeom prst="rect">
            <a:avLst/>
          </a:prstGeom>
          <a:noFill/>
        </p:spPr>
        <p:txBody>
          <a:bodyPr wrap="square">
            <a:spAutoFit/>
          </a:bodyPr>
          <a:lstStyle/>
          <a:p>
            <a:pPr algn="l">
              <a:defRPr sz="1200" b="0">
                <a:solidFill>
                  <a:srgbClr val="333333"/>
                </a:solidFill>
                <a:latin typeface="Roboto Light"/>
              </a:defRPr>
            </a:pPr>
            <a:r>
              <a:rPr dirty="0"/>
              <a:t>Build end-to-end web application for real-time video analysis with </a:t>
            </a:r>
            <a:r>
              <a:rPr dirty="0" err="1"/>
              <a:t>FastAPI</a:t>
            </a:r>
            <a:r>
              <a:rPr dirty="0"/>
              <a:t> backend and interactive frontend</a:t>
            </a:r>
            <a:r>
              <a:rPr lang="en-IN" dirty="0"/>
              <a:t>.</a:t>
            </a:r>
            <a:endParaRPr dirty="0"/>
          </a:p>
        </p:txBody>
      </p:sp>
      <p:sp>
        <p:nvSpPr>
          <p:cNvPr id="26" name="TextBox 25"/>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4/22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System Design &amp; Architecture</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End-to-End Pipeline Overview</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50520" y="1636776"/>
            <a:ext cx="1078992" cy="10058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96240" y="1728216"/>
            <a:ext cx="987552" cy="320040"/>
          </a:xfrm>
          <a:prstGeom prst="rect">
            <a:avLst/>
          </a:prstGeom>
          <a:noFill/>
        </p:spPr>
        <p:txBody>
          <a:bodyPr wrap="square">
            <a:spAutoFit/>
          </a:bodyPr>
          <a:lstStyle/>
          <a:p>
            <a:pPr algn="ctr">
              <a:defRPr sz="1000" b="1">
                <a:solidFill>
                  <a:srgbClr val="FFFFFF"/>
                </a:solidFill>
                <a:latin typeface="Poppins Light"/>
              </a:defRPr>
            </a:pPr>
            <a:r>
              <a:t>Input Video</a:t>
            </a:r>
          </a:p>
        </p:txBody>
      </p:sp>
      <p:sp>
        <p:nvSpPr>
          <p:cNvPr id="8" name="TextBox 7"/>
          <p:cNvSpPr txBox="1"/>
          <p:nvPr/>
        </p:nvSpPr>
        <p:spPr>
          <a:xfrm>
            <a:off x="396240" y="2048256"/>
            <a:ext cx="987552" cy="548640"/>
          </a:xfrm>
          <a:prstGeom prst="rect">
            <a:avLst/>
          </a:prstGeom>
          <a:noFill/>
        </p:spPr>
        <p:txBody>
          <a:bodyPr wrap="square">
            <a:spAutoFit/>
          </a:bodyPr>
          <a:lstStyle/>
          <a:p>
            <a:pPr algn="ctr">
              <a:defRPr sz="800" b="0">
                <a:solidFill>
                  <a:srgbClr val="EEEEEE"/>
                </a:solidFill>
                <a:latin typeface="Roboto Light"/>
              </a:defRPr>
            </a:pPr>
            <a:r>
              <a:t>Short video clip uploaded by user</a:t>
            </a:r>
          </a:p>
        </p:txBody>
      </p:sp>
      <p:sp>
        <p:nvSpPr>
          <p:cNvPr id="9" name="TextBox 8"/>
          <p:cNvSpPr txBox="1"/>
          <p:nvPr/>
        </p:nvSpPr>
        <p:spPr>
          <a:xfrm>
            <a:off x="144780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10" name="Rounded Rectangle 9"/>
          <p:cNvSpPr/>
          <p:nvPr/>
        </p:nvSpPr>
        <p:spPr>
          <a:xfrm>
            <a:off x="1584960" y="1636776"/>
            <a:ext cx="1078992" cy="1005840"/>
          </a:xfrm>
          <a:prstGeom prst="round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630680" y="1728216"/>
            <a:ext cx="987552" cy="320040"/>
          </a:xfrm>
          <a:prstGeom prst="rect">
            <a:avLst/>
          </a:prstGeom>
          <a:noFill/>
        </p:spPr>
        <p:txBody>
          <a:bodyPr wrap="square">
            <a:spAutoFit/>
          </a:bodyPr>
          <a:lstStyle/>
          <a:p>
            <a:pPr algn="ctr">
              <a:defRPr sz="1000" b="1">
                <a:solidFill>
                  <a:srgbClr val="FFFFFF"/>
                </a:solidFill>
                <a:latin typeface="Poppins Light"/>
              </a:defRPr>
            </a:pPr>
            <a:r>
              <a:t>Frame Sampling</a:t>
            </a:r>
          </a:p>
        </p:txBody>
      </p:sp>
      <p:sp>
        <p:nvSpPr>
          <p:cNvPr id="12" name="TextBox 11"/>
          <p:cNvSpPr txBox="1"/>
          <p:nvPr/>
        </p:nvSpPr>
        <p:spPr>
          <a:xfrm>
            <a:off x="1630680" y="2048256"/>
            <a:ext cx="987552" cy="548640"/>
          </a:xfrm>
          <a:prstGeom prst="rect">
            <a:avLst/>
          </a:prstGeom>
          <a:noFill/>
        </p:spPr>
        <p:txBody>
          <a:bodyPr wrap="square">
            <a:spAutoFit/>
          </a:bodyPr>
          <a:lstStyle/>
          <a:p>
            <a:pPr algn="ctr">
              <a:defRPr sz="800" b="0">
                <a:solidFill>
                  <a:srgbClr val="EEEEEE"/>
                </a:solidFill>
                <a:latin typeface="Roboto Light"/>
              </a:defRPr>
            </a:pPr>
            <a:r>
              <a:t>16 frames extracted uniformly (with jitter for training)</a:t>
            </a:r>
          </a:p>
        </p:txBody>
      </p:sp>
      <p:sp>
        <p:nvSpPr>
          <p:cNvPr id="13" name="TextBox 12"/>
          <p:cNvSpPr txBox="1"/>
          <p:nvPr/>
        </p:nvSpPr>
        <p:spPr>
          <a:xfrm>
            <a:off x="268224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14" name="Rounded Rectangle 13"/>
          <p:cNvSpPr/>
          <p:nvPr/>
        </p:nvSpPr>
        <p:spPr>
          <a:xfrm>
            <a:off x="2819400" y="1636776"/>
            <a:ext cx="1078992" cy="1005840"/>
          </a:xfrm>
          <a:prstGeom prst="roundRect">
            <a:avLst/>
          </a:prstGeom>
          <a:solidFill>
            <a:srgbClr val="E1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865120" y="1728216"/>
            <a:ext cx="987552" cy="320040"/>
          </a:xfrm>
          <a:prstGeom prst="rect">
            <a:avLst/>
          </a:prstGeom>
          <a:noFill/>
        </p:spPr>
        <p:txBody>
          <a:bodyPr wrap="square">
            <a:spAutoFit/>
          </a:bodyPr>
          <a:lstStyle/>
          <a:p>
            <a:pPr algn="ctr">
              <a:defRPr sz="1000" b="1">
                <a:solidFill>
                  <a:srgbClr val="FFFFFF"/>
                </a:solidFill>
                <a:latin typeface="Poppins Light"/>
              </a:defRPr>
            </a:pPr>
            <a:r>
              <a:t>Face Detection</a:t>
            </a:r>
          </a:p>
        </p:txBody>
      </p:sp>
      <p:sp>
        <p:nvSpPr>
          <p:cNvPr id="16" name="TextBox 15"/>
          <p:cNvSpPr txBox="1"/>
          <p:nvPr/>
        </p:nvSpPr>
        <p:spPr>
          <a:xfrm>
            <a:off x="2865120" y="2048256"/>
            <a:ext cx="987552" cy="548640"/>
          </a:xfrm>
          <a:prstGeom prst="rect">
            <a:avLst/>
          </a:prstGeom>
          <a:noFill/>
        </p:spPr>
        <p:txBody>
          <a:bodyPr wrap="square">
            <a:spAutoFit/>
          </a:bodyPr>
          <a:lstStyle/>
          <a:p>
            <a:pPr algn="ctr">
              <a:defRPr sz="800" b="0">
                <a:solidFill>
                  <a:srgbClr val="EEEEEE"/>
                </a:solidFill>
                <a:latin typeface="Roboto Light"/>
              </a:defRPr>
            </a:pPr>
            <a:r>
              <a:t>MTCNN primary + RetinaFace fallback</a:t>
            </a:r>
          </a:p>
        </p:txBody>
      </p:sp>
      <p:sp>
        <p:nvSpPr>
          <p:cNvPr id="17" name="TextBox 16"/>
          <p:cNvSpPr txBox="1"/>
          <p:nvPr/>
        </p:nvSpPr>
        <p:spPr>
          <a:xfrm>
            <a:off x="391668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18" name="Rounded Rectangle 17"/>
          <p:cNvSpPr/>
          <p:nvPr/>
        </p:nvSpPr>
        <p:spPr>
          <a:xfrm>
            <a:off x="4053840" y="1636776"/>
            <a:ext cx="1078992" cy="1005840"/>
          </a:xfrm>
          <a:prstGeom prst="roundRect">
            <a:avLst/>
          </a:prstGeom>
          <a:solidFill>
            <a:srgbClr val="E1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99560" y="1728216"/>
            <a:ext cx="987552" cy="320040"/>
          </a:xfrm>
          <a:prstGeom prst="rect">
            <a:avLst/>
          </a:prstGeom>
          <a:noFill/>
        </p:spPr>
        <p:txBody>
          <a:bodyPr wrap="square">
            <a:spAutoFit/>
          </a:bodyPr>
          <a:lstStyle/>
          <a:p>
            <a:pPr algn="ctr">
              <a:defRPr sz="1000" b="1">
                <a:solidFill>
                  <a:srgbClr val="FFFFFF"/>
                </a:solidFill>
                <a:latin typeface="Poppins Light"/>
              </a:defRPr>
            </a:pPr>
            <a:r>
              <a:t>Face Alignment</a:t>
            </a:r>
          </a:p>
        </p:txBody>
      </p:sp>
      <p:sp>
        <p:nvSpPr>
          <p:cNvPr id="20" name="TextBox 19"/>
          <p:cNvSpPr txBox="1"/>
          <p:nvPr/>
        </p:nvSpPr>
        <p:spPr>
          <a:xfrm>
            <a:off x="4099560" y="2048256"/>
            <a:ext cx="987552" cy="548640"/>
          </a:xfrm>
          <a:prstGeom prst="rect">
            <a:avLst/>
          </a:prstGeom>
          <a:noFill/>
        </p:spPr>
        <p:txBody>
          <a:bodyPr wrap="square">
            <a:spAutoFit/>
          </a:bodyPr>
          <a:lstStyle/>
          <a:p>
            <a:pPr algn="ctr">
              <a:defRPr sz="800" b="0">
                <a:solidFill>
                  <a:srgbClr val="EEEEEE"/>
                </a:solidFill>
                <a:latin typeface="Roboto Light"/>
              </a:defRPr>
            </a:pPr>
            <a:r>
              <a:t>Landmark-based affine transform to 224×224</a:t>
            </a:r>
          </a:p>
        </p:txBody>
      </p:sp>
      <p:sp>
        <p:nvSpPr>
          <p:cNvPr id="21" name="TextBox 20"/>
          <p:cNvSpPr txBox="1"/>
          <p:nvPr/>
        </p:nvSpPr>
        <p:spPr>
          <a:xfrm>
            <a:off x="515112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22" name="Rounded Rectangle 21"/>
          <p:cNvSpPr/>
          <p:nvPr/>
        </p:nvSpPr>
        <p:spPr>
          <a:xfrm>
            <a:off x="5288280" y="1636776"/>
            <a:ext cx="1078992" cy="10058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34000" y="1728216"/>
            <a:ext cx="987552" cy="320040"/>
          </a:xfrm>
          <a:prstGeom prst="rect">
            <a:avLst/>
          </a:prstGeom>
          <a:noFill/>
        </p:spPr>
        <p:txBody>
          <a:bodyPr wrap="square">
            <a:spAutoFit/>
          </a:bodyPr>
          <a:lstStyle/>
          <a:p>
            <a:pPr algn="ctr">
              <a:defRPr sz="1000" b="1">
                <a:solidFill>
                  <a:srgbClr val="FFFFFF"/>
                </a:solidFill>
                <a:latin typeface="Poppins Light"/>
              </a:defRPr>
            </a:pPr>
            <a:r>
              <a:t>Spatial Features</a:t>
            </a:r>
          </a:p>
        </p:txBody>
      </p:sp>
      <p:sp>
        <p:nvSpPr>
          <p:cNvPr id="24" name="TextBox 23"/>
          <p:cNvSpPr txBox="1"/>
          <p:nvPr/>
        </p:nvSpPr>
        <p:spPr>
          <a:xfrm>
            <a:off x="5334000" y="2048256"/>
            <a:ext cx="987552" cy="548640"/>
          </a:xfrm>
          <a:prstGeom prst="rect">
            <a:avLst/>
          </a:prstGeom>
          <a:noFill/>
        </p:spPr>
        <p:txBody>
          <a:bodyPr wrap="square">
            <a:spAutoFit/>
          </a:bodyPr>
          <a:lstStyle/>
          <a:p>
            <a:pPr algn="ctr">
              <a:defRPr sz="800" b="0">
                <a:solidFill>
                  <a:srgbClr val="EEEEEE"/>
                </a:solidFill>
                <a:latin typeface="Roboto Light"/>
              </a:defRPr>
            </a:pPr>
            <a:r>
              <a:t>ResNeXt-50 + CBAM Attention per frame</a:t>
            </a:r>
          </a:p>
        </p:txBody>
      </p:sp>
      <p:sp>
        <p:nvSpPr>
          <p:cNvPr id="25" name="TextBox 24"/>
          <p:cNvSpPr txBox="1"/>
          <p:nvPr/>
        </p:nvSpPr>
        <p:spPr>
          <a:xfrm>
            <a:off x="638556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26" name="Rounded Rectangle 25"/>
          <p:cNvSpPr/>
          <p:nvPr/>
        </p:nvSpPr>
        <p:spPr>
          <a:xfrm>
            <a:off x="6522720" y="1636776"/>
            <a:ext cx="1078992" cy="1005840"/>
          </a:xfrm>
          <a:prstGeom prst="round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68440" y="1728216"/>
            <a:ext cx="987552" cy="320040"/>
          </a:xfrm>
          <a:prstGeom prst="rect">
            <a:avLst/>
          </a:prstGeom>
          <a:noFill/>
        </p:spPr>
        <p:txBody>
          <a:bodyPr wrap="square">
            <a:spAutoFit/>
          </a:bodyPr>
          <a:lstStyle/>
          <a:p>
            <a:pPr algn="ctr">
              <a:defRPr sz="1000" b="1">
                <a:solidFill>
                  <a:srgbClr val="FFFFFF"/>
                </a:solidFill>
                <a:latin typeface="Poppins Light"/>
              </a:defRPr>
            </a:pPr>
            <a:r>
              <a:t>Temporal Model</a:t>
            </a:r>
          </a:p>
        </p:txBody>
      </p:sp>
      <p:sp>
        <p:nvSpPr>
          <p:cNvPr id="28" name="TextBox 27"/>
          <p:cNvSpPr txBox="1"/>
          <p:nvPr/>
        </p:nvSpPr>
        <p:spPr>
          <a:xfrm>
            <a:off x="6568440" y="2048256"/>
            <a:ext cx="987552" cy="548640"/>
          </a:xfrm>
          <a:prstGeom prst="rect">
            <a:avLst/>
          </a:prstGeom>
          <a:noFill/>
        </p:spPr>
        <p:txBody>
          <a:bodyPr wrap="square">
            <a:spAutoFit/>
          </a:bodyPr>
          <a:lstStyle/>
          <a:p>
            <a:pPr algn="ctr">
              <a:defRPr sz="800" b="0">
                <a:solidFill>
                  <a:srgbClr val="EEEEEE"/>
                </a:solidFill>
                <a:latin typeface="Roboto Light"/>
              </a:defRPr>
            </a:pPr>
            <a:r>
              <a:t>BiLSTM across 16 frames</a:t>
            </a:r>
          </a:p>
        </p:txBody>
      </p:sp>
      <p:sp>
        <p:nvSpPr>
          <p:cNvPr id="29" name="TextBox 28"/>
          <p:cNvSpPr txBox="1"/>
          <p:nvPr/>
        </p:nvSpPr>
        <p:spPr>
          <a:xfrm>
            <a:off x="7620000" y="1956816"/>
            <a:ext cx="137160" cy="274320"/>
          </a:xfrm>
          <a:prstGeom prst="rect">
            <a:avLst/>
          </a:prstGeom>
          <a:noFill/>
        </p:spPr>
        <p:txBody>
          <a:bodyPr wrap="square">
            <a:spAutoFit/>
          </a:bodyPr>
          <a:lstStyle/>
          <a:p>
            <a:pPr algn="ctr">
              <a:defRPr sz="1400" b="0">
                <a:solidFill>
                  <a:srgbClr val="666666"/>
                </a:solidFill>
                <a:latin typeface="Roboto Light"/>
              </a:defRPr>
            </a:pPr>
            <a:r>
              <a:t>▶</a:t>
            </a:r>
          </a:p>
        </p:txBody>
      </p:sp>
      <p:sp>
        <p:nvSpPr>
          <p:cNvPr id="30" name="Rounded Rectangle 29"/>
          <p:cNvSpPr/>
          <p:nvPr/>
        </p:nvSpPr>
        <p:spPr>
          <a:xfrm>
            <a:off x="7757160" y="1636776"/>
            <a:ext cx="1078992" cy="1005840"/>
          </a:xfrm>
          <a:prstGeom prst="roundRect">
            <a:avLst/>
          </a:prstGeom>
          <a:solidFill>
            <a:srgbClr val="DC3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802880" y="1728216"/>
            <a:ext cx="987552" cy="320040"/>
          </a:xfrm>
          <a:prstGeom prst="rect">
            <a:avLst/>
          </a:prstGeom>
          <a:noFill/>
        </p:spPr>
        <p:txBody>
          <a:bodyPr wrap="square">
            <a:spAutoFit/>
          </a:bodyPr>
          <a:lstStyle/>
          <a:p>
            <a:pPr algn="ctr">
              <a:defRPr sz="1000" b="1">
                <a:solidFill>
                  <a:srgbClr val="FFFFFF"/>
                </a:solidFill>
                <a:latin typeface="Poppins Light"/>
              </a:defRPr>
            </a:pPr>
            <a:r>
              <a:t>Classification</a:t>
            </a:r>
          </a:p>
        </p:txBody>
      </p:sp>
      <p:sp>
        <p:nvSpPr>
          <p:cNvPr id="32" name="TextBox 31"/>
          <p:cNvSpPr txBox="1"/>
          <p:nvPr/>
        </p:nvSpPr>
        <p:spPr>
          <a:xfrm>
            <a:off x="7802880" y="2048256"/>
            <a:ext cx="987552" cy="548640"/>
          </a:xfrm>
          <a:prstGeom prst="rect">
            <a:avLst/>
          </a:prstGeom>
          <a:noFill/>
        </p:spPr>
        <p:txBody>
          <a:bodyPr wrap="square">
            <a:spAutoFit/>
          </a:bodyPr>
          <a:lstStyle/>
          <a:p>
            <a:pPr algn="ctr">
              <a:defRPr sz="800" b="0">
                <a:solidFill>
                  <a:srgbClr val="EEEEEE"/>
                </a:solidFill>
                <a:latin typeface="Roboto Light"/>
              </a:defRPr>
            </a:pPr>
            <a:r>
              <a:t>REAL / FAKE with confidence score</a:t>
            </a:r>
          </a:p>
        </p:txBody>
      </p:sp>
      <p:sp>
        <p:nvSpPr>
          <p:cNvPr id="33" name="Rounded Rectangle 32"/>
          <p:cNvSpPr/>
          <p:nvPr/>
        </p:nvSpPr>
        <p:spPr>
          <a:xfrm>
            <a:off x="454113" y="2999232"/>
            <a:ext cx="3581400" cy="2523744"/>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7220" y="3057337"/>
            <a:ext cx="3566160" cy="320040"/>
          </a:xfrm>
          <a:prstGeom prst="rect">
            <a:avLst/>
          </a:prstGeom>
          <a:noFill/>
        </p:spPr>
        <p:txBody>
          <a:bodyPr wrap="square">
            <a:spAutoFit/>
          </a:bodyPr>
          <a:lstStyle/>
          <a:p>
            <a:pPr algn="l">
              <a:defRPr sz="1400" b="1">
                <a:solidFill>
                  <a:srgbClr val="1B3A5C"/>
                </a:solidFill>
                <a:latin typeface="Poppins Light"/>
              </a:defRPr>
            </a:pPr>
            <a:r>
              <a:rPr dirty="0"/>
              <a:t>Model Architecture Summary</a:t>
            </a:r>
          </a:p>
        </p:txBody>
      </p:sp>
      <p:sp>
        <p:nvSpPr>
          <p:cNvPr id="35" name="TextBox 34"/>
          <p:cNvSpPr txBox="1"/>
          <p:nvPr/>
        </p:nvSpPr>
        <p:spPr>
          <a:xfrm>
            <a:off x="594360" y="3291840"/>
            <a:ext cx="3566160" cy="301752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Backbone: ResNeXt-50-32x4d (ImageNet pretrained)</a:t>
            </a:r>
          </a:p>
          <a:p>
            <a:pPr>
              <a:spcBef>
                <a:spcPts val="200"/>
              </a:spcBef>
              <a:spcAft>
                <a:spcPts val="300"/>
              </a:spcAft>
              <a:defRPr sz="1200">
                <a:solidFill>
                  <a:srgbClr val="333333"/>
                </a:solidFill>
                <a:latin typeface="Roboto Light"/>
              </a:defRPr>
            </a:pPr>
            <a:r>
              <a:rPr dirty="0"/>
              <a:t>• Attention: CBAM (Channel + Spatial)</a:t>
            </a:r>
          </a:p>
          <a:p>
            <a:pPr>
              <a:spcBef>
                <a:spcPts val="200"/>
              </a:spcBef>
              <a:spcAft>
                <a:spcPts val="300"/>
              </a:spcAft>
              <a:defRPr sz="1200">
                <a:solidFill>
                  <a:srgbClr val="333333"/>
                </a:solidFill>
                <a:latin typeface="Roboto Light"/>
              </a:defRPr>
            </a:pPr>
            <a:r>
              <a:rPr dirty="0"/>
              <a:t>• Temporal: 2-layer Bidirectional LSTM (512 hidden)</a:t>
            </a:r>
          </a:p>
          <a:p>
            <a:pPr>
              <a:spcBef>
                <a:spcPts val="200"/>
              </a:spcBef>
              <a:spcAft>
                <a:spcPts val="300"/>
              </a:spcAft>
              <a:defRPr sz="1200">
                <a:solidFill>
                  <a:srgbClr val="333333"/>
                </a:solidFill>
                <a:latin typeface="Roboto Light"/>
              </a:defRPr>
            </a:pPr>
            <a:r>
              <a:rPr dirty="0"/>
              <a:t>• Classifier: FC(1024→256→2) with Dropout</a:t>
            </a:r>
          </a:p>
          <a:p>
            <a:pPr>
              <a:spcBef>
                <a:spcPts val="200"/>
              </a:spcBef>
              <a:spcAft>
                <a:spcPts val="300"/>
              </a:spcAft>
              <a:defRPr sz="1200">
                <a:solidFill>
                  <a:srgbClr val="333333"/>
                </a:solidFill>
                <a:latin typeface="Roboto Light"/>
              </a:defRPr>
            </a:pPr>
            <a:r>
              <a:rPr dirty="0"/>
              <a:t>• Total Parameters: ~40.5 million</a:t>
            </a:r>
          </a:p>
          <a:p>
            <a:pPr>
              <a:spcBef>
                <a:spcPts val="200"/>
              </a:spcBef>
              <a:spcAft>
                <a:spcPts val="300"/>
              </a:spcAft>
              <a:defRPr sz="1200">
                <a:solidFill>
                  <a:srgbClr val="333333"/>
                </a:solidFill>
                <a:latin typeface="Roboto Light"/>
              </a:defRPr>
            </a:pPr>
            <a:r>
              <a:rPr dirty="0"/>
              <a:t>• Input Shape: (B, 16, 3, 224, 224)</a:t>
            </a:r>
          </a:p>
          <a:p>
            <a:pPr>
              <a:spcBef>
                <a:spcPts val="200"/>
              </a:spcBef>
              <a:spcAft>
                <a:spcPts val="300"/>
              </a:spcAft>
              <a:defRPr sz="1200">
                <a:solidFill>
                  <a:srgbClr val="333333"/>
                </a:solidFill>
                <a:latin typeface="Roboto Light"/>
              </a:defRPr>
            </a:pPr>
            <a:r>
              <a:rPr dirty="0"/>
              <a:t>• Output: P(REAL), P(FAKE)</a:t>
            </a:r>
          </a:p>
        </p:txBody>
      </p:sp>
      <p:sp>
        <p:nvSpPr>
          <p:cNvPr id="36" name="Rounded Rectangle 35"/>
          <p:cNvSpPr/>
          <p:nvPr/>
        </p:nvSpPr>
        <p:spPr>
          <a:xfrm>
            <a:off x="4754880" y="2999232"/>
            <a:ext cx="3703320" cy="2523744"/>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937760" y="3090672"/>
            <a:ext cx="3657600" cy="320040"/>
          </a:xfrm>
          <a:prstGeom prst="rect">
            <a:avLst/>
          </a:prstGeom>
          <a:noFill/>
        </p:spPr>
        <p:txBody>
          <a:bodyPr wrap="square">
            <a:spAutoFit/>
          </a:bodyPr>
          <a:lstStyle/>
          <a:p>
            <a:pPr algn="l">
              <a:defRPr sz="1400" b="1">
                <a:solidFill>
                  <a:srgbClr val="1B3A5C"/>
                </a:solidFill>
                <a:latin typeface="Poppins Light"/>
              </a:defRPr>
            </a:pPr>
            <a:r>
              <a:t>Dataset &amp; Training</a:t>
            </a:r>
          </a:p>
        </p:txBody>
      </p:sp>
      <p:sp>
        <p:nvSpPr>
          <p:cNvPr id="38" name="TextBox 37"/>
          <p:cNvSpPr txBox="1"/>
          <p:nvPr/>
        </p:nvSpPr>
        <p:spPr>
          <a:xfrm>
            <a:off x="4937760" y="3410712"/>
            <a:ext cx="3566160" cy="1769715"/>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a:t>
            </a:r>
            <a:r>
              <a:rPr lang="en-IN" dirty="0"/>
              <a:t> </a:t>
            </a:r>
            <a:r>
              <a:rPr dirty="0"/>
              <a:t>Dataset: Celeb-DF v2</a:t>
            </a:r>
          </a:p>
          <a:p>
            <a:pPr>
              <a:spcBef>
                <a:spcPts val="200"/>
              </a:spcBef>
              <a:spcAft>
                <a:spcPts val="300"/>
              </a:spcAft>
              <a:defRPr sz="1200">
                <a:solidFill>
                  <a:srgbClr val="333333"/>
                </a:solidFill>
                <a:latin typeface="Roboto Light"/>
              </a:defRPr>
            </a:pPr>
            <a:r>
              <a:rPr dirty="0"/>
              <a:t>• Celeb-real + YouTube-real (authentic videos)</a:t>
            </a:r>
          </a:p>
          <a:p>
            <a:pPr>
              <a:spcBef>
                <a:spcPts val="200"/>
              </a:spcBef>
              <a:spcAft>
                <a:spcPts val="300"/>
              </a:spcAft>
              <a:defRPr sz="1200">
                <a:solidFill>
                  <a:srgbClr val="333333"/>
                </a:solidFill>
                <a:latin typeface="Roboto Light"/>
              </a:defRPr>
            </a:pPr>
            <a:r>
              <a:rPr dirty="0"/>
              <a:t>• Celeb-synthesis (deepfake videos)</a:t>
            </a:r>
          </a:p>
          <a:p>
            <a:pPr>
              <a:spcBef>
                <a:spcPts val="200"/>
              </a:spcBef>
              <a:spcAft>
                <a:spcPts val="300"/>
              </a:spcAft>
              <a:defRPr sz="1200">
                <a:solidFill>
                  <a:srgbClr val="333333"/>
                </a:solidFill>
                <a:latin typeface="Roboto Light"/>
              </a:defRPr>
            </a:pPr>
            <a:r>
              <a:rPr dirty="0"/>
              <a:t>• Split: 80% train / 10% </a:t>
            </a:r>
            <a:r>
              <a:rPr dirty="0" err="1"/>
              <a:t>val</a:t>
            </a:r>
            <a:r>
              <a:rPr dirty="0"/>
              <a:t> / 10% test</a:t>
            </a:r>
          </a:p>
          <a:p>
            <a:pPr>
              <a:spcBef>
                <a:spcPts val="200"/>
              </a:spcBef>
              <a:spcAft>
                <a:spcPts val="300"/>
              </a:spcAft>
              <a:defRPr sz="1200">
                <a:solidFill>
                  <a:srgbClr val="333333"/>
                </a:solidFill>
                <a:latin typeface="Roboto Light"/>
              </a:defRPr>
            </a:pPr>
            <a:r>
              <a:rPr dirty="0"/>
              <a:t>• Training videos: 962 | Validation: 119 | Test: 122</a:t>
            </a:r>
          </a:p>
          <a:p>
            <a:pPr>
              <a:spcBef>
                <a:spcPts val="200"/>
              </a:spcBef>
              <a:spcAft>
                <a:spcPts val="300"/>
              </a:spcAft>
              <a:defRPr sz="1200">
                <a:solidFill>
                  <a:srgbClr val="333333"/>
                </a:solidFill>
                <a:latin typeface="Roboto Light"/>
              </a:defRPr>
            </a:pPr>
            <a:r>
              <a:rPr dirty="0"/>
              <a:t>• Two-phase training strategy</a:t>
            </a:r>
          </a:p>
          <a:p>
            <a:pPr>
              <a:spcBef>
                <a:spcPts val="200"/>
              </a:spcBef>
              <a:spcAft>
                <a:spcPts val="300"/>
              </a:spcAft>
              <a:defRPr sz="1200">
                <a:solidFill>
                  <a:srgbClr val="333333"/>
                </a:solidFill>
                <a:latin typeface="Roboto Light"/>
              </a:defRPr>
            </a:pPr>
            <a:r>
              <a:rPr dirty="0"/>
              <a:t>• Mixed precision (AMP) on CUDA GPU</a:t>
            </a:r>
          </a:p>
        </p:txBody>
      </p:sp>
      <p:sp>
        <p:nvSpPr>
          <p:cNvPr id="39" name="TextBox 38"/>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5/22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System Design &amp; Architecture</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Three-Stage Neural Network</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5271" y="1564081"/>
            <a:ext cx="3429000" cy="320040"/>
          </a:xfrm>
          <a:prstGeom prst="rect">
            <a:avLst/>
          </a:prstGeom>
          <a:noFill/>
        </p:spPr>
        <p:txBody>
          <a:bodyPr wrap="square">
            <a:spAutoFit/>
          </a:bodyPr>
          <a:lstStyle/>
          <a:p>
            <a:pPr algn="l">
              <a:defRPr sz="1500" b="1">
                <a:solidFill>
                  <a:srgbClr val="1B3A5C"/>
                </a:solidFill>
                <a:latin typeface="Poppins Light"/>
              </a:defRPr>
            </a:pPr>
            <a:r>
              <a:rPr dirty="0"/>
              <a:t>Stage 1: Spatial Feature Extraction</a:t>
            </a:r>
          </a:p>
        </p:txBody>
      </p:sp>
      <p:sp>
        <p:nvSpPr>
          <p:cNvPr id="7" name="TextBox 6"/>
          <p:cNvSpPr txBox="1"/>
          <p:nvPr/>
        </p:nvSpPr>
        <p:spPr>
          <a:xfrm>
            <a:off x="457200" y="1868479"/>
            <a:ext cx="3840480" cy="182880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t>• ResNeXt-50-32x4d backbone (ImageNet pretrained)</a:t>
            </a:r>
          </a:p>
          <a:p>
            <a:pPr>
              <a:spcBef>
                <a:spcPts val="200"/>
              </a:spcBef>
              <a:spcAft>
                <a:spcPts val="600"/>
              </a:spcAft>
              <a:defRPr sz="1200">
                <a:solidFill>
                  <a:srgbClr val="333333"/>
                </a:solidFill>
                <a:latin typeface="Roboto Light"/>
              </a:defRPr>
            </a:pPr>
            <a:r>
              <a:t>• Grouped convolutions: 32 groups × 4 channels</a:t>
            </a:r>
          </a:p>
          <a:p>
            <a:pPr>
              <a:spcBef>
                <a:spcPts val="200"/>
              </a:spcBef>
              <a:spcAft>
                <a:spcPts val="600"/>
              </a:spcAft>
              <a:defRPr sz="1200">
                <a:solidFill>
                  <a:srgbClr val="333333"/>
                </a:solidFill>
                <a:latin typeface="Roboto Light"/>
              </a:defRPr>
            </a:pPr>
            <a:r>
              <a:t>• Extracts 2048-dim feature vector per frame</a:t>
            </a:r>
          </a:p>
          <a:p>
            <a:pPr>
              <a:spcBef>
                <a:spcPts val="200"/>
              </a:spcBef>
              <a:spcAft>
                <a:spcPts val="600"/>
              </a:spcAft>
              <a:defRPr sz="1200">
                <a:solidFill>
                  <a:srgbClr val="333333"/>
                </a:solidFill>
                <a:latin typeface="Roboto Light"/>
              </a:defRPr>
            </a:pPr>
            <a:r>
              <a:t>• CBAM refines features via attention</a:t>
            </a:r>
          </a:p>
          <a:p>
            <a:pPr>
              <a:spcBef>
                <a:spcPts val="200"/>
              </a:spcBef>
              <a:spcAft>
                <a:spcPts val="600"/>
              </a:spcAft>
              <a:defRPr sz="1200">
                <a:solidFill>
                  <a:srgbClr val="333333"/>
                </a:solidFill>
                <a:latin typeface="Roboto Light"/>
              </a:defRPr>
            </a:pPr>
            <a:r>
              <a:t>• Channel Attention: which features matter</a:t>
            </a:r>
          </a:p>
          <a:p>
            <a:pPr>
              <a:spcBef>
                <a:spcPts val="200"/>
              </a:spcBef>
              <a:spcAft>
                <a:spcPts val="600"/>
              </a:spcAft>
              <a:defRPr sz="1200">
                <a:solidFill>
                  <a:srgbClr val="333333"/>
                </a:solidFill>
                <a:latin typeface="Roboto Light"/>
              </a:defRPr>
            </a:pPr>
            <a:r>
              <a:t>• Spatial Attention: where to focus (7×7 conv)</a:t>
            </a:r>
          </a:p>
          <a:p>
            <a:pPr>
              <a:spcBef>
                <a:spcPts val="200"/>
              </a:spcBef>
              <a:spcAft>
                <a:spcPts val="600"/>
              </a:spcAft>
              <a:defRPr sz="1200">
                <a:solidFill>
                  <a:srgbClr val="333333"/>
                </a:solidFill>
                <a:latin typeface="Roboto Light"/>
              </a:defRPr>
            </a:pPr>
            <a:r>
              <a:t>• Output: attention-refined 2048-dim features</a:t>
            </a:r>
          </a:p>
        </p:txBody>
      </p:sp>
      <p:sp>
        <p:nvSpPr>
          <p:cNvPr id="8" name="TextBox 7"/>
          <p:cNvSpPr txBox="1"/>
          <p:nvPr/>
        </p:nvSpPr>
        <p:spPr>
          <a:xfrm>
            <a:off x="4572000" y="1565046"/>
            <a:ext cx="4114800" cy="320040"/>
          </a:xfrm>
          <a:prstGeom prst="rect">
            <a:avLst/>
          </a:prstGeom>
          <a:noFill/>
        </p:spPr>
        <p:txBody>
          <a:bodyPr wrap="square">
            <a:spAutoFit/>
          </a:bodyPr>
          <a:lstStyle/>
          <a:p>
            <a:pPr algn="l">
              <a:defRPr sz="1500" b="1">
                <a:solidFill>
                  <a:srgbClr val="1B3A5C"/>
                </a:solidFill>
                <a:latin typeface="Poppins Light"/>
              </a:defRPr>
            </a:pPr>
            <a:r>
              <a:rPr dirty="0"/>
              <a:t>Stage 2: Temporal Modeling</a:t>
            </a:r>
          </a:p>
        </p:txBody>
      </p:sp>
      <p:sp>
        <p:nvSpPr>
          <p:cNvPr id="9" name="TextBox 8"/>
          <p:cNvSpPr txBox="1"/>
          <p:nvPr/>
        </p:nvSpPr>
        <p:spPr>
          <a:xfrm>
            <a:off x="4638362" y="1848510"/>
            <a:ext cx="4114800" cy="164592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t>• 2-layer Bidirectional LSTM</a:t>
            </a:r>
          </a:p>
          <a:p>
            <a:pPr>
              <a:spcBef>
                <a:spcPts val="200"/>
              </a:spcBef>
              <a:spcAft>
                <a:spcPts val="600"/>
              </a:spcAft>
              <a:defRPr sz="1200">
                <a:solidFill>
                  <a:srgbClr val="333333"/>
                </a:solidFill>
                <a:latin typeface="Roboto Light"/>
              </a:defRPr>
            </a:pPr>
            <a:r>
              <a:t>• Hidden dim: 512 per direction (1024 total)</a:t>
            </a:r>
          </a:p>
          <a:p>
            <a:pPr>
              <a:spcBef>
                <a:spcPts val="200"/>
              </a:spcBef>
              <a:spcAft>
                <a:spcPts val="600"/>
              </a:spcAft>
              <a:defRPr sz="1200">
                <a:solidFill>
                  <a:srgbClr val="333333"/>
                </a:solidFill>
                <a:latin typeface="Roboto Light"/>
              </a:defRPr>
            </a:pPr>
            <a:r>
              <a:t>• Dropout: 0.3 between layers</a:t>
            </a:r>
          </a:p>
          <a:p>
            <a:pPr>
              <a:spcBef>
                <a:spcPts val="200"/>
              </a:spcBef>
              <a:spcAft>
                <a:spcPts val="600"/>
              </a:spcAft>
              <a:defRPr sz="1200">
                <a:solidFill>
                  <a:srgbClr val="333333"/>
                </a:solidFill>
                <a:latin typeface="Roboto Light"/>
              </a:defRPr>
            </a:pPr>
            <a:r>
              <a:t>• Processes frame sequence forward + backward</a:t>
            </a:r>
          </a:p>
          <a:p>
            <a:pPr>
              <a:spcBef>
                <a:spcPts val="200"/>
              </a:spcBef>
              <a:spcAft>
                <a:spcPts val="600"/>
              </a:spcAft>
              <a:defRPr sz="1200">
                <a:solidFill>
                  <a:srgbClr val="333333"/>
                </a:solidFill>
                <a:latin typeface="Roboto Light"/>
              </a:defRPr>
            </a:pPr>
            <a:r>
              <a:t>• LayerNorm for training stability</a:t>
            </a:r>
          </a:p>
          <a:p>
            <a:pPr>
              <a:spcBef>
                <a:spcPts val="200"/>
              </a:spcBef>
              <a:spcAft>
                <a:spcPts val="600"/>
              </a:spcAft>
              <a:defRPr sz="1200">
                <a:solidFill>
                  <a:srgbClr val="333333"/>
                </a:solidFill>
                <a:latin typeface="Roboto Light"/>
              </a:defRPr>
            </a:pPr>
            <a:r>
              <a:t>• Captures: flickering, blink anomalies, motion jitter</a:t>
            </a:r>
          </a:p>
        </p:txBody>
      </p:sp>
      <p:sp>
        <p:nvSpPr>
          <p:cNvPr id="10" name="TextBox 9"/>
          <p:cNvSpPr txBox="1"/>
          <p:nvPr/>
        </p:nvSpPr>
        <p:spPr>
          <a:xfrm>
            <a:off x="4634504" y="3677310"/>
            <a:ext cx="4114800" cy="320040"/>
          </a:xfrm>
          <a:prstGeom prst="rect">
            <a:avLst/>
          </a:prstGeom>
          <a:noFill/>
        </p:spPr>
        <p:txBody>
          <a:bodyPr wrap="square">
            <a:spAutoFit/>
          </a:bodyPr>
          <a:lstStyle/>
          <a:p>
            <a:pPr algn="l">
              <a:defRPr sz="1500" b="1">
                <a:solidFill>
                  <a:srgbClr val="1B3A5C"/>
                </a:solidFill>
                <a:latin typeface="Poppins Light"/>
              </a:defRPr>
            </a:pPr>
            <a:r>
              <a:rPr dirty="0"/>
              <a:t>Stage 3: Classification Head</a:t>
            </a:r>
          </a:p>
        </p:txBody>
      </p:sp>
      <p:sp>
        <p:nvSpPr>
          <p:cNvPr id="11" name="TextBox 10"/>
          <p:cNvSpPr txBox="1"/>
          <p:nvPr/>
        </p:nvSpPr>
        <p:spPr>
          <a:xfrm>
            <a:off x="4638362" y="4043070"/>
            <a:ext cx="4114800" cy="137160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t>• Dropout(0.6) → Linear(1024→256) → ReLU</a:t>
            </a:r>
          </a:p>
          <a:p>
            <a:pPr>
              <a:spcBef>
                <a:spcPts val="200"/>
              </a:spcBef>
              <a:spcAft>
                <a:spcPts val="600"/>
              </a:spcAft>
              <a:defRPr sz="1200">
                <a:solidFill>
                  <a:srgbClr val="333333"/>
                </a:solidFill>
                <a:latin typeface="Roboto Light"/>
              </a:defRPr>
            </a:pPr>
            <a:r>
              <a:t>• Dropout(0.3) → Linear(256→2)</a:t>
            </a:r>
          </a:p>
          <a:p>
            <a:pPr>
              <a:spcBef>
                <a:spcPts val="200"/>
              </a:spcBef>
              <a:spcAft>
                <a:spcPts val="600"/>
              </a:spcAft>
              <a:defRPr sz="1200">
                <a:solidFill>
                  <a:srgbClr val="333333"/>
                </a:solidFill>
                <a:latin typeface="Roboto Light"/>
              </a:defRPr>
            </a:pPr>
            <a:r>
              <a:t>• Softmax → P(REAL), P(FAKE)</a:t>
            </a:r>
          </a:p>
          <a:p>
            <a:pPr>
              <a:spcBef>
                <a:spcPts val="200"/>
              </a:spcBef>
              <a:spcAft>
                <a:spcPts val="600"/>
              </a:spcAft>
              <a:defRPr sz="1200">
                <a:solidFill>
                  <a:srgbClr val="333333"/>
                </a:solidFill>
                <a:latin typeface="Roboto Light"/>
              </a:defRPr>
            </a:pPr>
            <a:r>
              <a:t>• Decision threshold: 0.3 (sensitivity-first)</a:t>
            </a:r>
          </a:p>
        </p:txBody>
      </p:sp>
      <p:sp>
        <p:nvSpPr>
          <p:cNvPr id="12" name="Rounded Rectangle 11"/>
          <p:cNvSpPr/>
          <p:nvPr/>
        </p:nvSpPr>
        <p:spPr>
          <a:xfrm>
            <a:off x="387532" y="3874118"/>
            <a:ext cx="3611880" cy="2133600"/>
          </a:xfrm>
          <a:prstGeom prst="roundRect">
            <a:avLst/>
          </a:prstGeom>
          <a:solidFill>
            <a:srgbClr val="F8F9FA"/>
          </a:solidFill>
          <a:ln w="127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59526" y="3920642"/>
            <a:ext cx="3267891" cy="292388"/>
          </a:xfrm>
          <a:prstGeom prst="rect">
            <a:avLst/>
          </a:prstGeom>
          <a:noFill/>
        </p:spPr>
        <p:txBody>
          <a:bodyPr wrap="square">
            <a:spAutoFit/>
          </a:bodyPr>
          <a:lstStyle/>
          <a:p>
            <a:pPr algn="l">
              <a:defRPr sz="1300" b="1">
                <a:solidFill>
                  <a:srgbClr val="1B3A5C"/>
                </a:solidFill>
                <a:latin typeface="Poppins Light"/>
              </a:defRPr>
            </a:pPr>
            <a:r>
              <a:rPr dirty="0"/>
              <a:t>Data Flow Dimensions</a:t>
            </a:r>
          </a:p>
        </p:txBody>
      </p:sp>
      <p:sp>
        <p:nvSpPr>
          <p:cNvPr id="14" name="TextBox 13"/>
          <p:cNvSpPr txBox="1"/>
          <p:nvPr/>
        </p:nvSpPr>
        <p:spPr>
          <a:xfrm>
            <a:off x="548640" y="4209398"/>
            <a:ext cx="3267891" cy="1313180"/>
          </a:xfrm>
          <a:prstGeom prst="rect">
            <a:avLst/>
          </a:prstGeom>
          <a:noFill/>
        </p:spPr>
        <p:txBody>
          <a:bodyPr wrap="square">
            <a:spAutoFit/>
          </a:bodyPr>
          <a:lstStyle/>
          <a:p>
            <a:pPr>
              <a:spcAft>
                <a:spcPts val="400"/>
              </a:spcAft>
              <a:defRPr sz="1100">
                <a:solidFill>
                  <a:srgbClr val="333333"/>
                </a:solidFill>
                <a:latin typeface="Consolas"/>
              </a:defRPr>
            </a:pPr>
            <a:r>
              <a:t>Input:  (B, 16, 3, 224, 224)</a:t>
            </a:r>
          </a:p>
          <a:p>
            <a:pPr>
              <a:spcAft>
                <a:spcPts val="400"/>
              </a:spcAft>
              <a:defRPr sz="1100">
                <a:solidFill>
                  <a:srgbClr val="333333"/>
                </a:solidFill>
                <a:latin typeface="Consolas"/>
              </a:defRPr>
            </a:pPr>
            <a:r>
              <a:t>Stage 1: (B×16, 3, 224, 224) → (B×16, 2048)</a:t>
            </a:r>
          </a:p>
          <a:p>
            <a:pPr>
              <a:spcAft>
                <a:spcPts val="400"/>
              </a:spcAft>
              <a:defRPr sz="1100">
                <a:solidFill>
                  <a:srgbClr val="333333"/>
                </a:solidFill>
                <a:latin typeface="Consolas"/>
              </a:defRPr>
            </a:pPr>
            <a:r>
              <a:t>Reshape: (B, 16, 2048)</a:t>
            </a:r>
          </a:p>
          <a:p>
            <a:pPr>
              <a:spcAft>
                <a:spcPts val="400"/>
              </a:spcAft>
              <a:defRPr sz="1100">
                <a:solidFill>
                  <a:srgbClr val="333333"/>
                </a:solidFill>
                <a:latin typeface="Consolas"/>
              </a:defRPr>
            </a:pPr>
            <a:r>
              <a:t>Stage 2: (B, 16, 2048) → (B, 1024)</a:t>
            </a:r>
          </a:p>
          <a:p>
            <a:pPr>
              <a:spcAft>
                <a:spcPts val="400"/>
              </a:spcAft>
              <a:defRPr sz="1100">
                <a:solidFill>
                  <a:srgbClr val="333333"/>
                </a:solidFill>
                <a:latin typeface="Consolas"/>
              </a:defRPr>
            </a:pPr>
            <a:r>
              <a:t>Stage 3: (B, 1024) → (B, 2) → Softmax</a:t>
            </a:r>
          </a:p>
        </p:txBody>
      </p:sp>
      <p:sp>
        <p:nvSpPr>
          <p:cNvPr id="15" name="TextBox 14"/>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6/22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18707-E3AB-1457-E935-E5CC5C3B1E5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56C3143-6B2E-148C-6F26-ED1307EB8428}"/>
              </a:ext>
            </a:extLst>
          </p:cNvPr>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DD6B3C5-4F25-5C9E-28C8-F298EB134F65}"/>
              </a:ext>
            </a:extLst>
          </p:cNvPr>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System Design &amp; Architecture</a:t>
            </a:r>
          </a:p>
        </p:txBody>
      </p:sp>
      <p:sp>
        <p:nvSpPr>
          <p:cNvPr id="4" name="TextBox 3">
            <a:extLst>
              <a:ext uri="{FF2B5EF4-FFF2-40B4-BE49-F238E27FC236}">
                <a16:creationId xmlns:a16="http://schemas.microsoft.com/office/drawing/2014/main" id="{43B5E61C-0F2B-B0D4-E183-F8BCF6EBDEB3}"/>
              </a:ext>
            </a:extLst>
          </p:cNvPr>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Three-Stage Neural Network</a:t>
            </a:r>
          </a:p>
        </p:txBody>
      </p:sp>
      <p:sp>
        <p:nvSpPr>
          <p:cNvPr id="5" name="Rectangle 4">
            <a:extLst>
              <a:ext uri="{FF2B5EF4-FFF2-40B4-BE49-F238E27FC236}">
                <a16:creationId xmlns:a16="http://schemas.microsoft.com/office/drawing/2014/main" id="{3F1B4532-A041-789B-F432-E4C02B7E0122}"/>
              </a:ext>
            </a:extLst>
          </p:cNvPr>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3425C7BD-5893-8E1E-F21A-76B5C62A022C}"/>
              </a:ext>
            </a:extLst>
          </p:cNvPr>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6/22</a:t>
            </a:r>
          </a:p>
        </p:txBody>
      </p:sp>
      <p:pic>
        <p:nvPicPr>
          <p:cNvPr id="17" name="Content Placeholder 17">
            <a:extLst>
              <a:ext uri="{FF2B5EF4-FFF2-40B4-BE49-F238E27FC236}">
                <a16:creationId xmlns:a16="http://schemas.microsoft.com/office/drawing/2014/main" id="{31B931A2-7394-2A87-6609-AB999A5218AE}"/>
              </a:ext>
            </a:extLst>
          </p:cNvPr>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bwMode="auto">
          <a:xfrm>
            <a:off x="2971800" y="1528572"/>
            <a:ext cx="27432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6439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System Design &amp; Architecture</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CBAM Attention Module</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524000"/>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597152"/>
            <a:ext cx="3749040" cy="320040"/>
          </a:xfrm>
          <a:prstGeom prst="rect">
            <a:avLst/>
          </a:prstGeom>
          <a:noFill/>
        </p:spPr>
        <p:txBody>
          <a:bodyPr wrap="square">
            <a:spAutoFit/>
          </a:bodyPr>
          <a:lstStyle/>
          <a:p>
            <a:pPr algn="l">
              <a:defRPr sz="1400" b="1">
                <a:solidFill>
                  <a:srgbClr val="6C5CE7"/>
                </a:solidFill>
                <a:latin typeface="Poppins Light"/>
              </a:defRPr>
            </a:pPr>
            <a:r>
              <a:rPr dirty="0"/>
              <a:t>Channel Attention — "Which features matter?"</a:t>
            </a:r>
          </a:p>
        </p:txBody>
      </p:sp>
      <p:sp>
        <p:nvSpPr>
          <p:cNvPr id="8" name="TextBox 7"/>
          <p:cNvSpPr txBox="1"/>
          <p:nvPr/>
        </p:nvSpPr>
        <p:spPr>
          <a:xfrm>
            <a:off x="502920" y="2133600"/>
            <a:ext cx="3611880" cy="1769715"/>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Input: feature maps (B, 2048, H, W)</a:t>
            </a:r>
          </a:p>
          <a:p>
            <a:pPr>
              <a:spcBef>
                <a:spcPts val="200"/>
              </a:spcBef>
              <a:spcAft>
                <a:spcPts val="300"/>
              </a:spcAft>
              <a:defRPr sz="1200">
                <a:solidFill>
                  <a:srgbClr val="333333"/>
                </a:solidFill>
                <a:latin typeface="Roboto Light"/>
              </a:defRPr>
            </a:pPr>
            <a:r>
              <a:rPr dirty="0"/>
              <a:t>• Global Avg Pool + Global Max Pool → (B, 2048)</a:t>
            </a:r>
          </a:p>
          <a:p>
            <a:pPr>
              <a:spcBef>
                <a:spcPts val="200"/>
              </a:spcBef>
              <a:spcAft>
                <a:spcPts val="300"/>
              </a:spcAft>
              <a:defRPr sz="1200">
                <a:solidFill>
                  <a:srgbClr val="333333"/>
                </a:solidFill>
                <a:latin typeface="Roboto Light"/>
              </a:defRPr>
            </a:pPr>
            <a:r>
              <a:rPr dirty="0"/>
              <a:t>• Shared MLP: 2048 → 128 → 2048 (reduction=16)</a:t>
            </a:r>
          </a:p>
          <a:p>
            <a:pPr>
              <a:spcBef>
                <a:spcPts val="200"/>
              </a:spcBef>
              <a:spcAft>
                <a:spcPts val="300"/>
              </a:spcAft>
              <a:defRPr sz="1200">
                <a:solidFill>
                  <a:srgbClr val="333333"/>
                </a:solidFill>
                <a:latin typeface="Roboto Light"/>
              </a:defRPr>
            </a:pPr>
            <a:r>
              <a:rPr dirty="0"/>
              <a:t>• Sigmoid activation → channel weights</a:t>
            </a:r>
          </a:p>
          <a:p>
            <a:pPr>
              <a:spcBef>
                <a:spcPts val="200"/>
              </a:spcBef>
              <a:spcAft>
                <a:spcPts val="300"/>
              </a:spcAft>
              <a:defRPr sz="1200">
                <a:solidFill>
                  <a:srgbClr val="333333"/>
                </a:solidFill>
                <a:latin typeface="Roboto Light"/>
              </a:defRPr>
            </a:pPr>
            <a:r>
              <a:rPr dirty="0"/>
              <a:t>• Element-wise multiply with input features</a:t>
            </a:r>
          </a:p>
          <a:p>
            <a:pPr>
              <a:spcBef>
                <a:spcPts val="200"/>
              </a:spcBef>
              <a:spcAft>
                <a:spcPts val="300"/>
              </a:spcAft>
              <a:defRPr sz="1200">
                <a:solidFill>
                  <a:srgbClr val="333333"/>
                </a:solidFill>
                <a:latin typeface="Roboto Light"/>
              </a:defRPr>
            </a:pPr>
            <a:r>
              <a:rPr dirty="0"/>
              <a:t>• Learns to emphasize texture/artifact channels</a:t>
            </a:r>
          </a:p>
          <a:p>
            <a:pPr>
              <a:spcBef>
                <a:spcPts val="200"/>
              </a:spcBef>
              <a:spcAft>
                <a:spcPts val="300"/>
              </a:spcAft>
              <a:defRPr sz="1200">
                <a:solidFill>
                  <a:srgbClr val="333333"/>
                </a:solidFill>
                <a:latin typeface="Roboto Light"/>
              </a:defRPr>
            </a:pPr>
            <a:r>
              <a:rPr dirty="0"/>
              <a:t>• </a:t>
            </a:r>
            <a:r>
              <a:rPr dirty="0" err="1"/>
              <a:t>Downweights</a:t>
            </a:r>
            <a:r>
              <a:rPr dirty="0"/>
              <a:t> general appearance channels</a:t>
            </a:r>
          </a:p>
        </p:txBody>
      </p:sp>
      <p:sp>
        <p:nvSpPr>
          <p:cNvPr id="9" name="Rounded Rectangle 8"/>
          <p:cNvSpPr/>
          <p:nvPr/>
        </p:nvSpPr>
        <p:spPr>
          <a:xfrm>
            <a:off x="4754882" y="1508760"/>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554480"/>
            <a:ext cx="3749040" cy="320040"/>
          </a:xfrm>
          <a:prstGeom prst="rect">
            <a:avLst/>
          </a:prstGeom>
          <a:noFill/>
        </p:spPr>
        <p:txBody>
          <a:bodyPr wrap="square">
            <a:spAutoFit/>
          </a:bodyPr>
          <a:lstStyle/>
          <a:p>
            <a:pPr algn="l">
              <a:defRPr sz="1400" b="1">
                <a:solidFill>
                  <a:srgbClr val="6C5CE7"/>
                </a:solidFill>
                <a:latin typeface="Poppins Light"/>
              </a:defRPr>
            </a:pPr>
            <a:r>
              <a:t>Spatial Attention — "Where to focus?"</a:t>
            </a:r>
          </a:p>
        </p:txBody>
      </p:sp>
      <p:sp>
        <p:nvSpPr>
          <p:cNvPr id="11" name="TextBox 10"/>
          <p:cNvSpPr txBox="1"/>
          <p:nvPr/>
        </p:nvSpPr>
        <p:spPr>
          <a:xfrm>
            <a:off x="4892040" y="1883915"/>
            <a:ext cx="3749040" cy="210312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Input: channel-refined features (B, 2048, H, W)</a:t>
            </a:r>
          </a:p>
          <a:p>
            <a:pPr>
              <a:spcBef>
                <a:spcPts val="200"/>
              </a:spcBef>
              <a:spcAft>
                <a:spcPts val="300"/>
              </a:spcAft>
              <a:defRPr sz="1200">
                <a:solidFill>
                  <a:srgbClr val="333333"/>
                </a:solidFill>
                <a:latin typeface="Roboto Light"/>
              </a:defRPr>
            </a:pPr>
            <a:r>
              <a:rPr dirty="0"/>
              <a:t>• Channel-wise Avg + Max pool → (B, 2, H, W)</a:t>
            </a:r>
          </a:p>
          <a:p>
            <a:pPr>
              <a:spcBef>
                <a:spcPts val="200"/>
              </a:spcBef>
              <a:spcAft>
                <a:spcPts val="300"/>
              </a:spcAft>
              <a:defRPr sz="1200">
                <a:solidFill>
                  <a:srgbClr val="333333"/>
                </a:solidFill>
                <a:latin typeface="Roboto Light"/>
              </a:defRPr>
            </a:pPr>
            <a:r>
              <a:rPr dirty="0"/>
              <a:t>• 7×7 Convolution → (B, 1, H, W)</a:t>
            </a:r>
          </a:p>
          <a:p>
            <a:pPr>
              <a:spcBef>
                <a:spcPts val="200"/>
              </a:spcBef>
              <a:spcAft>
                <a:spcPts val="300"/>
              </a:spcAft>
              <a:defRPr sz="1200">
                <a:solidFill>
                  <a:srgbClr val="333333"/>
                </a:solidFill>
                <a:latin typeface="Roboto Light"/>
              </a:defRPr>
            </a:pPr>
            <a:r>
              <a:rPr dirty="0"/>
              <a:t>• Sigmoid → spatial attention heatmap</a:t>
            </a:r>
          </a:p>
          <a:p>
            <a:pPr>
              <a:spcBef>
                <a:spcPts val="200"/>
              </a:spcBef>
              <a:spcAft>
                <a:spcPts val="300"/>
              </a:spcAft>
              <a:defRPr sz="1200">
                <a:solidFill>
                  <a:srgbClr val="333333"/>
                </a:solidFill>
                <a:latin typeface="Roboto Light"/>
              </a:defRPr>
            </a:pPr>
            <a:r>
              <a:rPr dirty="0"/>
              <a:t>• Multiply with input → refined features</a:t>
            </a:r>
          </a:p>
          <a:p>
            <a:pPr>
              <a:spcBef>
                <a:spcPts val="200"/>
              </a:spcBef>
              <a:spcAft>
                <a:spcPts val="300"/>
              </a:spcAft>
              <a:defRPr sz="1200">
                <a:solidFill>
                  <a:srgbClr val="333333"/>
                </a:solidFill>
                <a:latin typeface="Roboto Light"/>
              </a:defRPr>
            </a:pPr>
            <a:r>
              <a:rPr dirty="0"/>
              <a:t>• High attention: eyes, mouth, jawline, boundaries</a:t>
            </a:r>
          </a:p>
          <a:p>
            <a:pPr>
              <a:spcBef>
                <a:spcPts val="200"/>
              </a:spcBef>
              <a:spcAft>
                <a:spcPts val="300"/>
              </a:spcAft>
              <a:defRPr sz="1200">
                <a:solidFill>
                  <a:srgbClr val="333333"/>
                </a:solidFill>
                <a:latin typeface="Roboto Light"/>
              </a:defRPr>
            </a:pPr>
            <a:r>
              <a:rPr dirty="0"/>
              <a:t>• Low attention: background, hair regions</a:t>
            </a:r>
          </a:p>
        </p:txBody>
      </p:sp>
      <p:sp>
        <p:nvSpPr>
          <p:cNvPr id="12" name="TextBox 11"/>
          <p:cNvSpPr txBox="1"/>
          <p:nvPr/>
        </p:nvSpPr>
        <p:spPr>
          <a:xfrm>
            <a:off x="307115" y="4248686"/>
            <a:ext cx="8229600" cy="338554"/>
          </a:xfrm>
          <a:prstGeom prst="rect">
            <a:avLst/>
          </a:prstGeom>
          <a:noFill/>
        </p:spPr>
        <p:txBody>
          <a:bodyPr wrap="square">
            <a:spAutoFit/>
          </a:bodyPr>
          <a:lstStyle/>
          <a:p>
            <a:pPr algn="l">
              <a:defRPr sz="1600" b="1">
                <a:solidFill>
                  <a:srgbClr val="1B3A5C"/>
                </a:solidFill>
                <a:latin typeface="Poppins Light"/>
              </a:defRPr>
            </a:pPr>
            <a:r>
              <a:rPr u="sng" dirty="0"/>
              <a:t>Forensic Interpretability &amp; Benefits</a:t>
            </a:r>
            <a:r>
              <a:rPr lang="en-IN" u="sng" dirty="0"/>
              <a:t> :</a:t>
            </a:r>
            <a:endParaRPr u="sng" dirty="0"/>
          </a:p>
        </p:txBody>
      </p:sp>
      <p:sp>
        <p:nvSpPr>
          <p:cNvPr id="13" name="TextBox 12"/>
          <p:cNvSpPr txBox="1"/>
          <p:nvPr/>
        </p:nvSpPr>
        <p:spPr>
          <a:xfrm>
            <a:off x="457200" y="4572000"/>
            <a:ext cx="8229600" cy="1600438"/>
          </a:xfrm>
          <a:prstGeom prst="rect">
            <a:avLst/>
          </a:prstGeom>
          <a:noFill/>
        </p:spPr>
        <p:txBody>
          <a:bodyPr wrap="square">
            <a:spAutoFit/>
          </a:bodyPr>
          <a:lstStyle/>
          <a:p>
            <a:pPr>
              <a:spcBef>
                <a:spcPts val="200"/>
              </a:spcBef>
              <a:spcAft>
                <a:spcPts val="600"/>
              </a:spcAft>
              <a:defRPr sz="1300">
                <a:solidFill>
                  <a:srgbClr val="333333"/>
                </a:solidFill>
                <a:latin typeface="Roboto Light"/>
              </a:defRPr>
            </a:pPr>
            <a:r>
              <a:rPr dirty="0"/>
              <a:t>• Attention maps are visualizable — provides explainability for forensic experts on which facial regions drove the prediction</a:t>
            </a:r>
            <a:r>
              <a:rPr lang="en-IN" dirty="0"/>
              <a:t>.</a:t>
            </a:r>
            <a:endParaRPr dirty="0"/>
          </a:p>
          <a:p>
            <a:pPr>
              <a:spcBef>
                <a:spcPts val="200"/>
              </a:spcBef>
              <a:spcAft>
                <a:spcPts val="600"/>
              </a:spcAft>
              <a:defRPr sz="1300">
                <a:solidFill>
                  <a:srgbClr val="333333"/>
                </a:solidFill>
                <a:latin typeface="Roboto Light"/>
              </a:defRPr>
            </a:pPr>
            <a:r>
              <a:rPr dirty="0"/>
              <a:t>• Sequential application: Channel → Spatial ensures both feature-level and location-level focus</a:t>
            </a:r>
            <a:r>
              <a:rPr lang="en-IN" dirty="0"/>
              <a:t>.</a:t>
            </a:r>
            <a:endParaRPr dirty="0"/>
          </a:p>
          <a:p>
            <a:pPr>
              <a:spcBef>
                <a:spcPts val="200"/>
              </a:spcBef>
              <a:spcAft>
                <a:spcPts val="600"/>
              </a:spcAft>
              <a:defRPr sz="1300">
                <a:solidFill>
                  <a:srgbClr val="333333"/>
                </a:solidFill>
                <a:latin typeface="Roboto Light"/>
              </a:defRPr>
            </a:pPr>
            <a:r>
              <a:rPr dirty="0"/>
              <a:t>• Computationally lightweight: minimal overhead on top of </a:t>
            </a:r>
            <a:r>
              <a:rPr dirty="0" err="1"/>
              <a:t>ResNeXt</a:t>
            </a:r>
            <a:r>
              <a:rPr dirty="0"/>
              <a:t> backbone</a:t>
            </a:r>
            <a:r>
              <a:rPr lang="en-IN" dirty="0"/>
              <a:t>.</a:t>
            </a:r>
            <a:endParaRPr dirty="0"/>
          </a:p>
          <a:p>
            <a:pPr>
              <a:spcBef>
                <a:spcPts val="200"/>
              </a:spcBef>
              <a:spcAft>
                <a:spcPts val="600"/>
              </a:spcAft>
              <a:defRPr sz="1300">
                <a:solidFill>
                  <a:srgbClr val="333333"/>
                </a:solidFill>
                <a:latin typeface="Roboto Light"/>
              </a:defRPr>
            </a:pPr>
            <a:r>
              <a:rPr dirty="0"/>
              <a:t>• Enables the model to automatically learn manipulation-specific focus areas without manual feature engineering</a:t>
            </a:r>
            <a:r>
              <a:rPr lang="en-IN" dirty="0"/>
              <a:t>.</a:t>
            </a:r>
            <a:endParaRPr dirty="0"/>
          </a:p>
        </p:txBody>
      </p:sp>
      <p:sp>
        <p:nvSpPr>
          <p:cNvPr id="14" name="TextBox 13"/>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7/22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Implementation Details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Preprocessing Pipeline</a:t>
            </a:r>
          </a:p>
        </p:txBody>
      </p:sp>
      <p:sp>
        <p:nvSpPr>
          <p:cNvPr id="5" name="Rectangle 4"/>
          <p:cNvSpPr/>
          <p:nvPr/>
        </p:nvSpPr>
        <p:spPr>
          <a:xfrm>
            <a:off x="0" y="1078992"/>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4059" y="1657495"/>
            <a:ext cx="4114800" cy="274320"/>
          </a:xfrm>
          <a:prstGeom prst="rect">
            <a:avLst/>
          </a:prstGeom>
          <a:noFill/>
        </p:spPr>
        <p:txBody>
          <a:bodyPr wrap="square">
            <a:spAutoFit/>
          </a:bodyPr>
          <a:lstStyle/>
          <a:p>
            <a:pPr algn="l">
              <a:defRPr sz="1400" b="1">
                <a:solidFill>
                  <a:srgbClr val="1B3A5C"/>
                </a:solidFill>
                <a:latin typeface="Poppins Light"/>
              </a:defRPr>
            </a:pPr>
            <a:r>
              <a:rPr dirty="0"/>
              <a:t>1. Face Detection</a:t>
            </a:r>
          </a:p>
        </p:txBody>
      </p:sp>
      <p:sp>
        <p:nvSpPr>
          <p:cNvPr id="7" name="TextBox 6"/>
          <p:cNvSpPr txBox="1"/>
          <p:nvPr/>
        </p:nvSpPr>
        <p:spPr>
          <a:xfrm>
            <a:off x="926939" y="1931815"/>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Primary: MTCNN (3-stage cascade: P-Net, R-Net, O-Net)</a:t>
            </a:r>
          </a:p>
          <a:p>
            <a:pPr>
              <a:spcBef>
                <a:spcPts val="200"/>
              </a:spcBef>
              <a:spcAft>
                <a:spcPts val="200"/>
              </a:spcAft>
              <a:defRPr sz="1100">
                <a:solidFill>
                  <a:srgbClr val="333333"/>
                </a:solidFill>
                <a:latin typeface="Roboto Light"/>
              </a:defRPr>
            </a:pPr>
            <a:r>
              <a:t>• Fallback: RetinaFace (InsightFace) for challenging cases</a:t>
            </a:r>
          </a:p>
          <a:p>
            <a:pPr>
              <a:spcBef>
                <a:spcPts val="200"/>
              </a:spcBef>
              <a:spcAft>
                <a:spcPts val="200"/>
              </a:spcAft>
              <a:defRPr sz="1100">
                <a:solidFill>
                  <a:srgbClr val="333333"/>
                </a:solidFill>
                <a:latin typeface="Roboto Light"/>
              </a:defRPr>
            </a:pPr>
            <a:r>
              <a:t>• Last resort: center crop + resize to 224×224</a:t>
            </a:r>
          </a:p>
          <a:p>
            <a:pPr>
              <a:spcBef>
                <a:spcPts val="200"/>
              </a:spcBef>
              <a:spcAft>
                <a:spcPts val="200"/>
              </a:spcAft>
              <a:defRPr sz="1100">
                <a:solidFill>
                  <a:srgbClr val="333333"/>
                </a:solidFill>
                <a:latin typeface="Roboto Light"/>
              </a:defRPr>
            </a:pPr>
            <a:r>
              <a:t>• 40px margin, min face size 60px</a:t>
            </a:r>
          </a:p>
        </p:txBody>
      </p:sp>
      <p:sp>
        <p:nvSpPr>
          <p:cNvPr id="8" name="TextBox 7"/>
          <p:cNvSpPr txBox="1"/>
          <p:nvPr/>
        </p:nvSpPr>
        <p:spPr>
          <a:xfrm>
            <a:off x="744059" y="3093103"/>
            <a:ext cx="4114800" cy="274320"/>
          </a:xfrm>
          <a:prstGeom prst="rect">
            <a:avLst/>
          </a:prstGeom>
          <a:noFill/>
        </p:spPr>
        <p:txBody>
          <a:bodyPr wrap="square">
            <a:spAutoFit/>
          </a:bodyPr>
          <a:lstStyle/>
          <a:p>
            <a:pPr algn="l">
              <a:defRPr sz="1400" b="1">
                <a:solidFill>
                  <a:srgbClr val="1B3A5C"/>
                </a:solidFill>
                <a:latin typeface="Poppins Light"/>
              </a:defRPr>
            </a:pPr>
            <a:r>
              <a:t>2. Face Alignment</a:t>
            </a:r>
          </a:p>
        </p:txBody>
      </p:sp>
      <p:sp>
        <p:nvSpPr>
          <p:cNvPr id="9" name="TextBox 8"/>
          <p:cNvSpPr txBox="1"/>
          <p:nvPr/>
        </p:nvSpPr>
        <p:spPr>
          <a:xfrm>
            <a:off x="926939" y="3367423"/>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5-point landmark detection (eyes, nose, mouth corners)</a:t>
            </a:r>
          </a:p>
          <a:p>
            <a:pPr>
              <a:spcBef>
                <a:spcPts val="200"/>
              </a:spcBef>
              <a:spcAft>
                <a:spcPts val="200"/>
              </a:spcAft>
              <a:defRPr sz="1100">
                <a:solidFill>
                  <a:srgbClr val="333333"/>
                </a:solidFill>
                <a:latin typeface="Roboto Light"/>
              </a:defRPr>
            </a:pPr>
            <a:r>
              <a:t>• Affine transformation to canonical position</a:t>
            </a:r>
          </a:p>
          <a:p>
            <a:pPr>
              <a:spcBef>
                <a:spcPts val="200"/>
              </a:spcBef>
              <a:spcAft>
                <a:spcPts val="200"/>
              </a:spcAft>
              <a:defRPr sz="1100">
                <a:solidFill>
                  <a:srgbClr val="333333"/>
                </a:solidFill>
                <a:latin typeface="Roboto Light"/>
              </a:defRPr>
            </a:pPr>
            <a:r>
              <a:t>• Reference template: eyes at (70,112) &amp; (154,112)</a:t>
            </a:r>
          </a:p>
          <a:p>
            <a:pPr>
              <a:spcBef>
                <a:spcPts val="200"/>
              </a:spcBef>
              <a:spcAft>
                <a:spcPts val="200"/>
              </a:spcAft>
              <a:defRPr sz="1100">
                <a:solidFill>
                  <a:srgbClr val="333333"/>
                </a:solidFill>
                <a:latin typeface="Roboto Light"/>
              </a:defRPr>
            </a:pPr>
            <a:r>
              <a:t>• All faces normalized to same scale &amp; orientation</a:t>
            </a:r>
          </a:p>
        </p:txBody>
      </p:sp>
      <p:sp>
        <p:nvSpPr>
          <p:cNvPr id="10" name="TextBox 9"/>
          <p:cNvSpPr txBox="1"/>
          <p:nvPr/>
        </p:nvSpPr>
        <p:spPr>
          <a:xfrm>
            <a:off x="744059" y="4528711"/>
            <a:ext cx="4114800" cy="274320"/>
          </a:xfrm>
          <a:prstGeom prst="rect">
            <a:avLst/>
          </a:prstGeom>
          <a:noFill/>
        </p:spPr>
        <p:txBody>
          <a:bodyPr wrap="square">
            <a:spAutoFit/>
          </a:bodyPr>
          <a:lstStyle/>
          <a:p>
            <a:pPr algn="l">
              <a:defRPr sz="1400" b="1">
                <a:solidFill>
                  <a:srgbClr val="1B3A5C"/>
                </a:solidFill>
                <a:latin typeface="Poppins Light"/>
              </a:defRPr>
            </a:pPr>
            <a:r>
              <a:t>3. Frame Sampling</a:t>
            </a:r>
          </a:p>
        </p:txBody>
      </p:sp>
      <p:sp>
        <p:nvSpPr>
          <p:cNvPr id="11" name="TextBox 10"/>
          <p:cNvSpPr txBox="1"/>
          <p:nvPr/>
        </p:nvSpPr>
        <p:spPr>
          <a:xfrm>
            <a:off x="926939" y="4803031"/>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16 frames per video (uniform sampling)</a:t>
            </a:r>
          </a:p>
          <a:p>
            <a:pPr>
              <a:spcBef>
                <a:spcPts val="200"/>
              </a:spcBef>
              <a:spcAft>
                <a:spcPts val="200"/>
              </a:spcAft>
              <a:defRPr sz="1100">
                <a:solidFill>
                  <a:srgbClr val="333333"/>
                </a:solidFill>
                <a:latin typeface="Roboto Light"/>
              </a:defRPr>
            </a:pPr>
            <a:r>
              <a:t>• Training: uniform with jitter (±30% offset)</a:t>
            </a:r>
          </a:p>
          <a:p>
            <a:pPr>
              <a:spcBef>
                <a:spcPts val="200"/>
              </a:spcBef>
              <a:spcAft>
                <a:spcPts val="200"/>
              </a:spcAft>
              <a:defRPr sz="1100">
                <a:solidFill>
                  <a:srgbClr val="333333"/>
                </a:solidFill>
                <a:latin typeface="Roboto Light"/>
              </a:defRPr>
            </a:pPr>
            <a:r>
              <a:t>• Validation/Inference: strictly uniform spacing</a:t>
            </a:r>
          </a:p>
        </p:txBody>
      </p:sp>
      <p:sp>
        <p:nvSpPr>
          <p:cNvPr id="12" name="TextBox 11"/>
          <p:cNvSpPr txBox="1"/>
          <p:nvPr/>
        </p:nvSpPr>
        <p:spPr>
          <a:xfrm>
            <a:off x="5041739" y="1657495"/>
            <a:ext cx="4114800" cy="274320"/>
          </a:xfrm>
          <a:prstGeom prst="rect">
            <a:avLst/>
          </a:prstGeom>
          <a:noFill/>
        </p:spPr>
        <p:txBody>
          <a:bodyPr wrap="square">
            <a:spAutoFit/>
          </a:bodyPr>
          <a:lstStyle/>
          <a:p>
            <a:pPr algn="l">
              <a:defRPr sz="1400" b="1">
                <a:solidFill>
                  <a:srgbClr val="1B3A5C"/>
                </a:solidFill>
                <a:latin typeface="Poppins Light"/>
              </a:defRPr>
            </a:pPr>
            <a:r>
              <a:t>4. Data Augmentation (Training)</a:t>
            </a:r>
          </a:p>
        </p:txBody>
      </p:sp>
      <p:sp>
        <p:nvSpPr>
          <p:cNvPr id="13" name="TextBox 12"/>
          <p:cNvSpPr txBox="1"/>
          <p:nvPr/>
        </p:nvSpPr>
        <p:spPr>
          <a:xfrm>
            <a:off x="5224619" y="1931815"/>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Random horizontal flip (50%)</a:t>
            </a:r>
          </a:p>
          <a:p>
            <a:pPr>
              <a:spcBef>
                <a:spcPts val="200"/>
              </a:spcBef>
              <a:spcAft>
                <a:spcPts val="200"/>
              </a:spcAft>
              <a:defRPr sz="1100">
                <a:solidFill>
                  <a:srgbClr val="333333"/>
                </a:solidFill>
                <a:latin typeface="Roboto Light"/>
              </a:defRPr>
            </a:pPr>
            <a:r>
              <a:t>• Random rotation (±10°)</a:t>
            </a:r>
          </a:p>
          <a:p>
            <a:pPr>
              <a:spcBef>
                <a:spcPts val="200"/>
              </a:spcBef>
              <a:spcAft>
                <a:spcPts val="200"/>
              </a:spcAft>
              <a:defRPr sz="1100">
                <a:solidFill>
                  <a:srgbClr val="333333"/>
                </a:solidFill>
                <a:latin typeface="Roboto Light"/>
              </a:defRPr>
            </a:pPr>
            <a:r>
              <a:t>• Color jitter: brightness/contrast ±20%</a:t>
            </a:r>
          </a:p>
          <a:p>
            <a:pPr>
              <a:spcBef>
                <a:spcPts val="200"/>
              </a:spcBef>
              <a:spcAft>
                <a:spcPts val="200"/>
              </a:spcAft>
              <a:defRPr sz="1100">
                <a:solidFill>
                  <a:srgbClr val="333333"/>
                </a:solidFill>
                <a:latin typeface="Roboto Light"/>
              </a:defRPr>
            </a:pPr>
            <a:r>
              <a:t>• Gaussian blur (20% probability)</a:t>
            </a:r>
          </a:p>
          <a:p>
            <a:pPr>
              <a:spcBef>
                <a:spcPts val="200"/>
              </a:spcBef>
              <a:spcAft>
                <a:spcPts val="200"/>
              </a:spcAft>
              <a:defRPr sz="1100">
                <a:solidFill>
                  <a:srgbClr val="333333"/>
                </a:solidFill>
                <a:latin typeface="Roboto Light"/>
              </a:defRPr>
            </a:pPr>
            <a:r>
              <a:t>• Random erasing (10% probability)</a:t>
            </a:r>
          </a:p>
        </p:txBody>
      </p:sp>
      <p:sp>
        <p:nvSpPr>
          <p:cNvPr id="14" name="TextBox 13"/>
          <p:cNvSpPr txBox="1"/>
          <p:nvPr/>
        </p:nvSpPr>
        <p:spPr>
          <a:xfrm>
            <a:off x="5041739" y="3349135"/>
            <a:ext cx="4114800" cy="274320"/>
          </a:xfrm>
          <a:prstGeom prst="rect">
            <a:avLst/>
          </a:prstGeom>
          <a:noFill/>
        </p:spPr>
        <p:txBody>
          <a:bodyPr wrap="square">
            <a:spAutoFit/>
          </a:bodyPr>
          <a:lstStyle/>
          <a:p>
            <a:pPr algn="l">
              <a:defRPr sz="1400" b="1">
                <a:solidFill>
                  <a:srgbClr val="1B3A5C"/>
                </a:solidFill>
                <a:latin typeface="Poppins Light"/>
              </a:defRPr>
            </a:pPr>
            <a:r>
              <a:t>5. Normalization</a:t>
            </a:r>
          </a:p>
        </p:txBody>
      </p:sp>
      <p:sp>
        <p:nvSpPr>
          <p:cNvPr id="15" name="TextBox 14"/>
          <p:cNvSpPr txBox="1"/>
          <p:nvPr/>
        </p:nvSpPr>
        <p:spPr>
          <a:xfrm>
            <a:off x="5224619" y="3623455"/>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ImageNet statistics: mean=(0.485, 0.456, 0.406)</a:t>
            </a:r>
          </a:p>
          <a:p>
            <a:pPr>
              <a:spcBef>
                <a:spcPts val="200"/>
              </a:spcBef>
              <a:spcAft>
                <a:spcPts val="200"/>
              </a:spcAft>
              <a:defRPr sz="1100">
                <a:solidFill>
                  <a:srgbClr val="333333"/>
                </a:solidFill>
                <a:latin typeface="Roboto Light"/>
              </a:defRPr>
            </a:pPr>
            <a:r>
              <a:t>• std=(0.229, 0.224, 0.225)</a:t>
            </a:r>
          </a:p>
          <a:p>
            <a:pPr>
              <a:spcBef>
                <a:spcPts val="200"/>
              </a:spcBef>
              <a:spcAft>
                <a:spcPts val="200"/>
              </a:spcAft>
              <a:defRPr sz="1100">
                <a:solidFill>
                  <a:srgbClr val="333333"/>
                </a:solidFill>
                <a:latin typeface="Roboto Light"/>
              </a:defRPr>
            </a:pPr>
            <a:r>
              <a:t>• Resize to 224×224 pixels</a:t>
            </a:r>
          </a:p>
        </p:txBody>
      </p:sp>
      <p:sp>
        <p:nvSpPr>
          <p:cNvPr id="16" name="TextBox 15"/>
          <p:cNvSpPr txBox="1"/>
          <p:nvPr/>
        </p:nvSpPr>
        <p:spPr>
          <a:xfrm>
            <a:off x="5041739" y="4528711"/>
            <a:ext cx="4114800" cy="274320"/>
          </a:xfrm>
          <a:prstGeom prst="rect">
            <a:avLst/>
          </a:prstGeom>
          <a:noFill/>
        </p:spPr>
        <p:txBody>
          <a:bodyPr wrap="square">
            <a:spAutoFit/>
          </a:bodyPr>
          <a:lstStyle/>
          <a:p>
            <a:pPr algn="l">
              <a:defRPr sz="1400" b="1">
                <a:solidFill>
                  <a:srgbClr val="1B3A5C"/>
                </a:solidFill>
                <a:latin typeface="Poppins Light"/>
              </a:defRPr>
            </a:pPr>
            <a:r>
              <a:t>6. Pre-extraction Cache</a:t>
            </a:r>
          </a:p>
        </p:txBody>
      </p:sp>
      <p:sp>
        <p:nvSpPr>
          <p:cNvPr id="17" name="TextBox 16"/>
          <p:cNvSpPr txBox="1"/>
          <p:nvPr/>
        </p:nvSpPr>
        <p:spPr>
          <a:xfrm>
            <a:off x="5237158" y="4803031"/>
            <a:ext cx="3931920" cy="914400"/>
          </a:xfrm>
          <a:prstGeom prst="rect">
            <a:avLst/>
          </a:prstGeom>
          <a:noFill/>
        </p:spPr>
        <p:txBody>
          <a:bodyPr wrap="square">
            <a:spAutoFit/>
          </a:bodyPr>
          <a:lstStyle/>
          <a:p>
            <a:pPr>
              <a:spcBef>
                <a:spcPts val="200"/>
              </a:spcBef>
              <a:spcAft>
                <a:spcPts val="200"/>
              </a:spcAft>
              <a:defRPr sz="1100">
                <a:solidFill>
                  <a:srgbClr val="333333"/>
                </a:solidFill>
                <a:latin typeface="Roboto Light"/>
              </a:defRPr>
            </a:pPr>
            <a:r>
              <a:t>• Face tensors pre-computed to data_cache/</a:t>
            </a:r>
          </a:p>
          <a:p>
            <a:pPr>
              <a:spcBef>
                <a:spcPts val="200"/>
              </a:spcBef>
              <a:spcAft>
                <a:spcPts val="200"/>
              </a:spcAft>
              <a:defRPr sz="1100">
                <a:solidFill>
                  <a:srgbClr val="333333"/>
                </a:solidFill>
                <a:latin typeface="Roboto Light"/>
              </a:defRPr>
            </a:pPr>
            <a:r>
              <a:t>• 10-50× speedup during training</a:t>
            </a:r>
          </a:p>
          <a:p>
            <a:pPr>
              <a:spcBef>
                <a:spcPts val="200"/>
              </a:spcBef>
              <a:spcAft>
                <a:spcPts val="200"/>
              </a:spcAft>
              <a:defRPr sz="1100">
                <a:solidFill>
                  <a:srgbClr val="333333"/>
                </a:solidFill>
                <a:latin typeface="Roboto Light"/>
              </a:defRPr>
            </a:pPr>
            <a:r>
              <a:t>• 4 parallel workers for extraction</a:t>
            </a:r>
          </a:p>
        </p:txBody>
      </p:sp>
      <p:sp>
        <p:nvSpPr>
          <p:cNvPr id="18" name="TextBox 17"/>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8/22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Implementation Details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Two-Phase Training Strategy</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508760"/>
            <a:ext cx="402336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581912"/>
            <a:ext cx="3749040" cy="320040"/>
          </a:xfrm>
          <a:prstGeom prst="rect">
            <a:avLst/>
          </a:prstGeom>
          <a:noFill/>
        </p:spPr>
        <p:txBody>
          <a:bodyPr wrap="square">
            <a:spAutoFit/>
          </a:bodyPr>
          <a:lstStyle/>
          <a:p>
            <a:pPr algn="l">
              <a:defRPr sz="1400" b="1">
                <a:solidFill>
                  <a:srgbClr val="2E86AB"/>
                </a:solidFill>
                <a:latin typeface="Poppins Light"/>
              </a:defRPr>
            </a:pPr>
            <a:r>
              <a:t>Phase 1: Backbone Frozen (Epochs 1–15)</a:t>
            </a:r>
          </a:p>
        </p:txBody>
      </p:sp>
      <p:sp>
        <p:nvSpPr>
          <p:cNvPr id="8" name="TextBox 7"/>
          <p:cNvSpPr txBox="1"/>
          <p:nvPr/>
        </p:nvSpPr>
        <p:spPr>
          <a:xfrm>
            <a:off x="502920" y="1874520"/>
            <a:ext cx="374904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ResNeXt-50 backbone weights frozen</a:t>
            </a:r>
          </a:p>
          <a:p>
            <a:pPr>
              <a:spcBef>
                <a:spcPts val="200"/>
              </a:spcBef>
              <a:spcAft>
                <a:spcPts val="300"/>
              </a:spcAft>
              <a:defRPr sz="1200">
                <a:solidFill>
                  <a:srgbClr val="333333"/>
                </a:solidFill>
                <a:latin typeface="Roboto Light"/>
              </a:defRPr>
            </a:pPr>
            <a:r>
              <a:t>• Only train: CBAM + BiLSTM + Classifier</a:t>
            </a:r>
          </a:p>
          <a:p>
            <a:pPr>
              <a:spcBef>
                <a:spcPts val="200"/>
              </a:spcBef>
              <a:spcAft>
                <a:spcPts val="300"/>
              </a:spcAft>
              <a:defRPr sz="1200">
                <a:solidFill>
                  <a:srgbClr val="333333"/>
                </a:solidFill>
                <a:latin typeface="Roboto Light"/>
              </a:defRPr>
            </a:pPr>
            <a:r>
              <a:t>• Learning rate: 1e-4 (0.0001)</a:t>
            </a:r>
          </a:p>
          <a:p>
            <a:pPr>
              <a:spcBef>
                <a:spcPts val="200"/>
              </a:spcBef>
              <a:spcAft>
                <a:spcPts val="300"/>
              </a:spcAft>
              <a:defRPr sz="1200">
                <a:solidFill>
                  <a:srgbClr val="333333"/>
                </a:solidFill>
                <a:latin typeface="Roboto Light"/>
              </a:defRPr>
            </a:pPr>
            <a:r>
              <a:t>• Purpose: learn temporal patterns &amp; attention</a:t>
            </a:r>
          </a:p>
          <a:p>
            <a:pPr>
              <a:spcBef>
                <a:spcPts val="200"/>
              </a:spcBef>
              <a:spcAft>
                <a:spcPts val="300"/>
              </a:spcAft>
              <a:defRPr sz="1200">
                <a:solidFill>
                  <a:srgbClr val="333333"/>
                </a:solidFill>
                <a:latin typeface="Roboto Light"/>
              </a:defRPr>
            </a:pPr>
            <a:r>
              <a:t>• without disrupting pretrained spatial features</a:t>
            </a:r>
          </a:p>
          <a:p>
            <a:pPr>
              <a:spcBef>
                <a:spcPts val="200"/>
              </a:spcBef>
              <a:spcAft>
                <a:spcPts val="300"/>
              </a:spcAft>
              <a:defRPr sz="1200">
                <a:solidFill>
                  <a:srgbClr val="333333"/>
                </a:solidFill>
                <a:latin typeface="Roboto Light"/>
              </a:defRPr>
            </a:pPr>
            <a:r>
              <a:t>• Prevents catastrophic forgetting</a:t>
            </a:r>
          </a:p>
        </p:txBody>
      </p:sp>
      <p:sp>
        <p:nvSpPr>
          <p:cNvPr id="9" name="Rounded Rectangle 8"/>
          <p:cNvSpPr/>
          <p:nvPr/>
        </p:nvSpPr>
        <p:spPr>
          <a:xfrm>
            <a:off x="4754880" y="1508760"/>
            <a:ext cx="402336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2040" y="1581912"/>
            <a:ext cx="3749040" cy="320040"/>
          </a:xfrm>
          <a:prstGeom prst="rect">
            <a:avLst/>
          </a:prstGeom>
          <a:noFill/>
        </p:spPr>
        <p:txBody>
          <a:bodyPr wrap="square">
            <a:spAutoFit/>
          </a:bodyPr>
          <a:lstStyle/>
          <a:p>
            <a:pPr algn="l">
              <a:defRPr sz="1400" b="1">
                <a:solidFill>
                  <a:srgbClr val="28A745"/>
                </a:solidFill>
                <a:latin typeface="Poppins Light"/>
              </a:defRPr>
            </a:pPr>
            <a:r>
              <a:t>Phase 2: Full Fine-tuning (Epochs 16–40)</a:t>
            </a:r>
          </a:p>
        </p:txBody>
      </p:sp>
      <p:sp>
        <p:nvSpPr>
          <p:cNvPr id="11" name="TextBox 10"/>
          <p:cNvSpPr txBox="1"/>
          <p:nvPr/>
        </p:nvSpPr>
        <p:spPr>
          <a:xfrm>
            <a:off x="4892040" y="1874520"/>
            <a:ext cx="374904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All parameters unfrozen and trainable</a:t>
            </a:r>
          </a:p>
          <a:p>
            <a:pPr>
              <a:spcBef>
                <a:spcPts val="200"/>
              </a:spcBef>
              <a:spcAft>
                <a:spcPts val="300"/>
              </a:spcAft>
              <a:defRPr sz="1200">
                <a:solidFill>
                  <a:srgbClr val="333333"/>
                </a:solidFill>
                <a:latin typeface="Roboto Light"/>
              </a:defRPr>
            </a:pPr>
            <a:r>
              <a:rPr dirty="0"/>
              <a:t>• Backbone LR: 1e-5 (10× lower)</a:t>
            </a:r>
          </a:p>
          <a:p>
            <a:pPr>
              <a:spcBef>
                <a:spcPts val="200"/>
              </a:spcBef>
              <a:spcAft>
                <a:spcPts val="300"/>
              </a:spcAft>
              <a:defRPr sz="1200">
                <a:solidFill>
                  <a:srgbClr val="333333"/>
                </a:solidFill>
                <a:latin typeface="Roboto Light"/>
              </a:defRPr>
            </a:pPr>
            <a:r>
              <a:rPr dirty="0"/>
              <a:t>• CBAM/</a:t>
            </a:r>
            <a:r>
              <a:rPr dirty="0" err="1"/>
              <a:t>BiLSTM</a:t>
            </a:r>
            <a:r>
              <a:rPr dirty="0"/>
              <a:t>/Classifier LR: 1e-4</a:t>
            </a:r>
          </a:p>
          <a:p>
            <a:pPr>
              <a:spcBef>
                <a:spcPts val="200"/>
              </a:spcBef>
              <a:spcAft>
                <a:spcPts val="300"/>
              </a:spcAft>
              <a:defRPr sz="1200">
                <a:solidFill>
                  <a:srgbClr val="333333"/>
                </a:solidFill>
                <a:latin typeface="Roboto Light"/>
              </a:defRPr>
            </a:pPr>
            <a:r>
              <a:rPr dirty="0"/>
              <a:t>• End-to-end refinement of entire model</a:t>
            </a:r>
          </a:p>
          <a:p>
            <a:pPr>
              <a:spcBef>
                <a:spcPts val="200"/>
              </a:spcBef>
              <a:spcAft>
                <a:spcPts val="300"/>
              </a:spcAft>
              <a:defRPr sz="1200">
                <a:solidFill>
                  <a:srgbClr val="333333"/>
                </a:solidFill>
                <a:latin typeface="Roboto Light"/>
              </a:defRPr>
            </a:pPr>
            <a:r>
              <a:rPr dirty="0"/>
              <a:t>• Cosine annealing LR scheduler resets</a:t>
            </a:r>
          </a:p>
          <a:p>
            <a:pPr>
              <a:spcBef>
                <a:spcPts val="200"/>
              </a:spcBef>
              <a:spcAft>
                <a:spcPts val="300"/>
              </a:spcAft>
              <a:defRPr sz="1200">
                <a:solidFill>
                  <a:srgbClr val="333333"/>
                </a:solidFill>
                <a:latin typeface="Roboto Light"/>
              </a:defRPr>
            </a:pPr>
            <a:r>
              <a:rPr dirty="0"/>
              <a:t>• Best </a:t>
            </a:r>
            <a:r>
              <a:rPr dirty="0" err="1"/>
              <a:t>val_acc</a:t>
            </a:r>
            <a:r>
              <a:rPr dirty="0"/>
              <a:t>=96.64% at Epoch 20</a:t>
            </a:r>
          </a:p>
        </p:txBody>
      </p:sp>
      <p:graphicFrame>
        <p:nvGraphicFramePr>
          <p:cNvPr id="12" name="Table 11"/>
          <p:cNvGraphicFramePr>
            <a:graphicFrameLocks noGrp="1"/>
          </p:cNvGraphicFramePr>
          <p:nvPr/>
        </p:nvGraphicFramePr>
        <p:xfrm>
          <a:off x="365760" y="3931920"/>
          <a:ext cx="8412480" cy="25603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0040">
                <a:tc>
                  <a:txBody>
                    <a:bodyPr/>
                    <a:lstStyle/>
                    <a:p>
                      <a:pPr>
                        <a:defRPr sz="1300" b="1">
                          <a:solidFill>
                            <a:srgbClr val="FFFFFF"/>
                          </a:solidFill>
                          <a:latin typeface="Roboto Light"/>
                        </a:defRPr>
                      </a:pPr>
                      <a:r>
                        <a:t>Parameter</a:t>
                      </a:r>
                    </a:p>
                  </a:txBody>
                  <a:tcPr>
                    <a:solidFill>
                      <a:srgbClr val="1B3A5C"/>
                    </a:solidFill>
                  </a:tcPr>
                </a:tc>
                <a:tc>
                  <a:txBody>
                    <a:bodyPr/>
                    <a:lstStyle/>
                    <a:p>
                      <a:pPr>
                        <a:defRPr sz="1300" b="1">
                          <a:solidFill>
                            <a:srgbClr val="FFFFFF"/>
                          </a:solidFill>
                          <a:latin typeface="Roboto Light"/>
                        </a:defRPr>
                      </a:pPr>
                      <a:r>
                        <a:t>Value</a:t>
                      </a:r>
                    </a:p>
                  </a:txBody>
                  <a:tcPr>
                    <a:solidFill>
                      <a:srgbClr val="1B3A5C"/>
                    </a:solidFill>
                  </a:tcPr>
                </a:tc>
                <a:tc>
                  <a:txBody>
                    <a:bodyPr/>
                    <a:lstStyle/>
                    <a:p>
                      <a:pPr>
                        <a:defRPr sz="1300" b="1">
                          <a:solidFill>
                            <a:srgbClr val="FFFFFF"/>
                          </a:solidFill>
                          <a:latin typeface="Roboto Light"/>
                        </a:defRPr>
                      </a:pPr>
                      <a:r>
                        <a:t>Parameter</a:t>
                      </a:r>
                    </a:p>
                  </a:txBody>
                  <a:tcPr>
                    <a:solidFill>
                      <a:srgbClr val="1B3A5C"/>
                    </a:solidFill>
                  </a:tcPr>
                </a:tc>
                <a:tc>
                  <a:txBody>
                    <a:bodyPr/>
                    <a:lstStyle/>
                    <a:p>
                      <a:pPr>
                        <a:defRPr sz="1300" b="1">
                          <a:solidFill>
                            <a:srgbClr val="FFFFFF"/>
                          </a:solidFill>
                          <a:latin typeface="Roboto Light"/>
                        </a:defRPr>
                      </a:pPr>
                      <a:r>
                        <a:t>Value</a:t>
                      </a:r>
                    </a:p>
                  </a:txBody>
                  <a:tcPr>
                    <a:solidFill>
                      <a:srgbClr val="1B3A5C"/>
                    </a:solidFill>
                  </a:tcPr>
                </a:tc>
                <a:extLst>
                  <a:ext uri="{0D108BD9-81ED-4DB2-BD59-A6C34878D82A}">
                    <a16:rowId xmlns:a16="http://schemas.microsoft.com/office/drawing/2014/main" val="10000"/>
                  </a:ext>
                </a:extLst>
              </a:tr>
              <a:tr h="320040">
                <a:tc>
                  <a:txBody>
                    <a:bodyPr/>
                    <a:lstStyle/>
                    <a:p>
                      <a:pPr>
                        <a:defRPr sz="1200">
                          <a:solidFill>
                            <a:srgbClr val="333333"/>
                          </a:solidFill>
                          <a:latin typeface="Roboto Light"/>
                        </a:defRPr>
                      </a:pPr>
                      <a:r>
                        <a:t>Batch Size</a:t>
                      </a:r>
                    </a:p>
                  </a:txBody>
                  <a:tcPr/>
                </a:tc>
                <a:tc>
                  <a:txBody>
                    <a:bodyPr/>
                    <a:lstStyle/>
                    <a:p>
                      <a:pPr>
                        <a:defRPr sz="1200">
                          <a:solidFill>
                            <a:srgbClr val="333333"/>
                          </a:solidFill>
                          <a:latin typeface="Roboto Light"/>
                        </a:defRPr>
                      </a:pPr>
                      <a:r>
                        <a:t>4</a:t>
                      </a:r>
                    </a:p>
                  </a:txBody>
                  <a:tcPr/>
                </a:tc>
                <a:tc>
                  <a:txBody>
                    <a:bodyPr/>
                    <a:lstStyle/>
                    <a:p>
                      <a:pPr>
                        <a:defRPr sz="1200">
                          <a:solidFill>
                            <a:srgbClr val="333333"/>
                          </a:solidFill>
                          <a:latin typeface="Roboto Light"/>
                        </a:defRPr>
                      </a:pPr>
                      <a:r>
                        <a:t>Optimizer</a:t>
                      </a:r>
                    </a:p>
                  </a:txBody>
                  <a:tcPr/>
                </a:tc>
                <a:tc>
                  <a:txBody>
                    <a:bodyPr/>
                    <a:lstStyle/>
                    <a:p>
                      <a:pPr>
                        <a:defRPr sz="1200">
                          <a:solidFill>
                            <a:srgbClr val="333333"/>
                          </a:solidFill>
                          <a:latin typeface="Roboto Light"/>
                        </a:defRPr>
                      </a:pPr>
                      <a:r>
                        <a:t>AdamW</a:t>
                      </a:r>
                    </a:p>
                  </a:txBody>
                  <a:tcPr/>
                </a:tc>
                <a:extLst>
                  <a:ext uri="{0D108BD9-81ED-4DB2-BD59-A6C34878D82A}">
                    <a16:rowId xmlns:a16="http://schemas.microsoft.com/office/drawing/2014/main" val="10001"/>
                  </a:ext>
                </a:extLst>
              </a:tr>
              <a:tr h="320040">
                <a:tc>
                  <a:txBody>
                    <a:bodyPr/>
                    <a:lstStyle/>
                    <a:p>
                      <a:pPr>
                        <a:defRPr sz="1200">
                          <a:solidFill>
                            <a:srgbClr val="333333"/>
                          </a:solidFill>
                          <a:latin typeface="Roboto Light"/>
                        </a:defRPr>
                      </a:pPr>
                      <a:r>
                        <a:t>Max Epochs</a:t>
                      </a:r>
                    </a:p>
                  </a:txBody>
                  <a:tcPr>
                    <a:solidFill>
                      <a:srgbClr val="F5F7FA"/>
                    </a:solidFill>
                  </a:tcPr>
                </a:tc>
                <a:tc>
                  <a:txBody>
                    <a:bodyPr/>
                    <a:lstStyle/>
                    <a:p>
                      <a:pPr>
                        <a:defRPr sz="1200">
                          <a:solidFill>
                            <a:srgbClr val="333333"/>
                          </a:solidFill>
                          <a:latin typeface="Roboto Light"/>
                        </a:defRPr>
                      </a:pPr>
                      <a:r>
                        <a:t>40</a:t>
                      </a:r>
                    </a:p>
                  </a:txBody>
                  <a:tcPr>
                    <a:solidFill>
                      <a:srgbClr val="F5F7FA"/>
                    </a:solidFill>
                  </a:tcPr>
                </a:tc>
                <a:tc>
                  <a:txBody>
                    <a:bodyPr/>
                    <a:lstStyle/>
                    <a:p>
                      <a:pPr>
                        <a:defRPr sz="1200">
                          <a:solidFill>
                            <a:srgbClr val="333333"/>
                          </a:solidFill>
                          <a:latin typeface="Roboto Light"/>
                        </a:defRPr>
                      </a:pPr>
                      <a:r>
                        <a:t>Weight Decay</a:t>
                      </a:r>
                    </a:p>
                  </a:txBody>
                  <a:tcPr>
                    <a:solidFill>
                      <a:srgbClr val="F5F7FA"/>
                    </a:solidFill>
                  </a:tcPr>
                </a:tc>
                <a:tc>
                  <a:txBody>
                    <a:bodyPr/>
                    <a:lstStyle/>
                    <a:p>
                      <a:pPr>
                        <a:defRPr sz="1200">
                          <a:solidFill>
                            <a:srgbClr val="333333"/>
                          </a:solidFill>
                          <a:latin typeface="Roboto Light"/>
                        </a:defRPr>
                      </a:pPr>
                      <a:r>
                        <a:t>5e-4</a:t>
                      </a:r>
                    </a:p>
                  </a:txBody>
                  <a:tcPr>
                    <a:solidFill>
                      <a:srgbClr val="F5F7FA"/>
                    </a:solidFill>
                  </a:tcPr>
                </a:tc>
                <a:extLst>
                  <a:ext uri="{0D108BD9-81ED-4DB2-BD59-A6C34878D82A}">
                    <a16:rowId xmlns:a16="http://schemas.microsoft.com/office/drawing/2014/main" val="10002"/>
                  </a:ext>
                </a:extLst>
              </a:tr>
              <a:tr h="320040">
                <a:tc>
                  <a:txBody>
                    <a:bodyPr/>
                    <a:lstStyle/>
                    <a:p>
                      <a:pPr>
                        <a:defRPr sz="1200">
                          <a:solidFill>
                            <a:srgbClr val="333333"/>
                          </a:solidFill>
                          <a:latin typeface="Roboto Light"/>
                        </a:defRPr>
                      </a:pPr>
                      <a:r>
                        <a:t>Phase 1 Epochs</a:t>
                      </a:r>
                    </a:p>
                  </a:txBody>
                  <a:tcPr/>
                </a:tc>
                <a:tc>
                  <a:txBody>
                    <a:bodyPr/>
                    <a:lstStyle/>
                    <a:p>
                      <a:pPr>
                        <a:defRPr sz="1200">
                          <a:solidFill>
                            <a:srgbClr val="333333"/>
                          </a:solidFill>
                          <a:latin typeface="Roboto Light"/>
                        </a:defRPr>
                      </a:pPr>
                      <a:r>
                        <a:t>15</a:t>
                      </a:r>
                    </a:p>
                  </a:txBody>
                  <a:tcPr/>
                </a:tc>
                <a:tc>
                  <a:txBody>
                    <a:bodyPr/>
                    <a:lstStyle/>
                    <a:p>
                      <a:pPr>
                        <a:defRPr sz="1200">
                          <a:solidFill>
                            <a:srgbClr val="333333"/>
                          </a:solidFill>
                          <a:latin typeface="Roboto Light"/>
                        </a:defRPr>
                      </a:pPr>
                      <a:r>
                        <a:t>Scheduler</a:t>
                      </a:r>
                    </a:p>
                  </a:txBody>
                  <a:tcPr/>
                </a:tc>
                <a:tc>
                  <a:txBody>
                    <a:bodyPr/>
                    <a:lstStyle/>
                    <a:p>
                      <a:pPr>
                        <a:defRPr sz="1200">
                          <a:solidFill>
                            <a:srgbClr val="333333"/>
                          </a:solidFill>
                          <a:latin typeface="Roboto Light"/>
                        </a:defRPr>
                      </a:pPr>
                      <a:r>
                        <a:t>Cosine Annealing</a:t>
                      </a:r>
                    </a:p>
                  </a:txBody>
                  <a:tcPr/>
                </a:tc>
                <a:extLst>
                  <a:ext uri="{0D108BD9-81ED-4DB2-BD59-A6C34878D82A}">
                    <a16:rowId xmlns:a16="http://schemas.microsoft.com/office/drawing/2014/main" val="10003"/>
                  </a:ext>
                </a:extLst>
              </a:tr>
              <a:tr h="320040">
                <a:tc>
                  <a:txBody>
                    <a:bodyPr/>
                    <a:lstStyle/>
                    <a:p>
                      <a:pPr>
                        <a:defRPr sz="1200">
                          <a:solidFill>
                            <a:srgbClr val="333333"/>
                          </a:solidFill>
                          <a:latin typeface="Roboto Light"/>
                        </a:defRPr>
                      </a:pPr>
                      <a:r>
                        <a:t>Base LR</a:t>
                      </a:r>
                    </a:p>
                  </a:txBody>
                  <a:tcPr>
                    <a:solidFill>
                      <a:srgbClr val="F5F7FA"/>
                    </a:solidFill>
                  </a:tcPr>
                </a:tc>
                <a:tc>
                  <a:txBody>
                    <a:bodyPr/>
                    <a:lstStyle/>
                    <a:p>
                      <a:pPr>
                        <a:defRPr sz="1200">
                          <a:solidFill>
                            <a:srgbClr val="333333"/>
                          </a:solidFill>
                          <a:latin typeface="Roboto Light"/>
                        </a:defRPr>
                      </a:pPr>
                      <a:r>
                        <a:t>1e-4</a:t>
                      </a:r>
                    </a:p>
                  </a:txBody>
                  <a:tcPr>
                    <a:solidFill>
                      <a:srgbClr val="F5F7FA"/>
                    </a:solidFill>
                  </a:tcPr>
                </a:tc>
                <a:tc>
                  <a:txBody>
                    <a:bodyPr/>
                    <a:lstStyle/>
                    <a:p>
                      <a:pPr>
                        <a:defRPr sz="1200">
                          <a:solidFill>
                            <a:srgbClr val="333333"/>
                          </a:solidFill>
                          <a:latin typeface="Roboto Light"/>
                        </a:defRPr>
                      </a:pPr>
                      <a:r>
                        <a:t>Warmup Epochs</a:t>
                      </a:r>
                    </a:p>
                  </a:txBody>
                  <a:tcPr>
                    <a:solidFill>
                      <a:srgbClr val="F5F7FA"/>
                    </a:solidFill>
                  </a:tcPr>
                </a:tc>
                <a:tc>
                  <a:txBody>
                    <a:bodyPr/>
                    <a:lstStyle/>
                    <a:p>
                      <a:pPr>
                        <a:defRPr sz="1200">
                          <a:solidFill>
                            <a:srgbClr val="333333"/>
                          </a:solidFill>
                          <a:latin typeface="Roboto Light"/>
                        </a:defRPr>
                      </a:pPr>
                      <a:r>
                        <a:t>2</a:t>
                      </a:r>
                    </a:p>
                  </a:txBody>
                  <a:tcPr>
                    <a:solidFill>
                      <a:srgbClr val="F5F7FA"/>
                    </a:solidFill>
                  </a:tcPr>
                </a:tc>
                <a:extLst>
                  <a:ext uri="{0D108BD9-81ED-4DB2-BD59-A6C34878D82A}">
                    <a16:rowId xmlns:a16="http://schemas.microsoft.com/office/drawing/2014/main" val="10004"/>
                  </a:ext>
                </a:extLst>
              </a:tr>
              <a:tr h="320040">
                <a:tc>
                  <a:txBody>
                    <a:bodyPr/>
                    <a:lstStyle/>
                    <a:p>
                      <a:pPr>
                        <a:defRPr sz="1200">
                          <a:solidFill>
                            <a:srgbClr val="333333"/>
                          </a:solidFill>
                          <a:latin typeface="Roboto Light"/>
                        </a:defRPr>
                      </a:pPr>
                      <a:r>
                        <a:t>Backbone LR</a:t>
                      </a:r>
                    </a:p>
                  </a:txBody>
                  <a:tcPr/>
                </a:tc>
                <a:tc>
                  <a:txBody>
                    <a:bodyPr/>
                    <a:lstStyle/>
                    <a:p>
                      <a:pPr>
                        <a:defRPr sz="1200">
                          <a:solidFill>
                            <a:srgbClr val="333333"/>
                          </a:solidFill>
                          <a:latin typeface="Roboto Light"/>
                        </a:defRPr>
                      </a:pPr>
                      <a:r>
                        <a:t>1e-5</a:t>
                      </a:r>
                    </a:p>
                  </a:txBody>
                  <a:tcPr/>
                </a:tc>
                <a:tc>
                  <a:txBody>
                    <a:bodyPr/>
                    <a:lstStyle/>
                    <a:p>
                      <a:pPr>
                        <a:defRPr sz="1200">
                          <a:solidFill>
                            <a:srgbClr val="333333"/>
                          </a:solidFill>
                          <a:latin typeface="Roboto Light"/>
                        </a:defRPr>
                      </a:pPr>
                      <a:r>
                        <a:t>Early Stopping</a:t>
                      </a:r>
                    </a:p>
                  </a:txBody>
                  <a:tcPr/>
                </a:tc>
                <a:tc>
                  <a:txBody>
                    <a:bodyPr/>
                    <a:lstStyle/>
                    <a:p>
                      <a:pPr>
                        <a:defRPr sz="1200">
                          <a:solidFill>
                            <a:srgbClr val="333333"/>
                          </a:solidFill>
                          <a:latin typeface="Roboto Light"/>
                        </a:defRPr>
                      </a:pPr>
                      <a:r>
                        <a:t>8 epochs patience</a:t>
                      </a:r>
                    </a:p>
                  </a:txBody>
                  <a:tcPr/>
                </a:tc>
                <a:extLst>
                  <a:ext uri="{0D108BD9-81ED-4DB2-BD59-A6C34878D82A}">
                    <a16:rowId xmlns:a16="http://schemas.microsoft.com/office/drawing/2014/main" val="10005"/>
                  </a:ext>
                </a:extLst>
              </a:tr>
              <a:tr h="320040">
                <a:tc>
                  <a:txBody>
                    <a:bodyPr/>
                    <a:lstStyle/>
                    <a:p>
                      <a:pPr>
                        <a:defRPr sz="1200">
                          <a:solidFill>
                            <a:srgbClr val="333333"/>
                          </a:solidFill>
                          <a:latin typeface="Roboto Light"/>
                        </a:defRPr>
                      </a:pPr>
                      <a:r>
                        <a:t>Gradient Clip</a:t>
                      </a:r>
                    </a:p>
                  </a:txBody>
                  <a:tcPr>
                    <a:solidFill>
                      <a:srgbClr val="F5F7FA"/>
                    </a:solidFill>
                  </a:tcPr>
                </a:tc>
                <a:tc>
                  <a:txBody>
                    <a:bodyPr/>
                    <a:lstStyle/>
                    <a:p>
                      <a:pPr>
                        <a:defRPr sz="1200">
                          <a:solidFill>
                            <a:srgbClr val="333333"/>
                          </a:solidFill>
                          <a:latin typeface="Roboto Light"/>
                        </a:defRPr>
                      </a:pPr>
                      <a:r>
                        <a:t>1.0</a:t>
                      </a:r>
                    </a:p>
                  </a:txBody>
                  <a:tcPr>
                    <a:solidFill>
                      <a:srgbClr val="F5F7FA"/>
                    </a:solidFill>
                  </a:tcPr>
                </a:tc>
                <a:tc>
                  <a:txBody>
                    <a:bodyPr/>
                    <a:lstStyle/>
                    <a:p>
                      <a:pPr>
                        <a:defRPr sz="1200">
                          <a:solidFill>
                            <a:srgbClr val="333333"/>
                          </a:solidFill>
                          <a:latin typeface="Roboto Light"/>
                        </a:defRPr>
                      </a:pPr>
                      <a:r>
                        <a:t>Mixed Precision</a:t>
                      </a:r>
                    </a:p>
                  </a:txBody>
                  <a:tcPr>
                    <a:solidFill>
                      <a:srgbClr val="F5F7FA"/>
                    </a:solidFill>
                  </a:tcPr>
                </a:tc>
                <a:tc>
                  <a:txBody>
                    <a:bodyPr/>
                    <a:lstStyle/>
                    <a:p>
                      <a:pPr>
                        <a:defRPr sz="1200">
                          <a:solidFill>
                            <a:srgbClr val="333333"/>
                          </a:solidFill>
                          <a:latin typeface="Roboto Light"/>
                        </a:defRPr>
                      </a:pPr>
                      <a:r>
                        <a:t>Enabled (AMP)</a:t>
                      </a:r>
                    </a:p>
                  </a:txBody>
                  <a:tcPr>
                    <a:solidFill>
                      <a:srgbClr val="F5F7FA"/>
                    </a:solidFill>
                  </a:tcPr>
                </a:tc>
                <a:extLst>
                  <a:ext uri="{0D108BD9-81ED-4DB2-BD59-A6C34878D82A}">
                    <a16:rowId xmlns:a16="http://schemas.microsoft.com/office/drawing/2014/main" val="10006"/>
                  </a:ext>
                </a:extLst>
              </a:tr>
              <a:tr h="320040">
                <a:tc>
                  <a:txBody>
                    <a:bodyPr/>
                    <a:lstStyle/>
                    <a:p>
                      <a:pPr>
                        <a:defRPr sz="1200">
                          <a:solidFill>
                            <a:srgbClr val="333333"/>
                          </a:solidFill>
                          <a:latin typeface="Roboto Light"/>
                        </a:defRPr>
                      </a:pPr>
                      <a:r>
                        <a:t>Num Workers</a:t>
                      </a:r>
                    </a:p>
                  </a:txBody>
                  <a:tcPr/>
                </a:tc>
                <a:tc>
                  <a:txBody>
                    <a:bodyPr/>
                    <a:lstStyle/>
                    <a:p>
                      <a:pPr>
                        <a:defRPr sz="1200">
                          <a:solidFill>
                            <a:srgbClr val="333333"/>
                          </a:solidFill>
                          <a:latin typeface="Roboto Light"/>
                        </a:defRPr>
                      </a:pPr>
                      <a:r>
                        <a:t>4</a:t>
                      </a:r>
                    </a:p>
                  </a:txBody>
                  <a:tcPr/>
                </a:tc>
                <a:tc>
                  <a:txBody>
                    <a:bodyPr/>
                    <a:lstStyle/>
                    <a:p>
                      <a:pPr>
                        <a:defRPr sz="1200">
                          <a:solidFill>
                            <a:srgbClr val="333333"/>
                          </a:solidFill>
                          <a:latin typeface="Roboto Light"/>
                        </a:defRPr>
                      </a:pPr>
                      <a:r>
                        <a:t>Num Frames</a:t>
                      </a:r>
                    </a:p>
                  </a:txBody>
                  <a:tcPr/>
                </a:tc>
                <a:tc>
                  <a:txBody>
                    <a:bodyPr/>
                    <a:lstStyle/>
                    <a:p>
                      <a:pPr>
                        <a:defRPr sz="1200">
                          <a:solidFill>
                            <a:srgbClr val="333333"/>
                          </a:solidFill>
                          <a:latin typeface="Roboto Light"/>
                        </a:defRPr>
                      </a:pPr>
                      <a:r>
                        <a:t>16</a:t>
                      </a:r>
                    </a:p>
                  </a:txBody>
                  <a:tcPr/>
                </a:tc>
                <a:extLst>
                  <a:ext uri="{0D108BD9-81ED-4DB2-BD59-A6C34878D82A}">
                    <a16:rowId xmlns:a16="http://schemas.microsoft.com/office/drawing/2014/main" val="10007"/>
                  </a:ext>
                </a:extLst>
              </a:tr>
            </a:tbl>
          </a:graphicData>
        </a:graphic>
      </p:graphicFrame>
      <p:sp>
        <p:nvSpPr>
          <p:cNvPr id="13" name="TextBox 12"/>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9/22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Implementation Details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Loss Function &amp; Optimization</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2015095"/>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21268"/>
            <a:ext cx="3749040" cy="320040"/>
          </a:xfrm>
          <a:prstGeom prst="rect">
            <a:avLst/>
          </a:prstGeom>
          <a:noFill/>
        </p:spPr>
        <p:txBody>
          <a:bodyPr wrap="square">
            <a:spAutoFit/>
          </a:bodyPr>
          <a:lstStyle/>
          <a:p>
            <a:pPr algn="l">
              <a:defRPr sz="1400" b="1">
                <a:solidFill>
                  <a:srgbClr val="E17A55"/>
                </a:solidFill>
                <a:latin typeface="Poppins Light"/>
              </a:defRPr>
            </a:pPr>
            <a:r>
              <a:rPr dirty="0"/>
              <a:t>Combined Loss Function</a:t>
            </a:r>
          </a:p>
        </p:txBody>
      </p:sp>
      <p:sp>
        <p:nvSpPr>
          <p:cNvPr id="8" name="TextBox 7"/>
          <p:cNvSpPr txBox="1"/>
          <p:nvPr/>
        </p:nvSpPr>
        <p:spPr>
          <a:xfrm>
            <a:off x="484593" y="2491536"/>
            <a:ext cx="3749040" cy="1769715"/>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Total Loss = 0.5 × </a:t>
            </a:r>
            <a:r>
              <a:rPr dirty="0" err="1"/>
              <a:t>CrossEntropy</a:t>
            </a:r>
            <a:r>
              <a:rPr dirty="0"/>
              <a:t> + 0.5 × Focal</a:t>
            </a:r>
          </a:p>
          <a:p>
            <a:pPr>
              <a:spcBef>
                <a:spcPts val="200"/>
              </a:spcBef>
              <a:spcAft>
                <a:spcPts val="300"/>
              </a:spcAft>
              <a:defRPr sz="1200">
                <a:solidFill>
                  <a:srgbClr val="333333"/>
                </a:solidFill>
                <a:latin typeface="Roboto Light"/>
              </a:defRPr>
            </a:pPr>
            <a:r>
              <a:rPr dirty="0"/>
              <a:t>• </a:t>
            </a:r>
            <a:r>
              <a:rPr dirty="0" err="1"/>
              <a:t>CrossEntropy</a:t>
            </a:r>
            <a:r>
              <a:rPr dirty="0"/>
              <a:t>: standard classification loss</a:t>
            </a:r>
          </a:p>
          <a:p>
            <a:pPr>
              <a:spcBef>
                <a:spcPts val="200"/>
              </a:spcBef>
              <a:spcAft>
                <a:spcPts val="300"/>
              </a:spcAft>
              <a:defRPr sz="1200">
                <a:solidFill>
                  <a:srgbClr val="333333"/>
                </a:solidFill>
                <a:latin typeface="Roboto Light"/>
              </a:defRPr>
            </a:pPr>
            <a:r>
              <a:rPr dirty="0"/>
              <a:t>• Focal Loss: FL(pt) = -α(1-pt)^γ log(pt)</a:t>
            </a:r>
          </a:p>
          <a:p>
            <a:pPr>
              <a:spcBef>
                <a:spcPts val="200"/>
              </a:spcBef>
              <a:spcAft>
                <a:spcPts val="300"/>
              </a:spcAft>
              <a:defRPr sz="1200">
                <a:solidFill>
                  <a:srgbClr val="333333"/>
                </a:solidFill>
                <a:latin typeface="Roboto Light"/>
              </a:defRPr>
            </a:pPr>
            <a:r>
              <a:rPr dirty="0"/>
              <a:t>•   α = 0.25 (positive class weight)</a:t>
            </a:r>
          </a:p>
          <a:p>
            <a:pPr>
              <a:spcBef>
                <a:spcPts val="200"/>
              </a:spcBef>
              <a:spcAft>
                <a:spcPts val="300"/>
              </a:spcAft>
              <a:defRPr sz="1200">
                <a:solidFill>
                  <a:srgbClr val="333333"/>
                </a:solidFill>
                <a:latin typeface="Roboto Light"/>
              </a:defRPr>
            </a:pPr>
            <a:r>
              <a:rPr dirty="0"/>
              <a:t>•   γ = 2.0  (focusing parameter)</a:t>
            </a:r>
          </a:p>
          <a:p>
            <a:pPr>
              <a:spcBef>
                <a:spcPts val="200"/>
              </a:spcBef>
              <a:spcAft>
                <a:spcPts val="300"/>
              </a:spcAft>
              <a:defRPr sz="1200">
                <a:solidFill>
                  <a:srgbClr val="333333"/>
                </a:solidFill>
                <a:latin typeface="Roboto Light"/>
              </a:defRPr>
            </a:pPr>
            <a:r>
              <a:rPr dirty="0"/>
              <a:t>• Focal loss down-weights easy examples,</a:t>
            </a:r>
          </a:p>
          <a:p>
            <a:pPr>
              <a:spcBef>
                <a:spcPts val="200"/>
              </a:spcBef>
              <a:spcAft>
                <a:spcPts val="300"/>
              </a:spcAft>
              <a:defRPr sz="1200">
                <a:solidFill>
                  <a:srgbClr val="333333"/>
                </a:solidFill>
                <a:latin typeface="Roboto Light"/>
              </a:defRPr>
            </a:pPr>
            <a:r>
              <a:rPr dirty="0"/>
              <a:t>• focuses training on hard/subtle deepfakes</a:t>
            </a:r>
          </a:p>
        </p:txBody>
      </p:sp>
      <p:sp>
        <p:nvSpPr>
          <p:cNvPr id="9" name="Rounded Rectangle 8"/>
          <p:cNvSpPr/>
          <p:nvPr/>
        </p:nvSpPr>
        <p:spPr>
          <a:xfrm>
            <a:off x="4754880" y="2015095"/>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3005" y="2121268"/>
            <a:ext cx="3749040" cy="320040"/>
          </a:xfrm>
          <a:prstGeom prst="rect">
            <a:avLst/>
          </a:prstGeom>
          <a:noFill/>
        </p:spPr>
        <p:txBody>
          <a:bodyPr wrap="square">
            <a:spAutoFit/>
          </a:bodyPr>
          <a:lstStyle/>
          <a:p>
            <a:pPr algn="l">
              <a:defRPr sz="1400" b="1">
                <a:solidFill>
                  <a:srgbClr val="00B894"/>
                </a:solidFill>
                <a:latin typeface="Poppins Light"/>
              </a:defRPr>
            </a:pPr>
            <a:r>
              <a:rPr dirty="0"/>
              <a:t>Optimization Strategy</a:t>
            </a:r>
          </a:p>
        </p:txBody>
      </p:sp>
      <p:sp>
        <p:nvSpPr>
          <p:cNvPr id="11" name="TextBox 10"/>
          <p:cNvSpPr txBox="1"/>
          <p:nvPr/>
        </p:nvSpPr>
        <p:spPr>
          <a:xfrm>
            <a:off x="4893005" y="2366965"/>
            <a:ext cx="3749040" cy="2018501"/>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Optimizer: </a:t>
            </a:r>
            <a:r>
              <a:rPr dirty="0" err="1"/>
              <a:t>AdamW</a:t>
            </a:r>
            <a:r>
              <a:rPr dirty="0"/>
              <a:t> (decoupled weight decay)</a:t>
            </a:r>
          </a:p>
          <a:p>
            <a:pPr>
              <a:spcBef>
                <a:spcPts val="200"/>
              </a:spcBef>
              <a:spcAft>
                <a:spcPts val="300"/>
              </a:spcAft>
              <a:defRPr sz="1200">
                <a:solidFill>
                  <a:srgbClr val="333333"/>
                </a:solidFill>
                <a:latin typeface="Roboto Light"/>
              </a:defRPr>
            </a:pPr>
            <a:r>
              <a:rPr dirty="0"/>
              <a:t>• Differential LR: backbone vs. rest</a:t>
            </a:r>
          </a:p>
          <a:p>
            <a:pPr>
              <a:spcBef>
                <a:spcPts val="200"/>
              </a:spcBef>
              <a:spcAft>
                <a:spcPts val="300"/>
              </a:spcAft>
              <a:defRPr sz="1200">
                <a:solidFill>
                  <a:srgbClr val="333333"/>
                </a:solidFill>
                <a:latin typeface="Roboto Light"/>
              </a:defRPr>
            </a:pPr>
            <a:r>
              <a:rPr dirty="0"/>
              <a:t>• Cosine annealing with warm restarts</a:t>
            </a:r>
          </a:p>
          <a:p>
            <a:pPr>
              <a:spcBef>
                <a:spcPts val="200"/>
              </a:spcBef>
              <a:spcAft>
                <a:spcPts val="300"/>
              </a:spcAft>
              <a:defRPr sz="1200">
                <a:solidFill>
                  <a:srgbClr val="333333"/>
                </a:solidFill>
                <a:latin typeface="Roboto Light"/>
              </a:defRPr>
            </a:pPr>
            <a:r>
              <a:rPr dirty="0"/>
              <a:t>• Gradient clipping: max norm 1.0</a:t>
            </a:r>
          </a:p>
          <a:p>
            <a:pPr>
              <a:spcBef>
                <a:spcPts val="200"/>
              </a:spcBef>
              <a:spcAft>
                <a:spcPts val="300"/>
              </a:spcAft>
              <a:defRPr sz="1200">
                <a:solidFill>
                  <a:srgbClr val="333333"/>
                </a:solidFill>
                <a:latin typeface="Roboto Light"/>
              </a:defRPr>
            </a:pPr>
            <a:r>
              <a:rPr dirty="0"/>
              <a:t>• Mixed precision (FP16/FP32) via AMP</a:t>
            </a:r>
          </a:p>
          <a:p>
            <a:pPr>
              <a:spcBef>
                <a:spcPts val="200"/>
              </a:spcBef>
              <a:spcAft>
                <a:spcPts val="300"/>
              </a:spcAft>
              <a:defRPr sz="1200">
                <a:solidFill>
                  <a:srgbClr val="333333"/>
                </a:solidFill>
                <a:latin typeface="Roboto Light"/>
              </a:defRPr>
            </a:pPr>
            <a:r>
              <a:rPr dirty="0"/>
              <a:t>• GradScaler for loss scaling in AMP</a:t>
            </a:r>
          </a:p>
          <a:p>
            <a:pPr>
              <a:spcBef>
                <a:spcPts val="200"/>
              </a:spcBef>
              <a:spcAft>
                <a:spcPts val="300"/>
              </a:spcAft>
              <a:defRPr sz="1200">
                <a:solidFill>
                  <a:srgbClr val="333333"/>
                </a:solidFill>
                <a:latin typeface="Roboto Light"/>
              </a:defRPr>
            </a:pPr>
            <a:r>
              <a:rPr dirty="0"/>
              <a:t>• Early stopping: 8 epochs patience</a:t>
            </a:r>
          </a:p>
          <a:p>
            <a:pPr>
              <a:spcBef>
                <a:spcPts val="200"/>
              </a:spcBef>
              <a:spcAft>
                <a:spcPts val="300"/>
              </a:spcAft>
              <a:defRPr sz="1200">
                <a:solidFill>
                  <a:srgbClr val="333333"/>
                </a:solidFill>
                <a:latin typeface="Roboto Light"/>
              </a:defRPr>
            </a:pPr>
            <a:r>
              <a:rPr dirty="0"/>
              <a:t>• Best model saved on </a:t>
            </a:r>
            <a:r>
              <a:rPr dirty="0" err="1"/>
              <a:t>val</a:t>
            </a:r>
            <a:r>
              <a:rPr dirty="0"/>
              <a:t> accuracy</a:t>
            </a:r>
          </a:p>
        </p:txBody>
      </p:sp>
      <p:sp>
        <p:nvSpPr>
          <p:cNvPr id="12" name="Rounded Rectangle 11"/>
          <p:cNvSpPr/>
          <p:nvPr/>
        </p:nvSpPr>
        <p:spPr>
          <a:xfrm>
            <a:off x="365760" y="4956048"/>
            <a:ext cx="8412480" cy="914400"/>
          </a:xfrm>
          <a:prstGeom prst="roundRect">
            <a:avLst/>
          </a:prstGeom>
          <a:solidFill>
            <a:srgbClr val="E8F4FD"/>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3427" y="4987878"/>
            <a:ext cx="7863840" cy="731520"/>
          </a:xfrm>
          <a:prstGeom prst="rect">
            <a:avLst/>
          </a:prstGeom>
          <a:noFill/>
        </p:spPr>
        <p:txBody>
          <a:bodyPr wrap="square">
            <a:spAutoFit/>
          </a:bodyPr>
          <a:lstStyle/>
          <a:p>
            <a:pPr algn="l">
              <a:defRPr sz="1200" b="0">
                <a:solidFill>
                  <a:srgbClr val="1B3A5C"/>
                </a:solidFill>
                <a:latin typeface="Roboto Light"/>
              </a:defRPr>
            </a:pPr>
            <a:r>
              <a:rPr dirty="0"/>
              <a:t>Key Design Decision: The combined loss addresses the dual challenge of class imbalance (more fake than real videos) and varying difficulty (some deepfakes are obvious while others are extremely subtle). Focal loss ensures the model doesn't plateau on easy examples and continues learning from the hardest cases.</a:t>
            </a:r>
          </a:p>
        </p:txBody>
      </p:sp>
      <p:sp>
        <p:nvSpPr>
          <p:cNvPr id="14" name="TextBox 13"/>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10/22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Implementation Details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Code Architecture &amp; Modules</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76370" y="1453896"/>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484928"/>
            <a:ext cx="1963308" cy="252431"/>
          </a:xfrm>
          <a:prstGeom prst="rect">
            <a:avLst/>
          </a:prstGeom>
          <a:noFill/>
        </p:spPr>
        <p:txBody>
          <a:bodyPr wrap="square">
            <a:spAutoFit/>
          </a:bodyPr>
          <a:lstStyle/>
          <a:p>
            <a:pPr algn="l">
              <a:defRPr sz="1000" b="1">
                <a:solidFill>
                  <a:srgbClr val="2E86AB"/>
                </a:solidFill>
                <a:latin typeface="Consolas"/>
              </a:defRPr>
            </a:pPr>
            <a:r>
              <a:t>models/backbone.py</a:t>
            </a:r>
          </a:p>
        </p:txBody>
      </p:sp>
      <p:sp>
        <p:nvSpPr>
          <p:cNvPr id="8" name="TextBox 7"/>
          <p:cNvSpPr txBox="1"/>
          <p:nvPr/>
        </p:nvSpPr>
        <p:spPr>
          <a:xfrm>
            <a:off x="2651760" y="1484928"/>
            <a:ext cx="5633839" cy="252431"/>
          </a:xfrm>
          <a:prstGeom prst="rect">
            <a:avLst/>
          </a:prstGeom>
          <a:noFill/>
        </p:spPr>
        <p:txBody>
          <a:bodyPr wrap="square">
            <a:spAutoFit/>
          </a:bodyPr>
          <a:lstStyle/>
          <a:p>
            <a:pPr algn="l">
              <a:defRPr sz="1000" b="0">
                <a:solidFill>
                  <a:srgbClr val="333333"/>
                </a:solidFill>
                <a:latin typeface="Roboto Light"/>
              </a:defRPr>
            </a:pPr>
            <a:r>
              <a:t>SpatialBackbone — ResNeXt-50 + CBAM feature extraction, freeze/unfreeze for two-phase training</a:t>
            </a:r>
          </a:p>
        </p:txBody>
      </p:sp>
      <p:sp>
        <p:nvSpPr>
          <p:cNvPr id="9" name="Rectangle 8"/>
          <p:cNvSpPr/>
          <p:nvPr/>
        </p:nvSpPr>
        <p:spPr>
          <a:xfrm>
            <a:off x="365760" y="1888294"/>
            <a:ext cx="7853230" cy="3245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914696"/>
            <a:ext cx="1963308" cy="252431"/>
          </a:xfrm>
          <a:prstGeom prst="rect">
            <a:avLst/>
          </a:prstGeom>
          <a:noFill/>
        </p:spPr>
        <p:txBody>
          <a:bodyPr wrap="square">
            <a:spAutoFit/>
          </a:bodyPr>
          <a:lstStyle/>
          <a:p>
            <a:pPr algn="l">
              <a:defRPr sz="1000" b="1">
                <a:solidFill>
                  <a:srgbClr val="2E86AB"/>
                </a:solidFill>
                <a:latin typeface="Consolas"/>
              </a:defRPr>
            </a:pPr>
            <a:r>
              <a:t>models/cbam.py</a:t>
            </a:r>
          </a:p>
        </p:txBody>
      </p:sp>
      <p:sp>
        <p:nvSpPr>
          <p:cNvPr id="11" name="TextBox 10"/>
          <p:cNvSpPr txBox="1"/>
          <p:nvPr/>
        </p:nvSpPr>
        <p:spPr>
          <a:xfrm>
            <a:off x="2651760" y="1914696"/>
            <a:ext cx="5633839" cy="252431"/>
          </a:xfrm>
          <a:prstGeom prst="rect">
            <a:avLst/>
          </a:prstGeom>
          <a:noFill/>
        </p:spPr>
        <p:txBody>
          <a:bodyPr wrap="square">
            <a:spAutoFit/>
          </a:bodyPr>
          <a:lstStyle/>
          <a:p>
            <a:pPr algn="l">
              <a:defRPr sz="1000" b="0">
                <a:solidFill>
                  <a:srgbClr val="333333"/>
                </a:solidFill>
                <a:latin typeface="Roboto Light"/>
              </a:defRPr>
            </a:pPr>
            <a:r>
              <a:t>CBAM module — ChannelAttention + SpatialAttention with configurable reduction ratio</a:t>
            </a:r>
          </a:p>
        </p:txBody>
      </p:sp>
      <p:sp>
        <p:nvSpPr>
          <p:cNvPr id="12" name="Rectangle 11"/>
          <p:cNvSpPr/>
          <p:nvPr/>
        </p:nvSpPr>
        <p:spPr>
          <a:xfrm>
            <a:off x="365760" y="2318062"/>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2344464"/>
            <a:ext cx="1963308" cy="252431"/>
          </a:xfrm>
          <a:prstGeom prst="rect">
            <a:avLst/>
          </a:prstGeom>
          <a:noFill/>
        </p:spPr>
        <p:txBody>
          <a:bodyPr wrap="square">
            <a:spAutoFit/>
          </a:bodyPr>
          <a:lstStyle/>
          <a:p>
            <a:pPr algn="l">
              <a:defRPr sz="1000" b="1">
                <a:solidFill>
                  <a:srgbClr val="2E86AB"/>
                </a:solidFill>
                <a:latin typeface="Consolas"/>
              </a:defRPr>
            </a:pPr>
            <a:r>
              <a:t>models/temporal.py</a:t>
            </a:r>
          </a:p>
        </p:txBody>
      </p:sp>
      <p:sp>
        <p:nvSpPr>
          <p:cNvPr id="14" name="TextBox 13"/>
          <p:cNvSpPr txBox="1"/>
          <p:nvPr/>
        </p:nvSpPr>
        <p:spPr>
          <a:xfrm>
            <a:off x="2651760" y="2344464"/>
            <a:ext cx="5633839" cy="252431"/>
          </a:xfrm>
          <a:prstGeom prst="rect">
            <a:avLst/>
          </a:prstGeom>
          <a:noFill/>
        </p:spPr>
        <p:txBody>
          <a:bodyPr wrap="square">
            <a:spAutoFit/>
          </a:bodyPr>
          <a:lstStyle/>
          <a:p>
            <a:pPr algn="l">
              <a:defRPr sz="1000" b="0">
                <a:solidFill>
                  <a:srgbClr val="333333"/>
                </a:solidFill>
                <a:latin typeface="Roboto Light"/>
              </a:defRPr>
            </a:pPr>
            <a:r>
              <a:t>TemporalModel — BiLSTM with LayerNorm, configurable layers/hidden/dropout</a:t>
            </a:r>
          </a:p>
        </p:txBody>
      </p:sp>
      <p:sp>
        <p:nvSpPr>
          <p:cNvPr id="15" name="Rectangle 14"/>
          <p:cNvSpPr/>
          <p:nvPr/>
        </p:nvSpPr>
        <p:spPr>
          <a:xfrm>
            <a:off x="365760" y="2747830"/>
            <a:ext cx="7853230" cy="3245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2774232"/>
            <a:ext cx="1963308" cy="252431"/>
          </a:xfrm>
          <a:prstGeom prst="rect">
            <a:avLst/>
          </a:prstGeom>
          <a:noFill/>
        </p:spPr>
        <p:txBody>
          <a:bodyPr wrap="square">
            <a:spAutoFit/>
          </a:bodyPr>
          <a:lstStyle/>
          <a:p>
            <a:pPr algn="l">
              <a:defRPr sz="1000" b="1">
                <a:solidFill>
                  <a:srgbClr val="2E86AB"/>
                </a:solidFill>
                <a:latin typeface="Consolas"/>
              </a:defRPr>
            </a:pPr>
            <a:r>
              <a:t>model.py</a:t>
            </a:r>
          </a:p>
        </p:txBody>
      </p:sp>
      <p:sp>
        <p:nvSpPr>
          <p:cNvPr id="17" name="TextBox 16"/>
          <p:cNvSpPr txBox="1"/>
          <p:nvPr/>
        </p:nvSpPr>
        <p:spPr>
          <a:xfrm>
            <a:off x="2651760" y="2774232"/>
            <a:ext cx="5633839" cy="252431"/>
          </a:xfrm>
          <a:prstGeom prst="rect">
            <a:avLst/>
          </a:prstGeom>
          <a:noFill/>
        </p:spPr>
        <p:txBody>
          <a:bodyPr wrap="square">
            <a:spAutoFit/>
          </a:bodyPr>
          <a:lstStyle/>
          <a:p>
            <a:pPr algn="l">
              <a:defRPr sz="1000" b="0">
                <a:solidFill>
                  <a:srgbClr val="333333"/>
                </a:solidFill>
                <a:latin typeface="Roboto Light"/>
              </a:defRPr>
            </a:pPr>
            <a:r>
              <a:t>DeepfakeDetector — End-to-end model integrating all three stages</a:t>
            </a:r>
          </a:p>
        </p:txBody>
      </p:sp>
      <p:sp>
        <p:nvSpPr>
          <p:cNvPr id="18" name="Rectangle 17"/>
          <p:cNvSpPr/>
          <p:nvPr/>
        </p:nvSpPr>
        <p:spPr>
          <a:xfrm>
            <a:off x="365760" y="3177598"/>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3204000"/>
            <a:ext cx="1963308" cy="252431"/>
          </a:xfrm>
          <a:prstGeom prst="rect">
            <a:avLst/>
          </a:prstGeom>
          <a:noFill/>
        </p:spPr>
        <p:txBody>
          <a:bodyPr wrap="square">
            <a:spAutoFit/>
          </a:bodyPr>
          <a:lstStyle/>
          <a:p>
            <a:pPr algn="l">
              <a:defRPr sz="1000" b="1">
                <a:solidFill>
                  <a:srgbClr val="2E86AB"/>
                </a:solidFill>
                <a:latin typeface="Consolas"/>
              </a:defRPr>
            </a:pPr>
            <a:r>
              <a:t>preprocessing/</a:t>
            </a:r>
          </a:p>
        </p:txBody>
      </p:sp>
      <p:sp>
        <p:nvSpPr>
          <p:cNvPr id="20" name="TextBox 19"/>
          <p:cNvSpPr txBox="1"/>
          <p:nvPr/>
        </p:nvSpPr>
        <p:spPr>
          <a:xfrm>
            <a:off x="2651760" y="3204000"/>
            <a:ext cx="5633839" cy="252431"/>
          </a:xfrm>
          <a:prstGeom prst="rect">
            <a:avLst/>
          </a:prstGeom>
          <a:noFill/>
        </p:spPr>
        <p:txBody>
          <a:bodyPr wrap="square">
            <a:spAutoFit/>
          </a:bodyPr>
          <a:lstStyle/>
          <a:p>
            <a:pPr algn="l">
              <a:defRPr sz="1000" b="0">
                <a:solidFill>
                  <a:srgbClr val="333333"/>
                </a:solidFill>
                <a:latin typeface="Roboto Light"/>
              </a:defRPr>
            </a:pPr>
            <a:r>
              <a:t>face_detector.py, face_aligner.py, frame_sampler.py, augmentation.py, pipeline.py</a:t>
            </a:r>
          </a:p>
        </p:txBody>
      </p:sp>
      <p:sp>
        <p:nvSpPr>
          <p:cNvPr id="21" name="Rectangle 20"/>
          <p:cNvSpPr/>
          <p:nvPr/>
        </p:nvSpPr>
        <p:spPr>
          <a:xfrm>
            <a:off x="365760" y="3607366"/>
            <a:ext cx="7853230" cy="3245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3633768"/>
            <a:ext cx="1963308" cy="252431"/>
          </a:xfrm>
          <a:prstGeom prst="rect">
            <a:avLst/>
          </a:prstGeom>
          <a:noFill/>
        </p:spPr>
        <p:txBody>
          <a:bodyPr wrap="square">
            <a:spAutoFit/>
          </a:bodyPr>
          <a:lstStyle/>
          <a:p>
            <a:pPr algn="l">
              <a:defRPr sz="1000" b="1">
                <a:solidFill>
                  <a:srgbClr val="2E86AB"/>
                </a:solidFill>
                <a:latin typeface="Consolas"/>
              </a:defRPr>
            </a:pPr>
            <a:r>
              <a:t>training/trainer.py</a:t>
            </a:r>
          </a:p>
        </p:txBody>
      </p:sp>
      <p:sp>
        <p:nvSpPr>
          <p:cNvPr id="23" name="TextBox 22"/>
          <p:cNvSpPr txBox="1"/>
          <p:nvPr/>
        </p:nvSpPr>
        <p:spPr>
          <a:xfrm>
            <a:off x="2651760" y="3633768"/>
            <a:ext cx="5633839" cy="252431"/>
          </a:xfrm>
          <a:prstGeom prst="rect">
            <a:avLst/>
          </a:prstGeom>
          <a:noFill/>
        </p:spPr>
        <p:txBody>
          <a:bodyPr wrap="square">
            <a:spAutoFit/>
          </a:bodyPr>
          <a:lstStyle/>
          <a:p>
            <a:pPr algn="l">
              <a:defRPr sz="1000" b="0">
                <a:solidFill>
                  <a:srgbClr val="333333"/>
                </a:solidFill>
                <a:latin typeface="Roboto Light"/>
              </a:defRPr>
            </a:pPr>
            <a:r>
              <a:t>Trainer class — Two-phase training, AMP, early stopping, checkpointing</a:t>
            </a:r>
          </a:p>
        </p:txBody>
      </p:sp>
      <p:sp>
        <p:nvSpPr>
          <p:cNvPr id="24" name="Rectangle 23"/>
          <p:cNvSpPr/>
          <p:nvPr/>
        </p:nvSpPr>
        <p:spPr>
          <a:xfrm>
            <a:off x="365760" y="4037134"/>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57200" y="4063536"/>
            <a:ext cx="1963308" cy="252431"/>
          </a:xfrm>
          <a:prstGeom prst="rect">
            <a:avLst/>
          </a:prstGeom>
          <a:noFill/>
        </p:spPr>
        <p:txBody>
          <a:bodyPr wrap="square">
            <a:spAutoFit/>
          </a:bodyPr>
          <a:lstStyle/>
          <a:p>
            <a:pPr algn="l">
              <a:defRPr sz="1000" b="1">
                <a:solidFill>
                  <a:srgbClr val="2E86AB"/>
                </a:solidFill>
                <a:latin typeface="Consolas"/>
              </a:defRPr>
            </a:pPr>
            <a:r>
              <a:t>training/losses.py</a:t>
            </a:r>
          </a:p>
        </p:txBody>
      </p:sp>
      <p:sp>
        <p:nvSpPr>
          <p:cNvPr id="26" name="TextBox 25"/>
          <p:cNvSpPr txBox="1"/>
          <p:nvPr/>
        </p:nvSpPr>
        <p:spPr>
          <a:xfrm>
            <a:off x="2651760" y="4063536"/>
            <a:ext cx="5633839" cy="252431"/>
          </a:xfrm>
          <a:prstGeom prst="rect">
            <a:avLst/>
          </a:prstGeom>
          <a:noFill/>
        </p:spPr>
        <p:txBody>
          <a:bodyPr wrap="square">
            <a:spAutoFit/>
          </a:bodyPr>
          <a:lstStyle/>
          <a:p>
            <a:pPr algn="l">
              <a:defRPr sz="1000" b="0">
                <a:solidFill>
                  <a:srgbClr val="333333"/>
                </a:solidFill>
                <a:latin typeface="Roboto Light"/>
              </a:defRPr>
            </a:pPr>
            <a:r>
              <a:t>FocalLoss + CombinedLoss (0.5 CE + 0.5 Focal)</a:t>
            </a:r>
          </a:p>
        </p:txBody>
      </p:sp>
      <p:sp>
        <p:nvSpPr>
          <p:cNvPr id="27" name="Rectangle 26"/>
          <p:cNvSpPr/>
          <p:nvPr/>
        </p:nvSpPr>
        <p:spPr>
          <a:xfrm>
            <a:off x="365760" y="4466902"/>
            <a:ext cx="7853230" cy="3245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4493304"/>
            <a:ext cx="1963308" cy="252431"/>
          </a:xfrm>
          <a:prstGeom prst="rect">
            <a:avLst/>
          </a:prstGeom>
          <a:noFill/>
        </p:spPr>
        <p:txBody>
          <a:bodyPr wrap="square">
            <a:spAutoFit/>
          </a:bodyPr>
          <a:lstStyle/>
          <a:p>
            <a:pPr algn="l">
              <a:defRPr sz="1000" b="1">
                <a:solidFill>
                  <a:srgbClr val="2E86AB"/>
                </a:solidFill>
                <a:latin typeface="Consolas"/>
              </a:defRPr>
            </a:pPr>
            <a:r>
              <a:t>evaluation/metrics.py</a:t>
            </a:r>
          </a:p>
        </p:txBody>
      </p:sp>
      <p:sp>
        <p:nvSpPr>
          <p:cNvPr id="29" name="TextBox 28"/>
          <p:cNvSpPr txBox="1"/>
          <p:nvPr/>
        </p:nvSpPr>
        <p:spPr>
          <a:xfrm>
            <a:off x="2651760" y="4493304"/>
            <a:ext cx="5633839" cy="252431"/>
          </a:xfrm>
          <a:prstGeom prst="rect">
            <a:avLst/>
          </a:prstGeom>
          <a:noFill/>
        </p:spPr>
        <p:txBody>
          <a:bodyPr wrap="square">
            <a:spAutoFit/>
          </a:bodyPr>
          <a:lstStyle/>
          <a:p>
            <a:pPr algn="l">
              <a:defRPr sz="1000" b="0">
                <a:solidFill>
                  <a:srgbClr val="333333"/>
                </a:solidFill>
                <a:latin typeface="Roboto Light"/>
              </a:defRPr>
            </a:pPr>
            <a:r>
              <a:t>Accuracy, F1, AUC, EER, Log Loss, confusion matrix, classification report</a:t>
            </a:r>
          </a:p>
        </p:txBody>
      </p:sp>
      <p:sp>
        <p:nvSpPr>
          <p:cNvPr id="30" name="Rectangle 29"/>
          <p:cNvSpPr/>
          <p:nvPr/>
        </p:nvSpPr>
        <p:spPr>
          <a:xfrm>
            <a:off x="365760" y="4896670"/>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4923072"/>
            <a:ext cx="1963308" cy="252431"/>
          </a:xfrm>
          <a:prstGeom prst="rect">
            <a:avLst/>
          </a:prstGeom>
          <a:noFill/>
        </p:spPr>
        <p:txBody>
          <a:bodyPr wrap="square">
            <a:spAutoFit/>
          </a:bodyPr>
          <a:lstStyle/>
          <a:p>
            <a:pPr algn="l">
              <a:defRPr sz="1000" b="1">
                <a:solidFill>
                  <a:srgbClr val="2E86AB"/>
                </a:solidFill>
                <a:latin typeface="Consolas"/>
              </a:defRPr>
            </a:pPr>
            <a:r>
              <a:t>evaluation/visualize.py</a:t>
            </a:r>
          </a:p>
        </p:txBody>
      </p:sp>
      <p:sp>
        <p:nvSpPr>
          <p:cNvPr id="32" name="TextBox 31"/>
          <p:cNvSpPr txBox="1"/>
          <p:nvPr/>
        </p:nvSpPr>
        <p:spPr>
          <a:xfrm>
            <a:off x="2651760" y="4923072"/>
            <a:ext cx="5633839" cy="252431"/>
          </a:xfrm>
          <a:prstGeom prst="rect">
            <a:avLst/>
          </a:prstGeom>
          <a:noFill/>
        </p:spPr>
        <p:txBody>
          <a:bodyPr wrap="square">
            <a:spAutoFit/>
          </a:bodyPr>
          <a:lstStyle/>
          <a:p>
            <a:pPr algn="l">
              <a:defRPr sz="1000" b="0">
                <a:solidFill>
                  <a:srgbClr val="333333"/>
                </a:solidFill>
                <a:latin typeface="Roboto Light"/>
              </a:defRPr>
            </a:pPr>
            <a:r>
              <a:t>ROC curves, attention map visualization, training curves</a:t>
            </a:r>
          </a:p>
        </p:txBody>
      </p:sp>
      <p:sp>
        <p:nvSpPr>
          <p:cNvPr id="33" name="Rectangle 32"/>
          <p:cNvSpPr/>
          <p:nvPr/>
        </p:nvSpPr>
        <p:spPr>
          <a:xfrm>
            <a:off x="365760" y="5326438"/>
            <a:ext cx="7853230" cy="3245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57200" y="5352840"/>
            <a:ext cx="1963308" cy="252431"/>
          </a:xfrm>
          <a:prstGeom prst="rect">
            <a:avLst/>
          </a:prstGeom>
          <a:noFill/>
        </p:spPr>
        <p:txBody>
          <a:bodyPr wrap="square">
            <a:spAutoFit/>
          </a:bodyPr>
          <a:lstStyle/>
          <a:p>
            <a:pPr algn="l">
              <a:defRPr sz="1000" b="1">
                <a:solidFill>
                  <a:srgbClr val="2E86AB"/>
                </a:solidFill>
                <a:latin typeface="Consolas"/>
              </a:defRPr>
            </a:pPr>
            <a:r>
              <a:t>app/api.py</a:t>
            </a:r>
          </a:p>
        </p:txBody>
      </p:sp>
      <p:sp>
        <p:nvSpPr>
          <p:cNvPr id="35" name="TextBox 34"/>
          <p:cNvSpPr txBox="1"/>
          <p:nvPr/>
        </p:nvSpPr>
        <p:spPr>
          <a:xfrm>
            <a:off x="2651760" y="5352840"/>
            <a:ext cx="5633839" cy="252431"/>
          </a:xfrm>
          <a:prstGeom prst="rect">
            <a:avLst/>
          </a:prstGeom>
          <a:noFill/>
        </p:spPr>
        <p:txBody>
          <a:bodyPr wrap="square">
            <a:spAutoFit/>
          </a:bodyPr>
          <a:lstStyle/>
          <a:p>
            <a:pPr algn="l">
              <a:defRPr sz="1000" b="0">
                <a:solidFill>
                  <a:srgbClr val="333333"/>
                </a:solidFill>
                <a:latin typeface="Roboto Light"/>
              </a:defRPr>
            </a:pPr>
            <a:r>
              <a:t>FastAPI backend — /predict endpoint, video upload, inference pipeline</a:t>
            </a:r>
          </a:p>
        </p:txBody>
      </p:sp>
      <p:sp>
        <p:nvSpPr>
          <p:cNvPr id="36" name="Rectangle 35"/>
          <p:cNvSpPr/>
          <p:nvPr/>
        </p:nvSpPr>
        <p:spPr>
          <a:xfrm>
            <a:off x="365760" y="5756206"/>
            <a:ext cx="7853230" cy="324554"/>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7200" y="5782608"/>
            <a:ext cx="1963308" cy="252431"/>
          </a:xfrm>
          <a:prstGeom prst="rect">
            <a:avLst/>
          </a:prstGeom>
          <a:noFill/>
        </p:spPr>
        <p:txBody>
          <a:bodyPr wrap="square">
            <a:spAutoFit/>
          </a:bodyPr>
          <a:lstStyle/>
          <a:p>
            <a:pPr algn="l">
              <a:defRPr sz="1000" b="1">
                <a:solidFill>
                  <a:srgbClr val="2E86AB"/>
                </a:solidFill>
                <a:latin typeface="Consolas"/>
              </a:defRPr>
            </a:pPr>
            <a:r>
              <a:t>frontend/</a:t>
            </a:r>
          </a:p>
        </p:txBody>
      </p:sp>
      <p:sp>
        <p:nvSpPr>
          <p:cNvPr id="38" name="TextBox 37"/>
          <p:cNvSpPr txBox="1"/>
          <p:nvPr/>
        </p:nvSpPr>
        <p:spPr>
          <a:xfrm>
            <a:off x="2651760" y="5782608"/>
            <a:ext cx="5633839" cy="252431"/>
          </a:xfrm>
          <a:prstGeom prst="rect">
            <a:avLst/>
          </a:prstGeom>
          <a:noFill/>
        </p:spPr>
        <p:txBody>
          <a:bodyPr wrap="square">
            <a:spAutoFit/>
          </a:bodyPr>
          <a:lstStyle/>
          <a:p>
            <a:pPr algn="l">
              <a:defRPr sz="1000" b="0">
                <a:solidFill>
                  <a:srgbClr val="333333"/>
                </a:solidFill>
                <a:latin typeface="Roboto Light"/>
              </a:defRPr>
            </a:pPr>
            <a:r>
              <a:t>Single-page HTML app with drag-and-drop upload, result visualization</a:t>
            </a:r>
          </a:p>
        </p:txBody>
      </p:sp>
      <p:sp>
        <p:nvSpPr>
          <p:cNvPr id="39" name="TextBox 38"/>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11/22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Implementation Details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Core Model Architecture (Code)</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65760" y="1371600"/>
            <a:ext cx="8473440" cy="5486400"/>
          </a:xfrm>
          <a:prstGeom prst="roundRect">
            <a:avLst/>
          </a:prstGeom>
          <a:solidFill>
            <a:srgbClr val="1E1E2E"/>
          </a:solidFill>
          <a:ln w="12700">
            <a:solidFill>
              <a:srgbClr val="4444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1554480"/>
            <a:ext cx="7863840" cy="4663440"/>
          </a:xfrm>
          <a:prstGeom prst="rect">
            <a:avLst/>
          </a:prstGeom>
          <a:noFill/>
        </p:spPr>
        <p:txBody>
          <a:bodyPr wrap="square">
            <a:spAutoFit/>
          </a:bodyPr>
          <a:lstStyle/>
          <a:p>
            <a:pPr>
              <a:spcBef>
                <a:spcPts val="0"/>
              </a:spcBef>
              <a:spcAft>
                <a:spcPts val="100"/>
              </a:spcAft>
              <a:defRPr sz="1100">
                <a:solidFill>
                  <a:srgbClr val="CCDDEE"/>
                </a:solidFill>
                <a:latin typeface="Consolas"/>
              </a:defRPr>
            </a:pPr>
            <a:r>
              <a:rPr dirty="0"/>
              <a:t>class </a:t>
            </a:r>
            <a:r>
              <a:rPr dirty="0" err="1"/>
              <a:t>DeepfakeDetector</a:t>
            </a:r>
            <a:r>
              <a:rPr dirty="0"/>
              <a:t>(</a:t>
            </a:r>
            <a:r>
              <a:rPr dirty="0" err="1"/>
              <a:t>nn.Module</a:t>
            </a:r>
            <a:r>
              <a:rPr dirty="0"/>
              <a:t>):</a:t>
            </a:r>
          </a:p>
          <a:p>
            <a:pPr>
              <a:spcBef>
                <a:spcPts val="0"/>
              </a:spcBef>
              <a:spcAft>
                <a:spcPts val="100"/>
              </a:spcAft>
              <a:defRPr sz="1100">
                <a:solidFill>
                  <a:srgbClr val="CCDDEE"/>
                </a:solidFill>
                <a:latin typeface="Consolas"/>
              </a:defRPr>
            </a:pPr>
            <a:r>
              <a:rPr dirty="0"/>
              <a:t>    """End-to-end deepfake detection: </a:t>
            </a:r>
            <a:r>
              <a:rPr dirty="0" err="1"/>
              <a:t>ResNeXt</a:t>
            </a:r>
            <a:r>
              <a:rPr dirty="0"/>
              <a:t> + CBAM + </a:t>
            </a:r>
            <a:r>
              <a:rPr dirty="0" err="1"/>
              <a:t>BiLSTM</a:t>
            </a:r>
            <a:r>
              <a:rPr dirty="0"/>
              <a:t> + classifier."""</a:t>
            </a:r>
          </a:p>
          <a:p>
            <a:pPr>
              <a:spcBef>
                <a:spcPts val="0"/>
              </a:spcBef>
              <a:spcAft>
                <a:spcPts val="100"/>
              </a:spcAft>
              <a:defRPr sz="1100">
                <a:solidFill>
                  <a:srgbClr val="CCDDEE"/>
                </a:solidFill>
                <a:latin typeface="Consolas"/>
              </a:defRPr>
            </a:pPr>
            <a:endParaRPr dirty="0"/>
          </a:p>
          <a:p>
            <a:pPr>
              <a:spcBef>
                <a:spcPts val="0"/>
              </a:spcBef>
              <a:spcAft>
                <a:spcPts val="100"/>
              </a:spcAft>
              <a:defRPr sz="1100">
                <a:solidFill>
                  <a:srgbClr val="CCDDEE"/>
                </a:solidFill>
                <a:latin typeface="Consolas"/>
              </a:defRPr>
            </a:pPr>
            <a:r>
              <a:rPr dirty="0"/>
              <a:t>    def __</a:t>
            </a:r>
            <a:r>
              <a:rPr dirty="0" err="1"/>
              <a:t>init</a:t>
            </a:r>
            <a:r>
              <a:rPr dirty="0"/>
              <a:t>__(self, </a:t>
            </a:r>
            <a:r>
              <a:rPr dirty="0" err="1"/>
              <a:t>cfg</a:t>
            </a:r>
            <a:r>
              <a:rPr dirty="0"/>
              <a:t>: </a:t>
            </a:r>
            <a:r>
              <a:rPr dirty="0" err="1"/>
              <a:t>ModelConfig</a:t>
            </a:r>
            <a:r>
              <a:rPr dirty="0"/>
              <a:t> = None):</a:t>
            </a:r>
          </a:p>
          <a:p>
            <a:pPr>
              <a:spcBef>
                <a:spcPts val="0"/>
              </a:spcBef>
              <a:spcAft>
                <a:spcPts val="100"/>
              </a:spcAft>
              <a:defRPr sz="1100">
                <a:solidFill>
                  <a:srgbClr val="CCDDEE"/>
                </a:solidFill>
                <a:latin typeface="Consolas"/>
              </a:defRPr>
            </a:pPr>
            <a:r>
              <a:rPr dirty="0"/>
              <a:t>        super().__</a:t>
            </a:r>
            <a:r>
              <a:rPr dirty="0" err="1"/>
              <a:t>init</a:t>
            </a:r>
            <a:r>
              <a:rPr dirty="0"/>
              <a:t>__()</a:t>
            </a:r>
          </a:p>
          <a:p>
            <a:pPr>
              <a:spcBef>
                <a:spcPts val="0"/>
              </a:spcBef>
              <a:spcAft>
                <a:spcPts val="100"/>
              </a:spcAft>
              <a:defRPr sz="1100">
                <a:solidFill>
                  <a:srgbClr val="CCDDEE"/>
                </a:solidFill>
                <a:latin typeface="Consolas"/>
              </a:defRPr>
            </a:pPr>
            <a:r>
              <a:rPr dirty="0"/>
              <a:t>        # Stage 1: Spatial feature extractor (per-frame)</a:t>
            </a:r>
          </a:p>
          <a:p>
            <a:pPr>
              <a:spcBef>
                <a:spcPts val="0"/>
              </a:spcBef>
              <a:spcAft>
                <a:spcPts val="100"/>
              </a:spcAft>
              <a:defRPr sz="1100">
                <a:solidFill>
                  <a:srgbClr val="CCDDEE"/>
                </a:solidFill>
                <a:latin typeface="Consolas"/>
              </a:defRPr>
            </a:pPr>
            <a:r>
              <a:rPr dirty="0"/>
              <a:t>        </a:t>
            </a:r>
            <a:r>
              <a:rPr dirty="0" err="1"/>
              <a:t>self.spatial</a:t>
            </a:r>
            <a:r>
              <a:rPr dirty="0"/>
              <a:t> = </a:t>
            </a:r>
            <a:r>
              <a:rPr dirty="0" err="1"/>
              <a:t>SpatialBackbone</a:t>
            </a:r>
            <a:r>
              <a:rPr dirty="0"/>
              <a:t>(</a:t>
            </a:r>
          </a:p>
          <a:p>
            <a:pPr>
              <a:spcBef>
                <a:spcPts val="0"/>
              </a:spcBef>
              <a:spcAft>
                <a:spcPts val="100"/>
              </a:spcAft>
              <a:defRPr sz="1100">
                <a:solidFill>
                  <a:srgbClr val="CCDDEE"/>
                </a:solidFill>
                <a:latin typeface="Consolas"/>
              </a:defRPr>
            </a:pPr>
            <a:r>
              <a:rPr dirty="0"/>
              <a:t>            </a:t>
            </a:r>
            <a:r>
              <a:rPr dirty="0" err="1"/>
              <a:t>model_name</a:t>
            </a:r>
            <a:r>
              <a:rPr dirty="0"/>
              <a:t>="resnext50_32x4d", pretrained=True,</a:t>
            </a:r>
          </a:p>
          <a:p>
            <a:pPr>
              <a:spcBef>
                <a:spcPts val="0"/>
              </a:spcBef>
              <a:spcAft>
                <a:spcPts val="100"/>
              </a:spcAft>
              <a:defRPr sz="1100">
                <a:solidFill>
                  <a:srgbClr val="CCDDEE"/>
                </a:solidFill>
                <a:latin typeface="Consolas"/>
              </a:defRPr>
            </a:pPr>
            <a:r>
              <a:rPr dirty="0"/>
              <a:t>            </a:t>
            </a:r>
            <a:r>
              <a:rPr dirty="0" err="1"/>
              <a:t>feature_dim</a:t>
            </a:r>
            <a:r>
              <a:rPr dirty="0"/>
              <a:t>=2048, </a:t>
            </a:r>
            <a:r>
              <a:rPr dirty="0" err="1"/>
              <a:t>cbam_reduction</a:t>
            </a:r>
            <a:r>
              <a:rPr dirty="0"/>
              <a:t>=16)</a:t>
            </a:r>
          </a:p>
          <a:p>
            <a:pPr>
              <a:spcBef>
                <a:spcPts val="0"/>
              </a:spcBef>
              <a:spcAft>
                <a:spcPts val="100"/>
              </a:spcAft>
              <a:defRPr sz="1100">
                <a:solidFill>
                  <a:srgbClr val="CCDDEE"/>
                </a:solidFill>
                <a:latin typeface="Consolas"/>
              </a:defRPr>
            </a:pPr>
            <a:endParaRPr dirty="0"/>
          </a:p>
          <a:p>
            <a:pPr>
              <a:spcBef>
                <a:spcPts val="0"/>
              </a:spcBef>
              <a:spcAft>
                <a:spcPts val="100"/>
              </a:spcAft>
              <a:defRPr sz="1100">
                <a:solidFill>
                  <a:srgbClr val="CCDDEE"/>
                </a:solidFill>
                <a:latin typeface="Consolas"/>
              </a:defRPr>
            </a:pPr>
            <a:r>
              <a:rPr dirty="0"/>
              <a:t>        # Stage 2: Temporal model (across frames)</a:t>
            </a:r>
          </a:p>
          <a:p>
            <a:pPr>
              <a:spcBef>
                <a:spcPts val="0"/>
              </a:spcBef>
              <a:spcAft>
                <a:spcPts val="100"/>
              </a:spcAft>
              <a:defRPr sz="1100">
                <a:solidFill>
                  <a:srgbClr val="CCDDEE"/>
                </a:solidFill>
                <a:latin typeface="Consolas"/>
              </a:defRPr>
            </a:pPr>
            <a:r>
              <a:rPr dirty="0"/>
              <a:t>        </a:t>
            </a:r>
            <a:r>
              <a:rPr dirty="0" err="1"/>
              <a:t>self.temporal</a:t>
            </a:r>
            <a:r>
              <a:rPr dirty="0"/>
              <a:t> = </a:t>
            </a:r>
            <a:r>
              <a:rPr dirty="0" err="1"/>
              <a:t>TemporalModel</a:t>
            </a:r>
            <a:r>
              <a:rPr dirty="0"/>
              <a:t>(</a:t>
            </a:r>
          </a:p>
          <a:p>
            <a:pPr>
              <a:spcBef>
                <a:spcPts val="0"/>
              </a:spcBef>
              <a:spcAft>
                <a:spcPts val="100"/>
              </a:spcAft>
              <a:defRPr sz="1100">
                <a:solidFill>
                  <a:srgbClr val="CCDDEE"/>
                </a:solidFill>
                <a:latin typeface="Consolas"/>
              </a:defRPr>
            </a:pPr>
            <a:r>
              <a:rPr dirty="0"/>
              <a:t>            </a:t>
            </a:r>
            <a:r>
              <a:rPr dirty="0" err="1"/>
              <a:t>input_dim</a:t>
            </a:r>
            <a:r>
              <a:rPr dirty="0"/>
              <a:t>=2048, </a:t>
            </a:r>
            <a:r>
              <a:rPr dirty="0" err="1"/>
              <a:t>hidden_dim</a:t>
            </a:r>
            <a:r>
              <a:rPr dirty="0"/>
              <a:t>=512,</a:t>
            </a:r>
          </a:p>
          <a:p>
            <a:pPr>
              <a:spcBef>
                <a:spcPts val="0"/>
              </a:spcBef>
              <a:spcAft>
                <a:spcPts val="100"/>
              </a:spcAft>
              <a:defRPr sz="1100">
                <a:solidFill>
                  <a:srgbClr val="CCDDEE"/>
                </a:solidFill>
                <a:latin typeface="Consolas"/>
              </a:defRPr>
            </a:pPr>
            <a:r>
              <a:rPr dirty="0"/>
              <a:t>            </a:t>
            </a:r>
            <a:r>
              <a:rPr dirty="0" err="1"/>
              <a:t>num_layers</a:t>
            </a:r>
            <a:r>
              <a:rPr dirty="0"/>
              <a:t>=2, dropout=0.3, bidirectional=True)</a:t>
            </a:r>
          </a:p>
          <a:p>
            <a:pPr>
              <a:spcBef>
                <a:spcPts val="0"/>
              </a:spcBef>
              <a:spcAft>
                <a:spcPts val="100"/>
              </a:spcAft>
              <a:defRPr sz="1100">
                <a:solidFill>
                  <a:srgbClr val="CCDDEE"/>
                </a:solidFill>
                <a:latin typeface="Consolas"/>
              </a:defRPr>
            </a:pPr>
            <a:endParaRPr dirty="0"/>
          </a:p>
          <a:p>
            <a:pPr>
              <a:spcBef>
                <a:spcPts val="0"/>
              </a:spcBef>
              <a:spcAft>
                <a:spcPts val="100"/>
              </a:spcAft>
              <a:defRPr sz="1100">
                <a:solidFill>
                  <a:srgbClr val="CCDDEE"/>
                </a:solidFill>
                <a:latin typeface="Consolas"/>
              </a:defRPr>
            </a:pPr>
            <a:r>
              <a:rPr dirty="0"/>
              <a:t>        # Stage 3: Classification head</a:t>
            </a:r>
          </a:p>
          <a:p>
            <a:pPr>
              <a:spcBef>
                <a:spcPts val="0"/>
              </a:spcBef>
              <a:spcAft>
                <a:spcPts val="100"/>
              </a:spcAft>
              <a:defRPr sz="1100">
                <a:solidFill>
                  <a:srgbClr val="CCDDEE"/>
                </a:solidFill>
                <a:latin typeface="Consolas"/>
              </a:defRPr>
            </a:pPr>
            <a:r>
              <a:rPr dirty="0"/>
              <a:t>        </a:t>
            </a:r>
            <a:r>
              <a:rPr dirty="0" err="1"/>
              <a:t>self.classifier</a:t>
            </a:r>
            <a:r>
              <a:rPr dirty="0"/>
              <a:t> = </a:t>
            </a:r>
            <a:r>
              <a:rPr dirty="0" err="1"/>
              <a:t>nn.Sequential</a:t>
            </a:r>
            <a:r>
              <a:rPr dirty="0"/>
              <a:t>(</a:t>
            </a:r>
          </a:p>
          <a:p>
            <a:pPr>
              <a:spcBef>
                <a:spcPts val="0"/>
              </a:spcBef>
              <a:spcAft>
                <a:spcPts val="100"/>
              </a:spcAft>
              <a:defRPr sz="1100">
                <a:solidFill>
                  <a:srgbClr val="CCDDEE"/>
                </a:solidFill>
                <a:latin typeface="Consolas"/>
              </a:defRPr>
            </a:pPr>
            <a:r>
              <a:rPr dirty="0"/>
              <a:t>            </a:t>
            </a:r>
            <a:r>
              <a:rPr dirty="0" err="1"/>
              <a:t>nn.Dropout</a:t>
            </a:r>
            <a:r>
              <a:rPr dirty="0"/>
              <a:t>(0.6),</a:t>
            </a:r>
          </a:p>
          <a:p>
            <a:pPr>
              <a:spcBef>
                <a:spcPts val="0"/>
              </a:spcBef>
              <a:spcAft>
                <a:spcPts val="100"/>
              </a:spcAft>
              <a:defRPr sz="1100">
                <a:solidFill>
                  <a:srgbClr val="CCDDEE"/>
                </a:solidFill>
                <a:latin typeface="Consolas"/>
              </a:defRPr>
            </a:pPr>
            <a:r>
              <a:rPr dirty="0"/>
              <a:t>            </a:t>
            </a:r>
            <a:r>
              <a:rPr dirty="0" err="1"/>
              <a:t>nn.Linear</a:t>
            </a:r>
            <a:r>
              <a:rPr dirty="0"/>
              <a:t>(1024, 256), </a:t>
            </a:r>
            <a:r>
              <a:rPr dirty="0" err="1"/>
              <a:t>nn.ReLU</a:t>
            </a:r>
            <a:r>
              <a:rPr dirty="0"/>
              <a:t>(</a:t>
            </a:r>
            <a:r>
              <a:rPr dirty="0" err="1"/>
              <a:t>inplace</a:t>
            </a:r>
            <a:r>
              <a:rPr dirty="0"/>
              <a:t>=True),</a:t>
            </a:r>
          </a:p>
          <a:p>
            <a:pPr>
              <a:spcBef>
                <a:spcPts val="0"/>
              </a:spcBef>
              <a:spcAft>
                <a:spcPts val="100"/>
              </a:spcAft>
              <a:defRPr sz="1100">
                <a:solidFill>
                  <a:srgbClr val="CCDDEE"/>
                </a:solidFill>
                <a:latin typeface="Consolas"/>
              </a:defRPr>
            </a:pPr>
            <a:r>
              <a:rPr dirty="0"/>
              <a:t>            </a:t>
            </a:r>
            <a:r>
              <a:rPr dirty="0" err="1"/>
              <a:t>nn.Dropout</a:t>
            </a:r>
            <a:r>
              <a:rPr dirty="0"/>
              <a:t>(0.3),</a:t>
            </a:r>
          </a:p>
          <a:p>
            <a:pPr>
              <a:spcBef>
                <a:spcPts val="0"/>
              </a:spcBef>
              <a:spcAft>
                <a:spcPts val="100"/>
              </a:spcAft>
              <a:defRPr sz="1100">
                <a:solidFill>
                  <a:srgbClr val="CCDDEE"/>
                </a:solidFill>
                <a:latin typeface="Consolas"/>
              </a:defRPr>
            </a:pPr>
            <a:r>
              <a:rPr dirty="0"/>
              <a:t>            </a:t>
            </a:r>
            <a:r>
              <a:rPr dirty="0" err="1"/>
              <a:t>nn.Linear</a:t>
            </a:r>
            <a:r>
              <a:rPr dirty="0"/>
              <a:t>(256, 2))</a:t>
            </a:r>
          </a:p>
          <a:p>
            <a:pPr>
              <a:spcBef>
                <a:spcPts val="0"/>
              </a:spcBef>
              <a:spcAft>
                <a:spcPts val="100"/>
              </a:spcAft>
              <a:defRPr sz="1100">
                <a:solidFill>
                  <a:srgbClr val="CCDDEE"/>
                </a:solidFill>
                <a:latin typeface="Consolas"/>
              </a:defRPr>
            </a:pPr>
            <a:endParaRPr dirty="0"/>
          </a:p>
          <a:p>
            <a:pPr>
              <a:spcBef>
                <a:spcPts val="0"/>
              </a:spcBef>
              <a:spcAft>
                <a:spcPts val="100"/>
              </a:spcAft>
              <a:defRPr sz="1100">
                <a:solidFill>
                  <a:srgbClr val="CCDDEE"/>
                </a:solidFill>
                <a:latin typeface="Consolas"/>
              </a:defRPr>
            </a:pPr>
            <a:r>
              <a:rPr dirty="0"/>
              <a:t>    def forward(self, x):    # x: (B, 16, 3, 224, 224)</a:t>
            </a:r>
          </a:p>
          <a:p>
            <a:pPr>
              <a:spcBef>
                <a:spcPts val="0"/>
              </a:spcBef>
              <a:spcAft>
                <a:spcPts val="100"/>
              </a:spcAft>
              <a:defRPr sz="1100">
                <a:solidFill>
                  <a:srgbClr val="CCDDEE"/>
                </a:solidFill>
                <a:latin typeface="Consolas"/>
              </a:defRPr>
            </a:pPr>
            <a:r>
              <a:rPr dirty="0"/>
              <a:t>        B, T, C, H, W = </a:t>
            </a:r>
            <a:r>
              <a:rPr dirty="0" err="1"/>
              <a:t>x.shape</a:t>
            </a:r>
            <a:endParaRPr dirty="0"/>
          </a:p>
          <a:p>
            <a:pPr>
              <a:spcBef>
                <a:spcPts val="0"/>
              </a:spcBef>
              <a:spcAft>
                <a:spcPts val="100"/>
              </a:spcAft>
              <a:defRPr sz="1100">
                <a:solidFill>
                  <a:srgbClr val="CCDDEE"/>
                </a:solidFill>
                <a:latin typeface="Consolas"/>
              </a:defRPr>
            </a:pPr>
            <a:r>
              <a:rPr dirty="0"/>
              <a:t>        frames = </a:t>
            </a:r>
            <a:r>
              <a:rPr dirty="0" err="1"/>
              <a:t>x.reshape</a:t>
            </a:r>
            <a:r>
              <a:rPr dirty="0"/>
              <a:t>(B * T, C, H, W)</a:t>
            </a:r>
          </a:p>
          <a:p>
            <a:pPr>
              <a:spcBef>
                <a:spcPts val="0"/>
              </a:spcBef>
              <a:spcAft>
                <a:spcPts val="100"/>
              </a:spcAft>
              <a:defRPr sz="1100">
                <a:solidFill>
                  <a:srgbClr val="CCDDEE"/>
                </a:solidFill>
                <a:latin typeface="Consolas"/>
              </a:defRPr>
            </a:pPr>
            <a:r>
              <a:rPr dirty="0"/>
              <a:t>        features = </a:t>
            </a:r>
            <a:r>
              <a:rPr dirty="0" err="1"/>
              <a:t>self.spatial</a:t>
            </a:r>
            <a:r>
              <a:rPr dirty="0"/>
              <a:t>(frames)          # (B*T, 2048)</a:t>
            </a:r>
          </a:p>
          <a:p>
            <a:pPr>
              <a:spcBef>
                <a:spcPts val="0"/>
              </a:spcBef>
              <a:spcAft>
                <a:spcPts val="100"/>
              </a:spcAft>
              <a:defRPr sz="1100">
                <a:solidFill>
                  <a:srgbClr val="CCDDEE"/>
                </a:solidFill>
                <a:latin typeface="Consolas"/>
              </a:defRPr>
            </a:pPr>
            <a:r>
              <a:rPr dirty="0"/>
              <a:t>        features = </a:t>
            </a:r>
            <a:r>
              <a:rPr dirty="0" err="1"/>
              <a:t>features.reshape</a:t>
            </a:r>
            <a:r>
              <a:rPr dirty="0"/>
              <a:t>(B, T, -1)    # (B, 16, 2048)</a:t>
            </a:r>
          </a:p>
          <a:p>
            <a:pPr>
              <a:spcBef>
                <a:spcPts val="0"/>
              </a:spcBef>
              <a:spcAft>
                <a:spcPts val="100"/>
              </a:spcAft>
              <a:defRPr sz="1100">
                <a:solidFill>
                  <a:srgbClr val="CCDDEE"/>
                </a:solidFill>
                <a:latin typeface="Consolas"/>
              </a:defRPr>
            </a:pPr>
            <a:r>
              <a:rPr dirty="0"/>
              <a:t>        </a:t>
            </a:r>
            <a:r>
              <a:rPr dirty="0" err="1"/>
              <a:t>temporal_out</a:t>
            </a:r>
            <a:r>
              <a:rPr dirty="0"/>
              <a:t> = </a:t>
            </a:r>
            <a:r>
              <a:rPr dirty="0" err="1"/>
              <a:t>self.temporal</a:t>
            </a:r>
            <a:r>
              <a:rPr dirty="0"/>
              <a:t>(features)    # (B, 1024)</a:t>
            </a:r>
          </a:p>
          <a:p>
            <a:pPr>
              <a:spcBef>
                <a:spcPts val="0"/>
              </a:spcBef>
              <a:spcAft>
                <a:spcPts val="100"/>
              </a:spcAft>
              <a:defRPr sz="1100">
                <a:solidFill>
                  <a:srgbClr val="CCDDEE"/>
                </a:solidFill>
                <a:latin typeface="Consolas"/>
              </a:defRPr>
            </a:pPr>
            <a:r>
              <a:rPr dirty="0"/>
              <a:t>        return </a:t>
            </a:r>
            <a:r>
              <a:rPr dirty="0" err="1"/>
              <a:t>self.classifier</a:t>
            </a:r>
            <a:r>
              <a:rPr dirty="0"/>
              <a:t>(</a:t>
            </a:r>
            <a:r>
              <a:rPr dirty="0" err="1"/>
              <a:t>temporal_out</a:t>
            </a:r>
            <a:r>
              <a:rPr dirty="0"/>
              <a:t>)      # (B, 2)</a:t>
            </a:r>
          </a:p>
        </p:txBody>
      </p:sp>
      <p:sp>
        <p:nvSpPr>
          <p:cNvPr id="8" name="TextBox 7"/>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12/22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Training Progress</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4540" y="1472184"/>
            <a:ext cx="4114800" cy="320040"/>
          </a:xfrm>
          <a:prstGeom prst="rect">
            <a:avLst/>
          </a:prstGeom>
          <a:noFill/>
        </p:spPr>
        <p:txBody>
          <a:bodyPr wrap="square">
            <a:spAutoFit/>
          </a:bodyPr>
          <a:lstStyle/>
          <a:p>
            <a:pPr algn="l">
              <a:defRPr sz="1600" b="1">
                <a:solidFill>
                  <a:srgbClr val="1B3A5C"/>
                </a:solidFill>
                <a:latin typeface="Poppins Light"/>
              </a:defRPr>
            </a:pPr>
            <a:r>
              <a:rPr dirty="0"/>
              <a:t>Training Milestones (from training.log)</a:t>
            </a:r>
          </a:p>
        </p:txBody>
      </p:sp>
      <p:graphicFrame>
        <p:nvGraphicFramePr>
          <p:cNvPr id="7" name="Table 6"/>
          <p:cNvGraphicFramePr>
            <a:graphicFrameLocks noGrp="1"/>
          </p:cNvGraphicFramePr>
          <p:nvPr/>
        </p:nvGraphicFramePr>
        <p:xfrm>
          <a:off x="365760" y="1828800"/>
          <a:ext cx="8412480" cy="237744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297180">
                <a:tc>
                  <a:txBody>
                    <a:bodyPr/>
                    <a:lstStyle/>
                    <a:p>
                      <a:pPr>
                        <a:defRPr sz="1300" b="1">
                          <a:solidFill>
                            <a:srgbClr val="FFFFFF"/>
                          </a:solidFill>
                          <a:latin typeface="Roboto Light"/>
                        </a:defRPr>
                      </a:pPr>
                      <a:r>
                        <a:t>Epoch</a:t>
                      </a:r>
                    </a:p>
                  </a:txBody>
                  <a:tcPr>
                    <a:solidFill>
                      <a:srgbClr val="1B3A5C"/>
                    </a:solidFill>
                  </a:tcPr>
                </a:tc>
                <a:tc>
                  <a:txBody>
                    <a:bodyPr/>
                    <a:lstStyle/>
                    <a:p>
                      <a:pPr>
                        <a:defRPr sz="1300" b="1">
                          <a:solidFill>
                            <a:srgbClr val="FFFFFF"/>
                          </a:solidFill>
                          <a:latin typeface="Roboto Light"/>
                        </a:defRPr>
                      </a:pPr>
                      <a:r>
                        <a:t>Phase</a:t>
                      </a:r>
                    </a:p>
                  </a:txBody>
                  <a:tcPr>
                    <a:solidFill>
                      <a:srgbClr val="1B3A5C"/>
                    </a:solidFill>
                  </a:tcPr>
                </a:tc>
                <a:tc>
                  <a:txBody>
                    <a:bodyPr/>
                    <a:lstStyle/>
                    <a:p>
                      <a:pPr>
                        <a:defRPr sz="1300" b="1">
                          <a:solidFill>
                            <a:srgbClr val="FFFFFF"/>
                          </a:solidFill>
                          <a:latin typeface="Roboto Light"/>
                        </a:defRPr>
                      </a:pPr>
                      <a:r>
                        <a:t>Train Acc</a:t>
                      </a:r>
                    </a:p>
                  </a:txBody>
                  <a:tcPr>
                    <a:solidFill>
                      <a:srgbClr val="1B3A5C"/>
                    </a:solidFill>
                  </a:tcPr>
                </a:tc>
                <a:tc>
                  <a:txBody>
                    <a:bodyPr/>
                    <a:lstStyle/>
                    <a:p>
                      <a:pPr>
                        <a:defRPr sz="1300" b="1">
                          <a:solidFill>
                            <a:srgbClr val="FFFFFF"/>
                          </a:solidFill>
                          <a:latin typeface="Roboto Light"/>
                        </a:defRPr>
                      </a:pPr>
                      <a:r>
                        <a:t>Val Acc</a:t>
                      </a:r>
                    </a:p>
                  </a:txBody>
                  <a:tcPr>
                    <a:solidFill>
                      <a:srgbClr val="1B3A5C"/>
                    </a:solidFill>
                  </a:tcPr>
                </a:tc>
                <a:tc>
                  <a:txBody>
                    <a:bodyPr/>
                    <a:lstStyle/>
                    <a:p>
                      <a:pPr>
                        <a:defRPr sz="1300" b="1">
                          <a:solidFill>
                            <a:srgbClr val="FFFFFF"/>
                          </a:solidFill>
                          <a:latin typeface="Roboto Light"/>
                        </a:defRPr>
                      </a:pPr>
                      <a:r>
                        <a:t>Event</a:t>
                      </a:r>
                    </a:p>
                  </a:txBody>
                  <a:tcPr>
                    <a:solidFill>
                      <a:srgbClr val="1B3A5C"/>
                    </a:solidFill>
                  </a:tcPr>
                </a:tc>
                <a:extLst>
                  <a:ext uri="{0D108BD9-81ED-4DB2-BD59-A6C34878D82A}">
                    <a16:rowId xmlns:a16="http://schemas.microsoft.com/office/drawing/2014/main" val="10000"/>
                  </a:ext>
                </a:extLst>
              </a:tr>
              <a:tr h="297180">
                <a:tc>
                  <a:txBody>
                    <a:bodyPr/>
                    <a:lstStyle/>
                    <a:p>
                      <a:pPr>
                        <a:defRPr sz="1200">
                          <a:solidFill>
                            <a:srgbClr val="333333"/>
                          </a:solidFill>
                          <a:latin typeface="Roboto Light"/>
                        </a:defRPr>
                      </a:pPr>
                      <a:r>
                        <a:t>7</a:t>
                      </a:r>
                    </a:p>
                  </a:txBody>
                  <a:tcPr/>
                </a:tc>
                <a:tc>
                  <a:txBody>
                    <a:bodyPr/>
                    <a:lstStyle/>
                    <a:p>
                      <a:pPr>
                        <a:defRPr sz="1200">
                          <a:solidFill>
                            <a:srgbClr val="333333"/>
                          </a:solidFill>
                          <a:latin typeface="Roboto Light"/>
                        </a:defRPr>
                      </a:pPr>
                      <a:r>
                        <a:t>Phase 2</a:t>
                      </a:r>
                    </a:p>
                  </a:txBody>
                  <a:tcPr/>
                </a:tc>
                <a:tc>
                  <a:txBody>
                    <a:bodyPr/>
                    <a:lstStyle/>
                    <a:p>
                      <a:pPr>
                        <a:defRPr sz="1200">
                          <a:solidFill>
                            <a:srgbClr val="333333"/>
                          </a:solidFill>
                          <a:latin typeface="Roboto Light"/>
                        </a:defRPr>
                      </a:pPr>
                      <a:r>
                        <a:t>88.85%</a:t>
                      </a:r>
                    </a:p>
                  </a:txBody>
                  <a:tcPr/>
                </a:tc>
                <a:tc>
                  <a:txBody>
                    <a:bodyPr/>
                    <a:lstStyle/>
                    <a:p>
                      <a:pPr>
                        <a:defRPr sz="1200">
                          <a:solidFill>
                            <a:srgbClr val="333333"/>
                          </a:solidFill>
                          <a:latin typeface="Roboto Light"/>
                        </a:defRPr>
                      </a:pPr>
                      <a:r>
                        <a:t>88.24%</a:t>
                      </a:r>
                    </a:p>
                  </a:txBody>
                  <a:tcPr/>
                </a:tc>
                <a:tc>
                  <a:txBody>
                    <a:bodyPr/>
                    <a:lstStyle/>
                    <a:p>
                      <a:pPr>
                        <a:defRPr sz="1200">
                          <a:solidFill>
                            <a:srgbClr val="333333"/>
                          </a:solidFill>
                          <a:latin typeface="Roboto Light"/>
                        </a:defRPr>
                      </a:pPr>
                      <a:r>
                        <a:t>Resumed from checkpoint</a:t>
                      </a:r>
                    </a:p>
                  </a:txBody>
                  <a:tcPr/>
                </a:tc>
                <a:extLst>
                  <a:ext uri="{0D108BD9-81ED-4DB2-BD59-A6C34878D82A}">
                    <a16:rowId xmlns:a16="http://schemas.microsoft.com/office/drawing/2014/main" val="10001"/>
                  </a:ext>
                </a:extLst>
              </a:tr>
              <a:tr h="297180">
                <a:tc>
                  <a:txBody>
                    <a:bodyPr/>
                    <a:lstStyle/>
                    <a:p>
                      <a:pPr>
                        <a:defRPr sz="1200">
                          <a:solidFill>
                            <a:srgbClr val="333333"/>
                          </a:solidFill>
                          <a:latin typeface="Roboto Light"/>
                        </a:defRPr>
                      </a:pPr>
                      <a:r>
                        <a:t>9</a:t>
                      </a:r>
                    </a:p>
                  </a:txBody>
                  <a:tcPr>
                    <a:solidFill>
                      <a:srgbClr val="F5F7FA"/>
                    </a:solidFill>
                  </a:tcPr>
                </a:tc>
                <a:tc>
                  <a:txBody>
                    <a:bodyPr/>
                    <a:lstStyle/>
                    <a:p>
                      <a:pPr>
                        <a:defRPr sz="1200">
                          <a:solidFill>
                            <a:srgbClr val="333333"/>
                          </a:solidFill>
                          <a:latin typeface="Roboto Light"/>
                        </a:defRPr>
                      </a:pPr>
                      <a:r>
                        <a:t>Phase 2</a:t>
                      </a:r>
                    </a:p>
                  </a:txBody>
                  <a:tcPr>
                    <a:solidFill>
                      <a:srgbClr val="F5F7FA"/>
                    </a:solidFill>
                  </a:tcPr>
                </a:tc>
                <a:tc>
                  <a:txBody>
                    <a:bodyPr/>
                    <a:lstStyle/>
                    <a:p>
                      <a:pPr>
                        <a:defRPr sz="1200">
                          <a:solidFill>
                            <a:srgbClr val="333333"/>
                          </a:solidFill>
                          <a:latin typeface="Roboto Light"/>
                        </a:defRPr>
                      </a:pPr>
                      <a:r>
                        <a:t>88.96%</a:t>
                      </a:r>
                    </a:p>
                  </a:txBody>
                  <a:tcPr>
                    <a:solidFill>
                      <a:srgbClr val="F5F7FA"/>
                    </a:solidFill>
                  </a:tcPr>
                </a:tc>
                <a:tc>
                  <a:txBody>
                    <a:bodyPr/>
                    <a:lstStyle/>
                    <a:p>
                      <a:pPr>
                        <a:defRPr sz="1200">
                          <a:solidFill>
                            <a:srgbClr val="333333"/>
                          </a:solidFill>
                          <a:latin typeface="Roboto Light"/>
                        </a:defRPr>
                      </a:pPr>
                      <a:r>
                        <a:t>90.76%</a:t>
                      </a:r>
                    </a:p>
                  </a:txBody>
                  <a:tcPr>
                    <a:solidFill>
                      <a:srgbClr val="F5F7FA"/>
                    </a:solidFill>
                  </a:tcPr>
                </a:tc>
                <a:tc>
                  <a:txBody>
                    <a:bodyPr/>
                    <a:lstStyle/>
                    <a:p>
                      <a:pPr>
                        <a:defRPr sz="1200">
                          <a:solidFill>
                            <a:srgbClr val="333333"/>
                          </a:solidFill>
                          <a:latin typeface="Roboto Light"/>
                        </a:defRPr>
                      </a:pPr>
                      <a:r>
                        <a:t>Best model saved</a:t>
                      </a:r>
                    </a:p>
                  </a:txBody>
                  <a:tcPr>
                    <a:solidFill>
                      <a:srgbClr val="F5F7FA"/>
                    </a:solidFill>
                  </a:tcPr>
                </a:tc>
                <a:extLst>
                  <a:ext uri="{0D108BD9-81ED-4DB2-BD59-A6C34878D82A}">
                    <a16:rowId xmlns:a16="http://schemas.microsoft.com/office/drawing/2014/main" val="10002"/>
                  </a:ext>
                </a:extLst>
              </a:tr>
              <a:tr h="297180">
                <a:tc>
                  <a:txBody>
                    <a:bodyPr/>
                    <a:lstStyle/>
                    <a:p>
                      <a:pPr>
                        <a:defRPr sz="1200">
                          <a:solidFill>
                            <a:srgbClr val="333333"/>
                          </a:solidFill>
                          <a:latin typeface="Roboto Light"/>
                        </a:defRPr>
                      </a:pPr>
                      <a:r>
                        <a:t>10</a:t>
                      </a:r>
                    </a:p>
                  </a:txBody>
                  <a:tcPr/>
                </a:tc>
                <a:tc>
                  <a:txBody>
                    <a:bodyPr/>
                    <a:lstStyle/>
                    <a:p>
                      <a:pPr>
                        <a:defRPr sz="1200">
                          <a:solidFill>
                            <a:srgbClr val="333333"/>
                          </a:solidFill>
                          <a:latin typeface="Roboto Light"/>
                        </a:defRPr>
                      </a:pPr>
                      <a:r>
                        <a:t>Phase 2</a:t>
                      </a:r>
                    </a:p>
                  </a:txBody>
                  <a:tcPr/>
                </a:tc>
                <a:tc>
                  <a:txBody>
                    <a:bodyPr/>
                    <a:lstStyle/>
                    <a:p>
                      <a:pPr>
                        <a:defRPr sz="1200">
                          <a:solidFill>
                            <a:srgbClr val="333333"/>
                          </a:solidFill>
                          <a:latin typeface="Roboto Light"/>
                        </a:defRPr>
                      </a:pPr>
                      <a:r>
                        <a:t>90.62%</a:t>
                      </a:r>
                    </a:p>
                  </a:txBody>
                  <a:tcPr/>
                </a:tc>
                <a:tc>
                  <a:txBody>
                    <a:bodyPr/>
                    <a:lstStyle/>
                    <a:p>
                      <a:pPr>
                        <a:defRPr sz="1200">
                          <a:solidFill>
                            <a:srgbClr val="333333"/>
                          </a:solidFill>
                          <a:latin typeface="Roboto Light"/>
                        </a:defRPr>
                      </a:pPr>
                      <a:r>
                        <a:t>94.12%</a:t>
                      </a:r>
                    </a:p>
                  </a:txBody>
                  <a:tcPr/>
                </a:tc>
                <a:tc>
                  <a:txBody>
                    <a:bodyPr/>
                    <a:lstStyle/>
                    <a:p>
                      <a:pPr>
                        <a:defRPr sz="1200">
                          <a:solidFill>
                            <a:srgbClr val="333333"/>
                          </a:solidFill>
                          <a:latin typeface="Roboto Light"/>
                        </a:defRPr>
                      </a:pPr>
                      <a:r>
                        <a:t>Best model saved</a:t>
                      </a:r>
                    </a:p>
                  </a:txBody>
                  <a:tcPr/>
                </a:tc>
                <a:extLst>
                  <a:ext uri="{0D108BD9-81ED-4DB2-BD59-A6C34878D82A}">
                    <a16:rowId xmlns:a16="http://schemas.microsoft.com/office/drawing/2014/main" val="10003"/>
                  </a:ext>
                </a:extLst>
              </a:tr>
              <a:tr h="297180">
                <a:tc>
                  <a:txBody>
                    <a:bodyPr/>
                    <a:lstStyle/>
                    <a:p>
                      <a:pPr>
                        <a:defRPr sz="1200">
                          <a:solidFill>
                            <a:srgbClr val="333333"/>
                          </a:solidFill>
                          <a:latin typeface="Roboto Light"/>
                        </a:defRPr>
                      </a:pPr>
                      <a:r>
                        <a:t>13</a:t>
                      </a:r>
                    </a:p>
                  </a:txBody>
                  <a:tcPr>
                    <a:solidFill>
                      <a:srgbClr val="F5F7FA"/>
                    </a:solidFill>
                  </a:tcPr>
                </a:tc>
                <a:tc>
                  <a:txBody>
                    <a:bodyPr/>
                    <a:lstStyle/>
                    <a:p>
                      <a:pPr>
                        <a:defRPr sz="1200">
                          <a:solidFill>
                            <a:srgbClr val="333333"/>
                          </a:solidFill>
                          <a:latin typeface="Roboto Light"/>
                        </a:defRPr>
                      </a:pPr>
                      <a:r>
                        <a:t>Phase 2</a:t>
                      </a:r>
                    </a:p>
                  </a:txBody>
                  <a:tcPr>
                    <a:solidFill>
                      <a:srgbClr val="F5F7FA"/>
                    </a:solidFill>
                  </a:tcPr>
                </a:tc>
                <a:tc>
                  <a:txBody>
                    <a:bodyPr/>
                    <a:lstStyle/>
                    <a:p>
                      <a:pPr>
                        <a:defRPr sz="1200">
                          <a:solidFill>
                            <a:srgbClr val="333333"/>
                          </a:solidFill>
                          <a:latin typeface="Roboto Light"/>
                        </a:defRPr>
                      </a:pPr>
                      <a:r>
                        <a:t>93.23%</a:t>
                      </a:r>
                    </a:p>
                  </a:txBody>
                  <a:tcPr>
                    <a:solidFill>
                      <a:srgbClr val="F5F7FA"/>
                    </a:solidFill>
                  </a:tcPr>
                </a:tc>
                <a:tc>
                  <a:txBody>
                    <a:bodyPr/>
                    <a:lstStyle/>
                    <a:p>
                      <a:pPr>
                        <a:defRPr sz="1200">
                          <a:solidFill>
                            <a:srgbClr val="333333"/>
                          </a:solidFill>
                          <a:latin typeface="Roboto Light"/>
                        </a:defRPr>
                      </a:pPr>
                      <a:r>
                        <a:t>94.96%</a:t>
                      </a:r>
                    </a:p>
                  </a:txBody>
                  <a:tcPr>
                    <a:solidFill>
                      <a:srgbClr val="F5F7FA"/>
                    </a:solidFill>
                  </a:tcPr>
                </a:tc>
                <a:tc>
                  <a:txBody>
                    <a:bodyPr/>
                    <a:lstStyle/>
                    <a:p>
                      <a:pPr>
                        <a:defRPr sz="1200">
                          <a:solidFill>
                            <a:srgbClr val="333333"/>
                          </a:solidFill>
                          <a:latin typeface="Roboto Light"/>
                        </a:defRPr>
                      </a:pPr>
                      <a:r>
                        <a:t>Best model saved</a:t>
                      </a:r>
                    </a:p>
                  </a:txBody>
                  <a:tcPr>
                    <a:solidFill>
                      <a:srgbClr val="F5F7FA"/>
                    </a:solidFill>
                  </a:tcPr>
                </a:tc>
                <a:extLst>
                  <a:ext uri="{0D108BD9-81ED-4DB2-BD59-A6C34878D82A}">
                    <a16:rowId xmlns:a16="http://schemas.microsoft.com/office/drawing/2014/main" val="10004"/>
                  </a:ext>
                </a:extLst>
              </a:tr>
              <a:tr h="297180">
                <a:tc>
                  <a:txBody>
                    <a:bodyPr/>
                    <a:lstStyle/>
                    <a:p>
                      <a:pPr>
                        <a:defRPr sz="1200">
                          <a:solidFill>
                            <a:srgbClr val="333333"/>
                          </a:solidFill>
                          <a:latin typeface="Roboto Light"/>
                        </a:defRPr>
                      </a:pPr>
                      <a:r>
                        <a:t>17</a:t>
                      </a:r>
                    </a:p>
                  </a:txBody>
                  <a:tcPr/>
                </a:tc>
                <a:tc>
                  <a:txBody>
                    <a:bodyPr/>
                    <a:lstStyle/>
                    <a:p>
                      <a:pPr>
                        <a:defRPr sz="1200">
                          <a:solidFill>
                            <a:srgbClr val="333333"/>
                          </a:solidFill>
                          <a:latin typeface="Roboto Light"/>
                        </a:defRPr>
                      </a:pPr>
                      <a:r>
                        <a:t>Phase 2</a:t>
                      </a:r>
                    </a:p>
                  </a:txBody>
                  <a:tcPr/>
                </a:tc>
                <a:tc>
                  <a:txBody>
                    <a:bodyPr/>
                    <a:lstStyle/>
                    <a:p>
                      <a:pPr>
                        <a:defRPr sz="1200">
                          <a:solidFill>
                            <a:srgbClr val="333333"/>
                          </a:solidFill>
                          <a:latin typeface="Roboto Light"/>
                        </a:defRPr>
                      </a:pPr>
                      <a:r>
                        <a:t>95.31%</a:t>
                      </a:r>
                    </a:p>
                  </a:txBody>
                  <a:tcPr/>
                </a:tc>
                <a:tc>
                  <a:txBody>
                    <a:bodyPr/>
                    <a:lstStyle/>
                    <a:p>
                      <a:pPr>
                        <a:defRPr sz="1200">
                          <a:solidFill>
                            <a:srgbClr val="333333"/>
                          </a:solidFill>
                          <a:latin typeface="Roboto Light"/>
                        </a:defRPr>
                      </a:pPr>
                      <a:r>
                        <a:t>92.44%</a:t>
                      </a:r>
                    </a:p>
                  </a:txBody>
                  <a:tcPr/>
                </a:tc>
                <a:tc>
                  <a:txBody>
                    <a:bodyPr/>
                    <a:lstStyle/>
                    <a:p>
                      <a:pPr>
                        <a:defRPr sz="1200">
                          <a:solidFill>
                            <a:srgbClr val="333333"/>
                          </a:solidFill>
                          <a:latin typeface="Roboto Light"/>
                        </a:defRPr>
                      </a:pPr>
                      <a:r>
                        <a:t>—</a:t>
                      </a:r>
                    </a:p>
                  </a:txBody>
                  <a:tcPr/>
                </a:tc>
                <a:extLst>
                  <a:ext uri="{0D108BD9-81ED-4DB2-BD59-A6C34878D82A}">
                    <a16:rowId xmlns:a16="http://schemas.microsoft.com/office/drawing/2014/main" val="10005"/>
                  </a:ext>
                </a:extLst>
              </a:tr>
              <a:tr h="297180">
                <a:tc>
                  <a:txBody>
                    <a:bodyPr/>
                    <a:lstStyle/>
                    <a:p>
                      <a:pPr>
                        <a:defRPr sz="1200">
                          <a:solidFill>
                            <a:srgbClr val="333333"/>
                          </a:solidFill>
                          <a:latin typeface="Roboto Light"/>
                        </a:defRPr>
                      </a:pPr>
                      <a:r>
                        <a:t>20</a:t>
                      </a:r>
                    </a:p>
                  </a:txBody>
                  <a:tcPr>
                    <a:solidFill>
                      <a:srgbClr val="F5F7FA"/>
                    </a:solidFill>
                  </a:tcPr>
                </a:tc>
                <a:tc>
                  <a:txBody>
                    <a:bodyPr/>
                    <a:lstStyle/>
                    <a:p>
                      <a:pPr>
                        <a:defRPr sz="1200">
                          <a:solidFill>
                            <a:srgbClr val="333333"/>
                          </a:solidFill>
                          <a:latin typeface="Roboto Light"/>
                        </a:defRPr>
                      </a:pPr>
                      <a:r>
                        <a:t>Phase 2</a:t>
                      </a:r>
                    </a:p>
                  </a:txBody>
                  <a:tcPr>
                    <a:solidFill>
                      <a:srgbClr val="F5F7FA"/>
                    </a:solidFill>
                  </a:tcPr>
                </a:tc>
                <a:tc>
                  <a:txBody>
                    <a:bodyPr/>
                    <a:lstStyle/>
                    <a:p>
                      <a:pPr>
                        <a:defRPr sz="1200">
                          <a:solidFill>
                            <a:srgbClr val="333333"/>
                          </a:solidFill>
                          <a:latin typeface="Roboto Light"/>
                        </a:defRPr>
                      </a:pPr>
                      <a:r>
                        <a:t>95.31%</a:t>
                      </a:r>
                    </a:p>
                  </a:txBody>
                  <a:tcPr>
                    <a:solidFill>
                      <a:srgbClr val="F5F7FA"/>
                    </a:solidFill>
                  </a:tcPr>
                </a:tc>
                <a:tc>
                  <a:txBody>
                    <a:bodyPr/>
                    <a:lstStyle/>
                    <a:p>
                      <a:pPr>
                        <a:defRPr sz="1200">
                          <a:solidFill>
                            <a:srgbClr val="333333"/>
                          </a:solidFill>
                          <a:latin typeface="Roboto Light"/>
                        </a:defRPr>
                      </a:pPr>
                      <a:r>
                        <a:t>96.64%</a:t>
                      </a:r>
                    </a:p>
                  </a:txBody>
                  <a:tcPr>
                    <a:solidFill>
                      <a:srgbClr val="F5F7FA"/>
                    </a:solidFill>
                  </a:tcPr>
                </a:tc>
                <a:tc>
                  <a:txBody>
                    <a:bodyPr/>
                    <a:lstStyle/>
                    <a:p>
                      <a:pPr>
                        <a:defRPr sz="1200">
                          <a:solidFill>
                            <a:srgbClr val="333333"/>
                          </a:solidFill>
                          <a:latin typeface="Roboto Light"/>
                        </a:defRPr>
                      </a:pPr>
                      <a:r>
                        <a:t>Best model saved</a:t>
                      </a:r>
                    </a:p>
                  </a:txBody>
                  <a:tcPr>
                    <a:solidFill>
                      <a:srgbClr val="F5F7FA"/>
                    </a:solidFill>
                  </a:tcPr>
                </a:tc>
                <a:extLst>
                  <a:ext uri="{0D108BD9-81ED-4DB2-BD59-A6C34878D82A}">
                    <a16:rowId xmlns:a16="http://schemas.microsoft.com/office/drawing/2014/main" val="10006"/>
                  </a:ext>
                </a:extLst>
              </a:tr>
              <a:tr h="297180">
                <a:tc>
                  <a:txBody>
                    <a:bodyPr/>
                    <a:lstStyle/>
                    <a:p>
                      <a:pPr>
                        <a:defRPr sz="1200">
                          <a:solidFill>
                            <a:srgbClr val="333333"/>
                          </a:solidFill>
                          <a:latin typeface="Roboto Light"/>
                        </a:defRPr>
                      </a:pPr>
                      <a:r>
                        <a:t>22</a:t>
                      </a:r>
                    </a:p>
                  </a:txBody>
                  <a:tcPr/>
                </a:tc>
                <a:tc>
                  <a:txBody>
                    <a:bodyPr/>
                    <a:lstStyle/>
                    <a:p>
                      <a:pPr>
                        <a:defRPr sz="1200">
                          <a:solidFill>
                            <a:srgbClr val="333333"/>
                          </a:solidFill>
                          <a:latin typeface="Roboto Light"/>
                        </a:defRPr>
                      </a:pPr>
                      <a:r>
                        <a:t>Phase 2</a:t>
                      </a:r>
                    </a:p>
                  </a:txBody>
                  <a:tcPr/>
                </a:tc>
                <a:tc>
                  <a:txBody>
                    <a:bodyPr/>
                    <a:lstStyle/>
                    <a:p>
                      <a:pPr>
                        <a:defRPr sz="1200">
                          <a:solidFill>
                            <a:srgbClr val="333333"/>
                          </a:solidFill>
                          <a:latin typeface="Roboto Light"/>
                        </a:defRPr>
                      </a:pPr>
                      <a:r>
                        <a:t>96.56%</a:t>
                      </a:r>
                    </a:p>
                  </a:txBody>
                  <a:tcPr/>
                </a:tc>
                <a:tc>
                  <a:txBody>
                    <a:bodyPr/>
                    <a:lstStyle/>
                    <a:p>
                      <a:pPr>
                        <a:defRPr sz="1200">
                          <a:solidFill>
                            <a:srgbClr val="333333"/>
                          </a:solidFill>
                          <a:latin typeface="Roboto Light"/>
                        </a:defRPr>
                      </a:pPr>
                      <a:r>
                        <a:t>94.12%</a:t>
                      </a:r>
                    </a:p>
                  </a:txBody>
                  <a:tcPr/>
                </a:tc>
                <a:tc>
                  <a:txBody>
                    <a:bodyPr/>
                    <a:lstStyle/>
                    <a:p>
                      <a:pPr>
                        <a:defRPr sz="1200">
                          <a:solidFill>
                            <a:srgbClr val="333333"/>
                          </a:solidFill>
                          <a:latin typeface="Roboto Light"/>
                        </a:defRPr>
                      </a:pPr>
                      <a:r>
                        <a:t>—</a:t>
                      </a:r>
                    </a:p>
                  </a:txBody>
                  <a:tcPr/>
                </a:tc>
                <a:extLst>
                  <a:ext uri="{0D108BD9-81ED-4DB2-BD59-A6C34878D82A}">
                    <a16:rowId xmlns:a16="http://schemas.microsoft.com/office/drawing/2014/main" val="10007"/>
                  </a:ext>
                </a:extLst>
              </a:tr>
            </a:tbl>
          </a:graphicData>
        </a:graphic>
      </p:graphicFrame>
      <p:sp>
        <p:nvSpPr>
          <p:cNvPr id="8" name="TextBox 7"/>
          <p:cNvSpPr txBox="1"/>
          <p:nvPr/>
        </p:nvSpPr>
        <p:spPr>
          <a:xfrm>
            <a:off x="365760" y="4411980"/>
            <a:ext cx="8229600" cy="320040"/>
          </a:xfrm>
          <a:prstGeom prst="rect">
            <a:avLst/>
          </a:prstGeom>
          <a:noFill/>
        </p:spPr>
        <p:txBody>
          <a:bodyPr wrap="square">
            <a:spAutoFit/>
          </a:bodyPr>
          <a:lstStyle/>
          <a:p>
            <a:pPr algn="l">
              <a:defRPr sz="1500" b="1">
                <a:solidFill>
                  <a:srgbClr val="1B3A5C"/>
                </a:solidFill>
                <a:latin typeface="Poppins Light"/>
              </a:defRPr>
            </a:pPr>
            <a:r>
              <a:rPr dirty="0"/>
              <a:t>Key Training Observations</a:t>
            </a:r>
          </a:p>
        </p:txBody>
      </p:sp>
      <p:sp>
        <p:nvSpPr>
          <p:cNvPr id="9" name="TextBox 8"/>
          <p:cNvSpPr txBox="1"/>
          <p:nvPr/>
        </p:nvSpPr>
        <p:spPr>
          <a:xfrm>
            <a:off x="403378" y="4732020"/>
            <a:ext cx="8229600" cy="164592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rPr dirty="0"/>
              <a:t>• Best validation accuracy: 96.64% achieved at Epoch 20 during Phase 2 fine-tuning</a:t>
            </a:r>
          </a:p>
          <a:p>
            <a:pPr>
              <a:spcBef>
                <a:spcPts val="200"/>
              </a:spcBef>
              <a:spcAft>
                <a:spcPts val="600"/>
              </a:spcAft>
              <a:defRPr sz="1200">
                <a:solidFill>
                  <a:srgbClr val="333333"/>
                </a:solidFill>
                <a:latin typeface="Roboto Light"/>
              </a:defRPr>
            </a:pPr>
            <a:r>
              <a:rPr dirty="0"/>
              <a:t>• Consistent improvement from 88.24% (Epoch 7) to 96.64% (Epoch 20) during full fine-tuning</a:t>
            </a:r>
          </a:p>
          <a:p>
            <a:pPr>
              <a:spcBef>
                <a:spcPts val="200"/>
              </a:spcBef>
              <a:spcAft>
                <a:spcPts val="600"/>
              </a:spcAft>
              <a:defRPr sz="1200">
                <a:solidFill>
                  <a:srgbClr val="333333"/>
                </a:solidFill>
                <a:latin typeface="Roboto Light"/>
              </a:defRPr>
            </a:pPr>
            <a:r>
              <a:rPr dirty="0"/>
              <a:t>• Training accuracy reached 96.56% — minimal overfitting gap with validation</a:t>
            </a:r>
          </a:p>
          <a:p>
            <a:pPr>
              <a:spcBef>
                <a:spcPts val="200"/>
              </a:spcBef>
              <a:spcAft>
                <a:spcPts val="600"/>
              </a:spcAft>
              <a:defRPr sz="1200">
                <a:solidFill>
                  <a:srgbClr val="333333"/>
                </a:solidFill>
                <a:latin typeface="Roboto Light"/>
              </a:defRPr>
            </a:pPr>
            <a:r>
              <a:rPr dirty="0"/>
              <a:t>• Total training time: ~27 minutes on CUDA GPU (962 training videos, batch size 4)</a:t>
            </a:r>
          </a:p>
          <a:p>
            <a:pPr>
              <a:spcBef>
                <a:spcPts val="200"/>
              </a:spcBef>
              <a:spcAft>
                <a:spcPts val="600"/>
              </a:spcAft>
              <a:defRPr sz="1200">
                <a:solidFill>
                  <a:srgbClr val="333333"/>
                </a:solidFill>
                <a:latin typeface="Roboto Light"/>
              </a:defRPr>
            </a:pPr>
            <a:r>
              <a:rPr dirty="0"/>
              <a:t>• Model parameters: 40,562,852 (~40.5M)</a:t>
            </a:r>
          </a:p>
        </p:txBody>
      </p:sp>
      <p:sp>
        <p:nvSpPr>
          <p:cNvPr id="10" name="TextBox 9"/>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13/22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Test Set Performance (122 Videos)</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51843" y="1580523"/>
            <a:ext cx="1554480" cy="1188720"/>
          </a:xfrm>
          <a:prstGeom prst="roundRect">
            <a:avLst/>
          </a:prstGeom>
          <a:solidFill>
            <a:srgbClr val="FAFAFA"/>
          </a:solidFill>
          <a:ln w="2540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251843" y="1663890"/>
            <a:ext cx="1554480" cy="548640"/>
          </a:xfrm>
          <a:prstGeom prst="rect">
            <a:avLst/>
          </a:prstGeom>
          <a:noFill/>
        </p:spPr>
        <p:txBody>
          <a:bodyPr wrap="square">
            <a:spAutoFit/>
          </a:bodyPr>
          <a:lstStyle/>
          <a:p>
            <a:pPr algn="ctr">
              <a:defRPr sz="2600" b="1">
                <a:solidFill>
                  <a:srgbClr val="28A745"/>
                </a:solidFill>
                <a:latin typeface="Poppins Light"/>
              </a:defRPr>
            </a:pPr>
            <a:r>
              <a:rPr dirty="0"/>
              <a:t>91.0%</a:t>
            </a:r>
          </a:p>
        </p:txBody>
      </p:sp>
      <p:sp>
        <p:nvSpPr>
          <p:cNvPr id="8" name="TextBox 7"/>
          <p:cNvSpPr txBox="1"/>
          <p:nvPr/>
        </p:nvSpPr>
        <p:spPr>
          <a:xfrm>
            <a:off x="233329" y="2078148"/>
            <a:ext cx="1554480" cy="365760"/>
          </a:xfrm>
          <a:prstGeom prst="rect">
            <a:avLst/>
          </a:prstGeom>
          <a:noFill/>
        </p:spPr>
        <p:txBody>
          <a:bodyPr wrap="square">
            <a:spAutoFit/>
          </a:bodyPr>
          <a:lstStyle/>
          <a:p>
            <a:pPr algn="ctr">
              <a:defRPr sz="1300" b="0">
                <a:solidFill>
                  <a:srgbClr val="333333"/>
                </a:solidFill>
                <a:latin typeface="Roboto Light"/>
              </a:defRPr>
            </a:pPr>
            <a:r>
              <a:rPr dirty="0"/>
              <a:t>Accuracy</a:t>
            </a:r>
          </a:p>
        </p:txBody>
      </p:sp>
      <p:sp>
        <p:nvSpPr>
          <p:cNvPr id="9" name="Rounded Rectangle 8"/>
          <p:cNvSpPr/>
          <p:nvPr/>
        </p:nvSpPr>
        <p:spPr>
          <a:xfrm>
            <a:off x="1988820" y="1577340"/>
            <a:ext cx="1554480" cy="1188720"/>
          </a:xfrm>
          <a:prstGeom prst="roundRect">
            <a:avLst/>
          </a:prstGeom>
          <a:solidFill>
            <a:srgbClr val="FAFAFA"/>
          </a:solidFill>
          <a:ln w="2540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25083" y="1687386"/>
            <a:ext cx="1554480" cy="548640"/>
          </a:xfrm>
          <a:prstGeom prst="rect">
            <a:avLst/>
          </a:prstGeom>
          <a:noFill/>
        </p:spPr>
        <p:txBody>
          <a:bodyPr wrap="square">
            <a:spAutoFit/>
          </a:bodyPr>
          <a:lstStyle/>
          <a:p>
            <a:pPr algn="ctr">
              <a:defRPr sz="2600" b="1">
                <a:solidFill>
                  <a:srgbClr val="2E86AB"/>
                </a:solidFill>
                <a:latin typeface="Poppins Light"/>
              </a:defRPr>
            </a:pPr>
            <a:r>
              <a:rPr dirty="0"/>
              <a:t>93.3%</a:t>
            </a:r>
          </a:p>
        </p:txBody>
      </p:sp>
      <p:sp>
        <p:nvSpPr>
          <p:cNvPr id="11" name="TextBox 10"/>
          <p:cNvSpPr txBox="1"/>
          <p:nvPr/>
        </p:nvSpPr>
        <p:spPr>
          <a:xfrm>
            <a:off x="1982988" y="2089563"/>
            <a:ext cx="1554480" cy="365760"/>
          </a:xfrm>
          <a:prstGeom prst="rect">
            <a:avLst/>
          </a:prstGeom>
          <a:noFill/>
        </p:spPr>
        <p:txBody>
          <a:bodyPr wrap="square">
            <a:spAutoFit/>
          </a:bodyPr>
          <a:lstStyle/>
          <a:p>
            <a:pPr algn="ctr">
              <a:defRPr sz="1300" b="0">
                <a:solidFill>
                  <a:srgbClr val="333333"/>
                </a:solidFill>
                <a:latin typeface="Roboto Light"/>
              </a:defRPr>
            </a:pPr>
            <a:r>
              <a:rPr dirty="0"/>
              <a:t>F1 Score</a:t>
            </a:r>
          </a:p>
        </p:txBody>
      </p:sp>
      <p:sp>
        <p:nvSpPr>
          <p:cNvPr id="12" name="Rounded Rectangle 11"/>
          <p:cNvSpPr/>
          <p:nvPr/>
        </p:nvSpPr>
        <p:spPr>
          <a:xfrm>
            <a:off x="3733751" y="1577340"/>
            <a:ext cx="1554480" cy="1188720"/>
          </a:xfrm>
          <a:prstGeom prst="roundRect">
            <a:avLst/>
          </a:prstGeom>
          <a:solidFill>
            <a:srgbClr val="FAFAFA"/>
          </a:solidFill>
          <a:ln w="25400">
            <a:solidFill>
              <a:srgbClr val="6C5C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94760" y="1687386"/>
            <a:ext cx="1554480" cy="548640"/>
          </a:xfrm>
          <a:prstGeom prst="rect">
            <a:avLst/>
          </a:prstGeom>
          <a:noFill/>
        </p:spPr>
        <p:txBody>
          <a:bodyPr wrap="square">
            <a:spAutoFit/>
          </a:bodyPr>
          <a:lstStyle/>
          <a:p>
            <a:pPr algn="ctr">
              <a:defRPr sz="2600" b="1">
                <a:solidFill>
                  <a:srgbClr val="6C5CE7"/>
                </a:solidFill>
                <a:latin typeface="Poppins Light"/>
              </a:defRPr>
            </a:pPr>
            <a:r>
              <a:rPr dirty="0"/>
              <a:t>97.0%</a:t>
            </a:r>
          </a:p>
        </p:txBody>
      </p:sp>
      <p:sp>
        <p:nvSpPr>
          <p:cNvPr id="14" name="TextBox 13"/>
          <p:cNvSpPr txBox="1"/>
          <p:nvPr/>
        </p:nvSpPr>
        <p:spPr>
          <a:xfrm>
            <a:off x="3808411" y="2093947"/>
            <a:ext cx="1554480" cy="365760"/>
          </a:xfrm>
          <a:prstGeom prst="rect">
            <a:avLst/>
          </a:prstGeom>
          <a:noFill/>
        </p:spPr>
        <p:txBody>
          <a:bodyPr wrap="square">
            <a:spAutoFit/>
          </a:bodyPr>
          <a:lstStyle/>
          <a:p>
            <a:pPr algn="ctr">
              <a:defRPr sz="1300" b="0">
                <a:solidFill>
                  <a:srgbClr val="333333"/>
                </a:solidFill>
                <a:latin typeface="Roboto Light"/>
              </a:defRPr>
            </a:pPr>
            <a:r>
              <a:rPr dirty="0"/>
              <a:t>AUC</a:t>
            </a:r>
          </a:p>
        </p:txBody>
      </p:sp>
      <p:sp>
        <p:nvSpPr>
          <p:cNvPr id="15" name="Rounded Rectangle 14"/>
          <p:cNvSpPr/>
          <p:nvPr/>
        </p:nvSpPr>
        <p:spPr>
          <a:xfrm>
            <a:off x="5501689" y="1577340"/>
            <a:ext cx="1554480" cy="1188720"/>
          </a:xfrm>
          <a:prstGeom prst="roundRect">
            <a:avLst/>
          </a:prstGeom>
          <a:solidFill>
            <a:srgbClr val="FAFAFA"/>
          </a:solidFill>
          <a:ln w="25400">
            <a:solidFill>
              <a:srgbClr val="E17A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522837" y="1682843"/>
            <a:ext cx="1554480" cy="548640"/>
          </a:xfrm>
          <a:prstGeom prst="rect">
            <a:avLst/>
          </a:prstGeom>
          <a:noFill/>
        </p:spPr>
        <p:txBody>
          <a:bodyPr wrap="square">
            <a:spAutoFit/>
          </a:bodyPr>
          <a:lstStyle/>
          <a:p>
            <a:pPr algn="ctr">
              <a:defRPr sz="2600" b="1">
                <a:solidFill>
                  <a:srgbClr val="E17A55"/>
                </a:solidFill>
                <a:latin typeface="Poppins Light"/>
              </a:defRPr>
            </a:pPr>
            <a:r>
              <a:rPr dirty="0"/>
              <a:t>9.76%</a:t>
            </a:r>
          </a:p>
        </p:txBody>
      </p:sp>
      <p:sp>
        <p:nvSpPr>
          <p:cNvPr id="17" name="TextBox 16"/>
          <p:cNvSpPr txBox="1"/>
          <p:nvPr/>
        </p:nvSpPr>
        <p:spPr>
          <a:xfrm>
            <a:off x="5501689" y="2093947"/>
            <a:ext cx="1554480" cy="365760"/>
          </a:xfrm>
          <a:prstGeom prst="rect">
            <a:avLst/>
          </a:prstGeom>
          <a:noFill/>
        </p:spPr>
        <p:txBody>
          <a:bodyPr wrap="square">
            <a:spAutoFit/>
          </a:bodyPr>
          <a:lstStyle/>
          <a:p>
            <a:pPr algn="ctr">
              <a:defRPr sz="1300" b="0">
                <a:solidFill>
                  <a:srgbClr val="333333"/>
                </a:solidFill>
                <a:latin typeface="Roboto Light"/>
              </a:defRPr>
            </a:pPr>
            <a:r>
              <a:rPr dirty="0"/>
              <a:t>EER</a:t>
            </a:r>
          </a:p>
        </p:txBody>
      </p:sp>
      <p:sp>
        <p:nvSpPr>
          <p:cNvPr id="18" name="Rounded Rectangle 17"/>
          <p:cNvSpPr/>
          <p:nvPr/>
        </p:nvSpPr>
        <p:spPr>
          <a:xfrm>
            <a:off x="7283131" y="1568196"/>
            <a:ext cx="1554480" cy="1188720"/>
          </a:xfrm>
          <a:prstGeom prst="roundRect">
            <a:avLst/>
          </a:prstGeom>
          <a:solidFill>
            <a:srgbClr val="FAFAFA"/>
          </a:solidFill>
          <a:ln w="2540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283131" y="1673265"/>
            <a:ext cx="1554480" cy="548640"/>
          </a:xfrm>
          <a:prstGeom prst="rect">
            <a:avLst/>
          </a:prstGeom>
          <a:noFill/>
        </p:spPr>
        <p:txBody>
          <a:bodyPr wrap="square">
            <a:spAutoFit/>
          </a:bodyPr>
          <a:lstStyle/>
          <a:p>
            <a:pPr algn="ctr">
              <a:defRPr sz="2600" b="1">
                <a:solidFill>
                  <a:srgbClr val="666666"/>
                </a:solidFill>
                <a:latin typeface="Poppins Light"/>
              </a:defRPr>
            </a:pPr>
            <a:r>
              <a:t>0.5675</a:t>
            </a:r>
          </a:p>
        </p:txBody>
      </p:sp>
      <p:sp>
        <p:nvSpPr>
          <p:cNvPr id="20" name="TextBox 19"/>
          <p:cNvSpPr txBox="1"/>
          <p:nvPr/>
        </p:nvSpPr>
        <p:spPr>
          <a:xfrm>
            <a:off x="7262301" y="2093947"/>
            <a:ext cx="1554480" cy="365760"/>
          </a:xfrm>
          <a:prstGeom prst="rect">
            <a:avLst/>
          </a:prstGeom>
          <a:noFill/>
        </p:spPr>
        <p:txBody>
          <a:bodyPr wrap="square">
            <a:spAutoFit/>
          </a:bodyPr>
          <a:lstStyle/>
          <a:p>
            <a:pPr algn="ctr">
              <a:defRPr sz="1300" b="0">
                <a:solidFill>
                  <a:srgbClr val="333333"/>
                </a:solidFill>
                <a:latin typeface="Roboto Light"/>
              </a:defRPr>
            </a:pPr>
            <a:r>
              <a:rPr dirty="0"/>
              <a:t>Log Loss</a:t>
            </a:r>
          </a:p>
        </p:txBody>
      </p:sp>
      <p:sp>
        <p:nvSpPr>
          <p:cNvPr id="21" name="TextBox 20"/>
          <p:cNvSpPr txBox="1"/>
          <p:nvPr/>
        </p:nvSpPr>
        <p:spPr>
          <a:xfrm>
            <a:off x="380228" y="3040380"/>
            <a:ext cx="4114800" cy="320040"/>
          </a:xfrm>
          <a:prstGeom prst="rect">
            <a:avLst/>
          </a:prstGeom>
          <a:noFill/>
        </p:spPr>
        <p:txBody>
          <a:bodyPr wrap="square">
            <a:spAutoFit/>
          </a:bodyPr>
          <a:lstStyle/>
          <a:p>
            <a:pPr algn="l">
              <a:defRPr sz="1500" b="1">
                <a:solidFill>
                  <a:srgbClr val="1B3A5C"/>
                </a:solidFill>
                <a:latin typeface="Poppins Light"/>
              </a:defRPr>
            </a:pPr>
            <a:r>
              <a:rPr dirty="0"/>
              <a:t>Per-Class Performance</a:t>
            </a:r>
          </a:p>
        </p:txBody>
      </p:sp>
      <p:graphicFrame>
        <p:nvGraphicFramePr>
          <p:cNvPr id="22" name="Table 21"/>
          <p:cNvGraphicFramePr>
            <a:graphicFrameLocks noGrp="1"/>
          </p:cNvGraphicFramePr>
          <p:nvPr>
            <p:extLst>
              <p:ext uri="{D42A27DB-BD31-4B8C-83A1-F6EECF244321}">
                <p14:modId xmlns:p14="http://schemas.microsoft.com/office/powerpoint/2010/main" val="485420490"/>
              </p:ext>
            </p:extLst>
          </p:nvPr>
        </p:nvGraphicFramePr>
        <p:xfrm>
          <a:off x="388331" y="3406140"/>
          <a:ext cx="4114800" cy="9144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304800">
                <a:tc>
                  <a:txBody>
                    <a:bodyPr/>
                    <a:lstStyle/>
                    <a:p>
                      <a:pPr>
                        <a:defRPr sz="1300" b="1">
                          <a:solidFill>
                            <a:srgbClr val="FFFFFF"/>
                          </a:solidFill>
                          <a:latin typeface="Roboto Light"/>
                        </a:defRPr>
                      </a:pPr>
                      <a:r>
                        <a:t>Class</a:t>
                      </a:r>
                    </a:p>
                  </a:txBody>
                  <a:tcPr>
                    <a:solidFill>
                      <a:srgbClr val="1B3A5C"/>
                    </a:solidFill>
                  </a:tcPr>
                </a:tc>
                <a:tc>
                  <a:txBody>
                    <a:bodyPr/>
                    <a:lstStyle/>
                    <a:p>
                      <a:pPr>
                        <a:defRPr sz="1300" b="1">
                          <a:solidFill>
                            <a:srgbClr val="FFFFFF"/>
                          </a:solidFill>
                          <a:latin typeface="Roboto Light"/>
                        </a:defRPr>
                      </a:pPr>
                      <a:r>
                        <a:t>Precision</a:t>
                      </a:r>
                    </a:p>
                  </a:txBody>
                  <a:tcPr>
                    <a:solidFill>
                      <a:srgbClr val="1B3A5C"/>
                    </a:solidFill>
                  </a:tcPr>
                </a:tc>
                <a:tc>
                  <a:txBody>
                    <a:bodyPr/>
                    <a:lstStyle/>
                    <a:p>
                      <a:pPr>
                        <a:defRPr sz="1300" b="1">
                          <a:solidFill>
                            <a:srgbClr val="FFFFFF"/>
                          </a:solidFill>
                          <a:latin typeface="Roboto Light"/>
                        </a:defRPr>
                      </a:pPr>
                      <a:r>
                        <a:t>Recall</a:t>
                      </a:r>
                    </a:p>
                  </a:txBody>
                  <a:tcPr>
                    <a:solidFill>
                      <a:srgbClr val="1B3A5C"/>
                    </a:solidFill>
                  </a:tcPr>
                </a:tc>
                <a:tc>
                  <a:txBody>
                    <a:bodyPr/>
                    <a:lstStyle/>
                    <a:p>
                      <a:pPr>
                        <a:defRPr sz="1300" b="1">
                          <a:solidFill>
                            <a:srgbClr val="FFFFFF"/>
                          </a:solidFill>
                          <a:latin typeface="Roboto Light"/>
                        </a:defRPr>
                      </a:pPr>
                      <a:r>
                        <a:t>F1-Score</a:t>
                      </a:r>
                    </a:p>
                  </a:txBody>
                  <a:tcPr>
                    <a:solidFill>
                      <a:srgbClr val="1B3A5C"/>
                    </a:solidFill>
                  </a:tcPr>
                </a:tc>
                <a:extLst>
                  <a:ext uri="{0D108BD9-81ED-4DB2-BD59-A6C34878D82A}">
                    <a16:rowId xmlns:a16="http://schemas.microsoft.com/office/drawing/2014/main" val="10000"/>
                  </a:ext>
                </a:extLst>
              </a:tr>
              <a:tr h="304800">
                <a:tc>
                  <a:txBody>
                    <a:bodyPr/>
                    <a:lstStyle/>
                    <a:p>
                      <a:pPr>
                        <a:defRPr sz="1200">
                          <a:solidFill>
                            <a:srgbClr val="333333"/>
                          </a:solidFill>
                          <a:latin typeface="Roboto Light"/>
                        </a:defRPr>
                      </a:pPr>
                      <a:r>
                        <a:t>REAL</a:t>
                      </a:r>
                    </a:p>
                  </a:txBody>
                  <a:tcPr/>
                </a:tc>
                <a:tc>
                  <a:txBody>
                    <a:bodyPr/>
                    <a:lstStyle/>
                    <a:p>
                      <a:pPr>
                        <a:defRPr sz="1200">
                          <a:solidFill>
                            <a:srgbClr val="333333"/>
                          </a:solidFill>
                          <a:latin typeface="Roboto Light"/>
                        </a:defRPr>
                      </a:pPr>
                      <a:r>
                        <a:rPr dirty="0"/>
                        <a:t>90%</a:t>
                      </a:r>
                    </a:p>
                  </a:txBody>
                  <a:tcPr/>
                </a:tc>
                <a:tc>
                  <a:txBody>
                    <a:bodyPr/>
                    <a:lstStyle/>
                    <a:p>
                      <a:pPr>
                        <a:defRPr sz="1200">
                          <a:solidFill>
                            <a:srgbClr val="333333"/>
                          </a:solidFill>
                          <a:latin typeface="Roboto Light"/>
                        </a:defRPr>
                      </a:pPr>
                      <a:r>
                        <a:t>83%</a:t>
                      </a:r>
                    </a:p>
                  </a:txBody>
                  <a:tcPr/>
                </a:tc>
                <a:tc>
                  <a:txBody>
                    <a:bodyPr/>
                    <a:lstStyle/>
                    <a:p>
                      <a:pPr>
                        <a:defRPr sz="1200">
                          <a:solidFill>
                            <a:srgbClr val="333333"/>
                          </a:solidFill>
                          <a:latin typeface="Roboto Light"/>
                        </a:defRPr>
                      </a:pPr>
                      <a:r>
                        <a:t>86%</a:t>
                      </a:r>
                    </a:p>
                  </a:txBody>
                  <a:tcPr/>
                </a:tc>
                <a:extLst>
                  <a:ext uri="{0D108BD9-81ED-4DB2-BD59-A6C34878D82A}">
                    <a16:rowId xmlns:a16="http://schemas.microsoft.com/office/drawing/2014/main" val="10001"/>
                  </a:ext>
                </a:extLst>
              </a:tr>
              <a:tr h="304800">
                <a:tc>
                  <a:txBody>
                    <a:bodyPr/>
                    <a:lstStyle/>
                    <a:p>
                      <a:pPr>
                        <a:defRPr sz="1200">
                          <a:solidFill>
                            <a:srgbClr val="333333"/>
                          </a:solidFill>
                          <a:latin typeface="Roboto Light"/>
                        </a:defRPr>
                      </a:pPr>
                      <a:r>
                        <a:t>FAKE</a:t>
                      </a:r>
                    </a:p>
                  </a:txBody>
                  <a:tcPr>
                    <a:solidFill>
                      <a:srgbClr val="F5F7FA"/>
                    </a:solidFill>
                  </a:tcPr>
                </a:tc>
                <a:tc>
                  <a:txBody>
                    <a:bodyPr/>
                    <a:lstStyle/>
                    <a:p>
                      <a:pPr>
                        <a:defRPr sz="1200">
                          <a:solidFill>
                            <a:srgbClr val="333333"/>
                          </a:solidFill>
                          <a:latin typeface="Roboto Light"/>
                        </a:defRPr>
                      </a:pPr>
                      <a:r>
                        <a:t>92%</a:t>
                      </a:r>
                    </a:p>
                  </a:txBody>
                  <a:tcPr>
                    <a:solidFill>
                      <a:srgbClr val="F5F7FA"/>
                    </a:solidFill>
                  </a:tcPr>
                </a:tc>
                <a:tc>
                  <a:txBody>
                    <a:bodyPr/>
                    <a:lstStyle/>
                    <a:p>
                      <a:pPr>
                        <a:defRPr sz="1200">
                          <a:solidFill>
                            <a:srgbClr val="333333"/>
                          </a:solidFill>
                          <a:latin typeface="Roboto Light"/>
                        </a:defRPr>
                      </a:pPr>
                      <a:r>
                        <a:t>95%</a:t>
                      </a:r>
                    </a:p>
                  </a:txBody>
                  <a:tcPr>
                    <a:solidFill>
                      <a:srgbClr val="F5F7FA"/>
                    </a:solidFill>
                  </a:tcPr>
                </a:tc>
                <a:tc>
                  <a:txBody>
                    <a:bodyPr/>
                    <a:lstStyle/>
                    <a:p>
                      <a:pPr>
                        <a:defRPr sz="1200">
                          <a:solidFill>
                            <a:srgbClr val="333333"/>
                          </a:solidFill>
                          <a:latin typeface="Roboto Light"/>
                        </a:defRPr>
                      </a:pPr>
                      <a:r>
                        <a:rPr dirty="0"/>
                        <a:t>93%</a:t>
                      </a:r>
                    </a:p>
                  </a:txBody>
                  <a:tcPr>
                    <a:solidFill>
                      <a:srgbClr val="F5F7FA"/>
                    </a:solidFill>
                  </a:tcPr>
                </a:tc>
                <a:extLst>
                  <a:ext uri="{0D108BD9-81ED-4DB2-BD59-A6C34878D82A}">
                    <a16:rowId xmlns:a16="http://schemas.microsoft.com/office/drawing/2014/main" val="10002"/>
                  </a:ext>
                </a:extLst>
              </a:tr>
            </a:tbl>
          </a:graphicData>
        </a:graphic>
      </p:graphicFrame>
      <p:sp>
        <p:nvSpPr>
          <p:cNvPr id="23" name="TextBox 22"/>
          <p:cNvSpPr txBox="1"/>
          <p:nvPr/>
        </p:nvSpPr>
        <p:spPr>
          <a:xfrm>
            <a:off x="5029200" y="3040380"/>
            <a:ext cx="3657600" cy="320040"/>
          </a:xfrm>
          <a:prstGeom prst="rect">
            <a:avLst/>
          </a:prstGeom>
          <a:noFill/>
        </p:spPr>
        <p:txBody>
          <a:bodyPr wrap="square">
            <a:spAutoFit/>
          </a:bodyPr>
          <a:lstStyle/>
          <a:p>
            <a:pPr algn="l">
              <a:defRPr sz="1500" b="1">
                <a:solidFill>
                  <a:srgbClr val="1B3A5C"/>
                </a:solidFill>
                <a:latin typeface="Poppins Light"/>
              </a:defRPr>
            </a:pPr>
            <a:r>
              <a:rPr dirty="0"/>
              <a:t>Confusion Matrix</a:t>
            </a:r>
            <a:r>
              <a:rPr lang="en-IN" dirty="0"/>
              <a:t>                                                 </a:t>
            </a:r>
            <a:endParaRPr dirty="0"/>
          </a:p>
        </p:txBody>
      </p:sp>
      <p:graphicFrame>
        <p:nvGraphicFramePr>
          <p:cNvPr id="24" name="Table 23"/>
          <p:cNvGraphicFramePr>
            <a:graphicFrameLocks noGrp="1"/>
          </p:cNvGraphicFramePr>
          <p:nvPr>
            <p:extLst>
              <p:ext uri="{D42A27DB-BD31-4B8C-83A1-F6EECF244321}">
                <p14:modId xmlns:p14="http://schemas.microsoft.com/office/powerpoint/2010/main" val="3319936171"/>
              </p:ext>
            </p:extLst>
          </p:nvPr>
        </p:nvGraphicFramePr>
        <p:xfrm>
          <a:off x="5012803" y="3406140"/>
          <a:ext cx="3474720" cy="914400"/>
        </p:xfrm>
        <a:graphic>
          <a:graphicData uri="http://schemas.openxmlformats.org/drawingml/2006/table">
            <a:tbl>
              <a:tblPr firstRow="1" bandRow="1">
                <a:tableStyleId>{5C22544A-7EE6-4342-B048-85BDC9FD1C3A}</a:tableStyleId>
              </a:tblPr>
              <a:tblGrid>
                <a:gridCol w="118872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304800">
                <a:tc>
                  <a:txBody>
                    <a:bodyPr/>
                    <a:lstStyle/>
                    <a:p>
                      <a:pPr>
                        <a:defRPr sz="1300" b="1">
                          <a:solidFill>
                            <a:srgbClr val="FFFFFF"/>
                          </a:solidFill>
                          <a:latin typeface="Roboto Light"/>
                        </a:defRPr>
                      </a:pPr>
                      <a:endParaRPr/>
                    </a:p>
                  </a:txBody>
                  <a:tcPr>
                    <a:solidFill>
                      <a:srgbClr val="1B3A5C"/>
                    </a:solidFill>
                  </a:tcPr>
                </a:tc>
                <a:tc>
                  <a:txBody>
                    <a:bodyPr/>
                    <a:lstStyle/>
                    <a:p>
                      <a:pPr>
                        <a:defRPr sz="1300" b="1">
                          <a:solidFill>
                            <a:srgbClr val="FFFFFF"/>
                          </a:solidFill>
                          <a:latin typeface="Roboto Light"/>
                        </a:defRPr>
                      </a:pPr>
                      <a:r>
                        <a:t>Pred REAL</a:t>
                      </a:r>
                    </a:p>
                  </a:txBody>
                  <a:tcPr>
                    <a:solidFill>
                      <a:srgbClr val="1B3A5C"/>
                    </a:solidFill>
                  </a:tcPr>
                </a:tc>
                <a:tc>
                  <a:txBody>
                    <a:bodyPr/>
                    <a:lstStyle/>
                    <a:p>
                      <a:pPr>
                        <a:defRPr sz="1300" b="1">
                          <a:solidFill>
                            <a:srgbClr val="FFFFFF"/>
                          </a:solidFill>
                          <a:latin typeface="Roboto Light"/>
                        </a:defRPr>
                      </a:pPr>
                      <a:r>
                        <a:t>Pred FAKE</a:t>
                      </a:r>
                    </a:p>
                  </a:txBody>
                  <a:tcPr>
                    <a:solidFill>
                      <a:srgbClr val="1B3A5C"/>
                    </a:solidFill>
                  </a:tcPr>
                </a:tc>
                <a:extLst>
                  <a:ext uri="{0D108BD9-81ED-4DB2-BD59-A6C34878D82A}">
                    <a16:rowId xmlns:a16="http://schemas.microsoft.com/office/drawing/2014/main" val="10000"/>
                  </a:ext>
                </a:extLst>
              </a:tr>
              <a:tr h="304800">
                <a:tc>
                  <a:txBody>
                    <a:bodyPr/>
                    <a:lstStyle/>
                    <a:p>
                      <a:pPr>
                        <a:defRPr sz="1200">
                          <a:solidFill>
                            <a:srgbClr val="333333"/>
                          </a:solidFill>
                          <a:latin typeface="Roboto Light"/>
                        </a:defRPr>
                      </a:pPr>
                      <a:r>
                        <a:t>Actual REAL</a:t>
                      </a:r>
                    </a:p>
                  </a:txBody>
                  <a:tcPr/>
                </a:tc>
                <a:tc>
                  <a:txBody>
                    <a:bodyPr/>
                    <a:lstStyle/>
                    <a:p>
                      <a:pPr>
                        <a:defRPr sz="1200">
                          <a:solidFill>
                            <a:srgbClr val="333333"/>
                          </a:solidFill>
                          <a:latin typeface="Roboto Light"/>
                        </a:defRPr>
                      </a:pPr>
                      <a:r>
                        <a:t>35</a:t>
                      </a:r>
                    </a:p>
                  </a:txBody>
                  <a:tcPr/>
                </a:tc>
                <a:tc>
                  <a:txBody>
                    <a:bodyPr/>
                    <a:lstStyle/>
                    <a:p>
                      <a:pPr>
                        <a:defRPr sz="1200">
                          <a:solidFill>
                            <a:srgbClr val="333333"/>
                          </a:solidFill>
                          <a:latin typeface="Roboto Light"/>
                        </a:defRPr>
                      </a:pPr>
                      <a:r>
                        <a:t>7</a:t>
                      </a:r>
                    </a:p>
                  </a:txBody>
                  <a:tcPr/>
                </a:tc>
                <a:extLst>
                  <a:ext uri="{0D108BD9-81ED-4DB2-BD59-A6C34878D82A}">
                    <a16:rowId xmlns:a16="http://schemas.microsoft.com/office/drawing/2014/main" val="10001"/>
                  </a:ext>
                </a:extLst>
              </a:tr>
              <a:tr h="304800">
                <a:tc>
                  <a:txBody>
                    <a:bodyPr/>
                    <a:lstStyle/>
                    <a:p>
                      <a:pPr>
                        <a:defRPr sz="1200">
                          <a:solidFill>
                            <a:srgbClr val="333333"/>
                          </a:solidFill>
                          <a:latin typeface="Roboto Light"/>
                        </a:defRPr>
                      </a:pPr>
                      <a:r>
                        <a:rPr dirty="0"/>
                        <a:t>Actual FAKE</a:t>
                      </a:r>
                    </a:p>
                  </a:txBody>
                  <a:tcPr>
                    <a:solidFill>
                      <a:srgbClr val="F5F7FA"/>
                    </a:solidFill>
                  </a:tcPr>
                </a:tc>
                <a:tc>
                  <a:txBody>
                    <a:bodyPr/>
                    <a:lstStyle/>
                    <a:p>
                      <a:pPr>
                        <a:defRPr sz="1200">
                          <a:solidFill>
                            <a:srgbClr val="333333"/>
                          </a:solidFill>
                          <a:latin typeface="Roboto Light"/>
                        </a:defRPr>
                      </a:pPr>
                      <a:r>
                        <a:t>4</a:t>
                      </a:r>
                    </a:p>
                  </a:txBody>
                  <a:tcPr>
                    <a:solidFill>
                      <a:srgbClr val="F5F7FA"/>
                    </a:solidFill>
                  </a:tcPr>
                </a:tc>
                <a:tc>
                  <a:txBody>
                    <a:bodyPr/>
                    <a:lstStyle/>
                    <a:p>
                      <a:pPr>
                        <a:defRPr sz="1200">
                          <a:solidFill>
                            <a:srgbClr val="333333"/>
                          </a:solidFill>
                          <a:latin typeface="Roboto Light"/>
                        </a:defRPr>
                      </a:pPr>
                      <a:r>
                        <a:rPr dirty="0"/>
                        <a:t>76</a:t>
                      </a:r>
                    </a:p>
                  </a:txBody>
                  <a:tcPr>
                    <a:solidFill>
                      <a:srgbClr val="F5F7FA"/>
                    </a:solidFill>
                  </a:tcPr>
                </a:tc>
                <a:extLst>
                  <a:ext uri="{0D108BD9-81ED-4DB2-BD59-A6C34878D82A}">
                    <a16:rowId xmlns:a16="http://schemas.microsoft.com/office/drawing/2014/main" val="10002"/>
                  </a:ext>
                </a:extLst>
              </a:tr>
            </a:tbl>
          </a:graphicData>
        </a:graphic>
      </p:graphicFrame>
      <p:sp>
        <p:nvSpPr>
          <p:cNvPr id="25" name="TextBox 24"/>
          <p:cNvSpPr txBox="1"/>
          <p:nvPr/>
        </p:nvSpPr>
        <p:spPr>
          <a:xfrm>
            <a:off x="457200" y="4572000"/>
            <a:ext cx="8229600" cy="320040"/>
          </a:xfrm>
          <a:prstGeom prst="rect">
            <a:avLst/>
          </a:prstGeom>
          <a:noFill/>
        </p:spPr>
        <p:txBody>
          <a:bodyPr wrap="square">
            <a:spAutoFit/>
          </a:bodyPr>
          <a:lstStyle/>
          <a:p>
            <a:pPr algn="l">
              <a:defRPr sz="1500" b="1">
                <a:solidFill>
                  <a:srgbClr val="1B3A5C"/>
                </a:solidFill>
                <a:latin typeface="Poppins Light"/>
              </a:defRPr>
            </a:pPr>
            <a:r>
              <a:rPr u="sng" dirty="0"/>
              <a:t>Performance Analysis</a:t>
            </a:r>
          </a:p>
        </p:txBody>
      </p:sp>
      <p:sp>
        <p:nvSpPr>
          <p:cNvPr id="26" name="TextBox 25"/>
          <p:cNvSpPr txBox="1"/>
          <p:nvPr/>
        </p:nvSpPr>
        <p:spPr>
          <a:xfrm>
            <a:off x="457200" y="4937760"/>
            <a:ext cx="8229600" cy="182880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t>• AUC of 97% indicates excellent discrimination ability across all classification thresholds</a:t>
            </a:r>
          </a:p>
          <a:p>
            <a:pPr>
              <a:spcBef>
                <a:spcPts val="200"/>
              </a:spcBef>
              <a:spcAft>
                <a:spcPts val="600"/>
              </a:spcAft>
              <a:defRPr sz="1200">
                <a:solidFill>
                  <a:srgbClr val="333333"/>
                </a:solidFill>
                <a:latin typeface="Roboto Light"/>
              </a:defRPr>
            </a:pPr>
            <a:r>
              <a:t>• Higher recall for FAKE class (95%) ensures most deepfakes are caught — critical for forensic applications</a:t>
            </a:r>
          </a:p>
          <a:p>
            <a:pPr>
              <a:spcBef>
                <a:spcPts val="200"/>
              </a:spcBef>
              <a:spcAft>
                <a:spcPts val="600"/>
              </a:spcAft>
              <a:defRPr sz="1200">
                <a:solidFill>
                  <a:srgbClr val="333333"/>
                </a:solidFill>
                <a:latin typeface="Roboto Light"/>
              </a:defRPr>
            </a:pPr>
            <a:r>
              <a:t>• Only 4 fake videos misclassified as real — very low miss rate for dangerous content</a:t>
            </a:r>
          </a:p>
          <a:p>
            <a:pPr>
              <a:spcBef>
                <a:spcPts val="200"/>
              </a:spcBef>
              <a:spcAft>
                <a:spcPts val="600"/>
              </a:spcAft>
              <a:defRPr sz="1200">
                <a:solidFill>
                  <a:srgbClr val="333333"/>
                </a:solidFill>
                <a:latin typeface="Roboto Light"/>
              </a:defRPr>
            </a:pPr>
            <a:r>
              <a:t>• 7 real videos flagged as fake — acceptable false alarm rate for high-security contexts</a:t>
            </a:r>
          </a:p>
        </p:txBody>
      </p:sp>
      <p:sp>
        <p:nvSpPr>
          <p:cNvPr id="27" name="TextBox 26"/>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14/22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Comparison with Literature</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638176955"/>
              </p:ext>
            </p:extLst>
          </p:nvPr>
        </p:nvGraphicFramePr>
        <p:xfrm>
          <a:off x="349363" y="1508760"/>
          <a:ext cx="8412480" cy="26517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65760">
                <a:tc>
                  <a:txBody>
                    <a:bodyPr/>
                    <a:lstStyle/>
                    <a:p>
                      <a:pPr>
                        <a:defRPr sz="1300" b="1">
                          <a:solidFill>
                            <a:srgbClr val="FFFFFF"/>
                          </a:solidFill>
                          <a:latin typeface="Roboto Light"/>
                        </a:defRPr>
                      </a:pPr>
                      <a:r>
                        <a:t>Method</a:t>
                      </a:r>
                    </a:p>
                  </a:txBody>
                  <a:tcPr>
                    <a:solidFill>
                      <a:srgbClr val="1B3A5C"/>
                    </a:solidFill>
                  </a:tcPr>
                </a:tc>
                <a:tc>
                  <a:txBody>
                    <a:bodyPr/>
                    <a:lstStyle/>
                    <a:p>
                      <a:pPr>
                        <a:defRPr sz="1300" b="1">
                          <a:solidFill>
                            <a:srgbClr val="FFFFFF"/>
                          </a:solidFill>
                          <a:latin typeface="Roboto Light"/>
                        </a:defRPr>
                      </a:pPr>
                      <a:r>
                        <a:t>Architecture</a:t>
                      </a:r>
                    </a:p>
                  </a:txBody>
                  <a:tcPr>
                    <a:solidFill>
                      <a:srgbClr val="1B3A5C"/>
                    </a:solidFill>
                  </a:tcPr>
                </a:tc>
                <a:tc>
                  <a:txBody>
                    <a:bodyPr/>
                    <a:lstStyle/>
                    <a:p>
                      <a:pPr>
                        <a:defRPr sz="1300" b="1">
                          <a:solidFill>
                            <a:srgbClr val="FFFFFF"/>
                          </a:solidFill>
                          <a:latin typeface="Roboto Light"/>
                        </a:defRPr>
                      </a:pPr>
                      <a:r>
                        <a:t>Dataset</a:t>
                      </a:r>
                    </a:p>
                  </a:txBody>
                  <a:tcPr>
                    <a:solidFill>
                      <a:srgbClr val="1B3A5C"/>
                    </a:solidFill>
                  </a:tcPr>
                </a:tc>
                <a:tc>
                  <a:txBody>
                    <a:bodyPr/>
                    <a:lstStyle/>
                    <a:p>
                      <a:pPr>
                        <a:defRPr sz="1300" b="1">
                          <a:solidFill>
                            <a:srgbClr val="FFFFFF"/>
                          </a:solidFill>
                          <a:latin typeface="Roboto Light"/>
                        </a:defRPr>
                      </a:pPr>
                      <a:r>
                        <a:t>Accuracy</a:t>
                      </a:r>
                    </a:p>
                  </a:txBody>
                  <a:tcPr>
                    <a:solidFill>
                      <a:srgbClr val="1B3A5C"/>
                    </a:solidFill>
                  </a:tcPr>
                </a:tc>
                <a:tc>
                  <a:txBody>
                    <a:bodyPr/>
                    <a:lstStyle/>
                    <a:p>
                      <a:pPr>
                        <a:defRPr sz="1300" b="1">
                          <a:solidFill>
                            <a:srgbClr val="FFFFFF"/>
                          </a:solidFill>
                          <a:latin typeface="Roboto Light"/>
                        </a:defRPr>
                      </a:pPr>
                      <a:r>
                        <a:t>AUC</a:t>
                      </a:r>
                    </a:p>
                  </a:txBody>
                  <a:tcPr>
                    <a:solidFill>
                      <a:srgbClr val="1B3A5C"/>
                    </a:solidFill>
                  </a:tcPr>
                </a:tc>
                <a:extLst>
                  <a:ext uri="{0D108BD9-81ED-4DB2-BD59-A6C34878D82A}">
                    <a16:rowId xmlns:a16="http://schemas.microsoft.com/office/drawing/2014/main" val="10000"/>
                  </a:ext>
                </a:extLst>
              </a:tr>
              <a:tr h="365760">
                <a:tc>
                  <a:txBody>
                    <a:bodyPr/>
                    <a:lstStyle/>
                    <a:p>
                      <a:pPr>
                        <a:defRPr sz="1200">
                          <a:solidFill>
                            <a:srgbClr val="333333"/>
                          </a:solidFill>
                          <a:latin typeface="Roboto Light"/>
                        </a:defRPr>
                      </a:pPr>
                      <a:r>
                        <a:t>MesoNet (Afchar 2018)</a:t>
                      </a:r>
                    </a:p>
                  </a:txBody>
                  <a:tcPr/>
                </a:tc>
                <a:tc>
                  <a:txBody>
                    <a:bodyPr/>
                    <a:lstStyle/>
                    <a:p>
                      <a:pPr>
                        <a:defRPr sz="1200">
                          <a:solidFill>
                            <a:srgbClr val="333333"/>
                          </a:solidFill>
                          <a:latin typeface="Roboto Light"/>
                        </a:defRPr>
                      </a:pPr>
                      <a:r>
                        <a:t>Compact CNN</a:t>
                      </a:r>
                    </a:p>
                  </a:txBody>
                  <a:tcPr/>
                </a:tc>
                <a:tc>
                  <a:txBody>
                    <a:bodyPr/>
                    <a:lstStyle/>
                    <a:p>
                      <a:pPr>
                        <a:defRPr sz="1200">
                          <a:solidFill>
                            <a:srgbClr val="333333"/>
                          </a:solidFill>
                          <a:latin typeface="Roboto Light"/>
                        </a:defRPr>
                      </a:pPr>
                      <a:r>
                        <a:t>FF++</a:t>
                      </a:r>
                    </a:p>
                  </a:txBody>
                  <a:tcPr/>
                </a:tc>
                <a:tc>
                  <a:txBody>
                    <a:bodyPr/>
                    <a:lstStyle/>
                    <a:p>
                      <a:pPr>
                        <a:defRPr sz="1200">
                          <a:solidFill>
                            <a:srgbClr val="333333"/>
                          </a:solidFill>
                          <a:latin typeface="Roboto Light"/>
                        </a:defRPr>
                      </a:pPr>
                      <a:r>
                        <a:t>84.7%</a:t>
                      </a:r>
                    </a:p>
                  </a:txBody>
                  <a:tcPr/>
                </a:tc>
                <a:tc>
                  <a:txBody>
                    <a:bodyPr/>
                    <a:lstStyle/>
                    <a:p>
                      <a:pPr>
                        <a:defRPr sz="1200">
                          <a:solidFill>
                            <a:srgbClr val="333333"/>
                          </a:solidFill>
                          <a:latin typeface="Roboto Light"/>
                        </a:defRPr>
                      </a:pPr>
                      <a:r>
                        <a:t>~87%</a:t>
                      </a:r>
                    </a:p>
                  </a:txBody>
                  <a:tcPr/>
                </a:tc>
                <a:extLst>
                  <a:ext uri="{0D108BD9-81ED-4DB2-BD59-A6C34878D82A}">
                    <a16:rowId xmlns:a16="http://schemas.microsoft.com/office/drawing/2014/main" val="10001"/>
                  </a:ext>
                </a:extLst>
              </a:tr>
              <a:tr h="365760">
                <a:tc>
                  <a:txBody>
                    <a:bodyPr/>
                    <a:lstStyle/>
                    <a:p>
                      <a:pPr>
                        <a:defRPr sz="1200">
                          <a:solidFill>
                            <a:srgbClr val="333333"/>
                          </a:solidFill>
                          <a:latin typeface="Roboto Light"/>
                        </a:defRPr>
                      </a:pPr>
                      <a:r>
                        <a:t>XceptionNet (Rössler 2019)</a:t>
                      </a:r>
                    </a:p>
                  </a:txBody>
                  <a:tcPr>
                    <a:solidFill>
                      <a:srgbClr val="F5F7FA"/>
                    </a:solidFill>
                  </a:tcPr>
                </a:tc>
                <a:tc>
                  <a:txBody>
                    <a:bodyPr/>
                    <a:lstStyle/>
                    <a:p>
                      <a:pPr>
                        <a:defRPr sz="1200">
                          <a:solidFill>
                            <a:srgbClr val="333333"/>
                          </a:solidFill>
                          <a:latin typeface="Roboto Light"/>
                        </a:defRPr>
                      </a:pPr>
                      <a:r>
                        <a:t>Xception CNN</a:t>
                      </a:r>
                    </a:p>
                  </a:txBody>
                  <a:tcPr>
                    <a:solidFill>
                      <a:srgbClr val="F5F7FA"/>
                    </a:solidFill>
                  </a:tcPr>
                </a:tc>
                <a:tc>
                  <a:txBody>
                    <a:bodyPr/>
                    <a:lstStyle/>
                    <a:p>
                      <a:pPr>
                        <a:defRPr sz="1200">
                          <a:solidFill>
                            <a:srgbClr val="333333"/>
                          </a:solidFill>
                          <a:latin typeface="Roboto Light"/>
                        </a:defRPr>
                      </a:pPr>
                      <a:r>
                        <a:t>FF++</a:t>
                      </a:r>
                    </a:p>
                  </a:txBody>
                  <a:tcPr>
                    <a:solidFill>
                      <a:srgbClr val="F5F7FA"/>
                    </a:solidFill>
                  </a:tcPr>
                </a:tc>
                <a:tc>
                  <a:txBody>
                    <a:bodyPr/>
                    <a:lstStyle/>
                    <a:p>
                      <a:pPr>
                        <a:defRPr sz="1200">
                          <a:solidFill>
                            <a:srgbClr val="333333"/>
                          </a:solidFill>
                          <a:latin typeface="Roboto Light"/>
                        </a:defRPr>
                      </a:pPr>
                      <a:r>
                        <a:t>95.7%</a:t>
                      </a:r>
                    </a:p>
                  </a:txBody>
                  <a:tcPr>
                    <a:solidFill>
                      <a:srgbClr val="F5F7FA"/>
                    </a:solidFill>
                  </a:tcPr>
                </a:tc>
                <a:tc>
                  <a:txBody>
                    <a:bodyPr/>
                    <a:lstStyle/>
                    <a:p>
                      <a:pPr>
                        <a:defRPr sz="1200">
                          <a:solidFill>
                            <a:srgbClr val="333333"/>
                          </a:solidFill>
                          <a:latin typeface="Roboto Light"/>
                        </a:defRPr>
                      </a:pPr>
                      <a:r>
                        <a:t>~96%</a:t>
                      </a:r>
                    </a:p>
                  </a:txBody>
                  <a:tcPr>
                    <a:solidFill>
                      <a:srgbClr val="F5F7FA"/>
                    </a:solidFill>
                  </a:tcPr>
                </a:tc>
                <a:extLst>
                  <a:ext uri="{0D108BD9-81ED-4DB2-BD59-A6C34878D82A}">
                    <a16:rowId xmlns:a16="http://schemas.microsoft.com/office/drawing/2014/main" val="10002"/>
                  </a:ext>
                </a:extLst>
              </a:tr>
              <a:tr h="365760">
                <a:tc>
                  <a:txBody>
                    <a:bodyPr/>
                    <a:lstStyle/>
                    <a:p>
                      <a:pPr>
                        <a:defRPr sz="1200">
                          <a:solidFill>
                            <a:srgbClr val="333333"/>
                          </a:solidFill>
                          <a:latin typeface="Roboto Light"/>
                        </a:defRPr>
                      </a:pPr>
                      <a:r>
                        <a:t>CNN-LSTM (Güera 2018)</a:t>
                      </a:r>
                    </a:p>
                  </a:txBody>
                  <a:tcPr/>
                </a:tc>
                <a:tc>
                  <a:txBody>
                    <a:bodyPr/>
                    <a:lstStyle/>
                    <a:p>
                      <a:pPr>
                        <a:defRPr sz="1200">
                          <a:solidFill>
                            <a:srgbClr val="333333"/>
                          </a:solidFill>
                          <a:latin typeface="Roboto Light"/>
                        </a:defRPr>
                      </a:pPr>
                      <a:r>
                        <a:t>CNN + LSTM</a:t>
                      </a:r>
                    </a:p>
                  </a:txBody>
                  <a:tcPr/>
                </a:tc>
                <a:tc>
                  <a:txBody>
                    <a:bodyPr/>
                    <a:lstStyle/>
                    <a:p>
                      <a:pPr>
                        <a:defRPr sz="1200">
                          <a:solidFill>
                            <a:srgbClr val="333333"/>
                          </a:solidFill>
                          <a:latin typeface="Roboto Light"/>
                        </a:defRPr>
                      </a:pPr>
                      <a:r>
                        <a:t>Custom</a:t>
                      </a:r>
                    </a:p>
                  </a:txBody>
                  <a:tcPr/>
                </a:tc>
                <a:tc>
                  <a:txBody>
                    <a:bodyPr/>
                    <a:lstStyle/>
                    <a:p>
                      <a:pPr>
                        <a:defRPr sz="1200">
                          <a:solidFill>
                            <a:srgbClr val="333333"/>
                          </a:solidFill>
                          <a:latin typeface="Roboto Light"/>
                        </a:defRPr>
                      </a:pPr>
                      <a:r>
                        <a:t>97.1%</a:t>
                      </a:r>
                    </a:p>
                  </a:txBody>
                  <a:tcPr/>
                </a:tc>
                <a:tc>
                  <a:txBody>
                    <a:bodyPr/>
                    <a:lstStyle/>
                    <a:p>
                      <a:pPr>
                        <a:defRPr sz="1200">
                          <a:solidFill>
                            <a:srgbClr val="333333"/>
                          </a:solidFill>
                          <a:latin typeface="Roboto Light"/>
                        </a:defRPr>
                      </a:pPr>
                      <a:r>
                        <a:t>—</a:t>
                      </a:r>
                    </a:p>
                  </a:txBody>
                  <a:tcPr/>
                </a:tc>
                <a:extLst>
                  <a:ext uri="{0D108BD9-81ED-4DB2-BD59-A6C34878D82A}">
                    <a16:rowId xmlns:a16="http://schemas.microsoft.com/office/drawing/2014/main" val="10003"/>
                  </a:ext>
                </a:extLst>
              </a:tr>
              <a:tr h="365760">
                <a:tc>
                  <a:txBody>
                    <a:bodyPr/>
                    <a:lstStyle/>
                    <a:p>
                      <a:pPr>
                        <a:defRPr sz="1200">
                          <a:solidFill>
                            <a:srgbClr val="333333"/>
                          </a:solidFill>
                          <a:latin typeface="Roboto Light"/>
                        </a:defRPr>
                      </a:pPr>
                      <a:r>
                        <a:t>Capsule Net (Nguyen 2019)</a:t>
                      </a:r>
                    </a:p>
                  </a:txBody>
                  <a:tcPr>
                    <a:solidFill>
                      <a:srgbClr val="F5F7FA"/>
                    </a:solidFill>
                  </a:tcPr>
                </a:tc>
                <a:tc>
                  <a:txBody>
                    <a:bodyPr/>
                    <a:lstStyle/>
                    <a:p>
                      <a:pPr>
                        <a:defRPr sz="1200">
                          <a:solidFill>
                            <a:srgbClr val="333333"/>
                          </a:solidFill>
                          <a:latin typeface="Roboto Light"/>
                        </a:defRPr>
                      </a:pPr>
                      <a:r>
                        <a:t>Capsule Network</a:t>
                      </a:r>
                    </a:p>
                  </a:txBody>
                  <a:tcPr>
                    <a:solidFill>
                      <a:srgbClr val="F5F7FA"/>
                    </a:solidFill>
                  </a:tcPr>
                </a:tc>
                <a:tc>
                  <a:txBody>
                    <a:bodyPr/>
                    <a:lstStyle/>
                    <a:p>
                      <a:pPr>
                        <a:defRPr sz="1200">
                          <a:solidFill>
                            <a:srgbClr val="333333"/>
                          </a:solidFill>
                          <a:latin typeface="Roboto Light"/>
                        </a:defRPr>
                      </a:pPr>
                      <a:r>
                        <a:t>FF++</a:t>
                      </a:r>
                    </a:p>
                  </a:txBody>
                  <a:tcPr>
                    <a:solidFill>
                      <a:srgbClr val="F5F7FA"/>
                    </a:solidFill>
                  </a:tcPr>
                </a:tc>
                <a:tc>
                  <a:txBody>
                    <a:bodyPr/>
                    <a:lstStyle/>
                    <a:p>
                      <a:pPr>
                        <a:defRPr sz="1200">
                          <a:solidFill>
                            <a:srgbClr val="333333"/>
                          </a:solidFill>
                          <a:latin typeface="Roboto Light"/>
                        </a:defRPr>
                      </a:pPr>
                      <a:r>
                        <a:t>91.4%</a:t>
                      </a:r>
                    </a:p>
                  </a:txBody>
                  <a:tcPr>
                    <a:solidFill>
                      <a:srgbClr val="F5F7FA"/>
                    </a:solidFill>
                  </a:tcPr>
                </a:tc>
                <a:tc>
                  <a:txBody>
                    <a:bodyPr/>
                    <a:lstStyle/>
                    <a:p>
                      <a:pPr>
                        <a:defRPr sz="1200">
                          <a:solidFill>
                            <a:srgbClr val="333333"/>
                          </a:solidFill>
                          <a:latin typeface="Roboto Light"/>
                        </a:defRPr>
                      </a:pPr>
                      <a:r>
                        <a:t>—</a:t>
                      </a:r>
                    </a:p>
                  </a:txBody>
                  <a:tcPr>
                    <a:solidFill>
                      <a:srgbClr val="F5F7FA"/>
                    </a:solidFill>
                  </a:tcPr>
                </a:tc>
                <a:extLst>
                  <a:ext uri="{0D108BD9-81ED-4DB2-BD59-A6C34878D82A}">
                    <a16:rowId xmlns:a16="http://schemas.microsoft.com/office/drawing/2014/main" val="10004"/>
                  </a:ext>
                </a:extLst>
              </a:tr>
              <a:tr h="365760">
                <a:tc>
                  <a:txBody>
                    <a:bodyPr/>
                    <a:lstStyle/>
                    <a:p>
                      <a:pPr>
                        <a:defRPr sz="1200">
                          <a:solidFill>
                            <a:srgbClr val="333333"/>
                          </a:solidFill>
                          <a:latin typeface="Roboto Light"/>
                        </a:defRPr>
                      </a:pPr>
                      <a:r>
                        <a:t>EfficientNet-B4 (Seferbekov)</a:t>
                      </a:r>
                    </a:p>
                  </a:txBody>
                  <a:tcPr/>
                </a:tc>
                <a:tc>
                  <a:txBody>
                    <a:bodyPr/>
                    <a:lstStyle/>
                    <a:p>
                      <a:pPr>
                        <a:defRPr sz="1200">
                          <a:solidFill>
                            <a:srgbClr val="333333"/>
                          </a:solidFill>
                          <a:latin typeface="Roboto Light"/>
                        </a:defRPr>
                      </a:pPr>
                      <a:r>
                        <a:t>EfficientNet Ensemble</a:t>
                      </a:r>
                    </a:p>
                  </a:txBody>
                  <a:tcPr/>
                </a:tc>
                <a:tc>
                  <a:txBody>
                    <a:bodyPr/>
                    <a:lstStyle/>
                    <a:p>
                      <a:pPr>
                        <a:defRPr sz="1200">
                          <a:solidFill>
                            <a:srgbClr val="333333"/>
                          </a:solidFill>
                          <a:latin typeface="Roboto Light"/>
                        </a:defRPr>
                      </a:pPr>
                      <a:r>
                        <a:t>DFDC</a:t>
                      </a:r>
                    </a:p>
                  </a:txBody>
                  <a:tcPr/>
                </a:tc>
                <a:tc>
                  <a:txBody>
                    <a:bodyPr/>
                    <a:lstStyle/>
                    <a:p>
                      <a:pPr>
                        <a:defRPr sz="1200">
                          <a:solidFill>
                            <a:srgbClr val="333333"/>
                          </a:solidFill>
                          <a:latin typeface="Roboto Light"/>
                        </a:defRPr>
                      </a:pPr>
                      <a:r>
                        <a:t>~65%</a:t>
                      </a:r>
                    </a:p>
                  </a:txBody>
                  <a:tcPr/>
                </a:tc>
                <a:tc>
                  <a:txBody>
                    <a:bodyPr/>
                    <a:lstStyle/>
                    <a:p>
                      <a:pPr>
                        <a:defRPr sz="1200">
                          <a:solidFill>
                            <a:srgbClr val="333333"/>
                          </a:solidFill>
                          <a:latin typeface="Roboto Light"/>
                        </a:defRPr>
                      </a:pPr>
                      <a:r>
                        <a:t>~75%</a:t>
                      </a:r>
                    </a:p>
                  </a:txBody>
                  <a:tcPr/>
                </a:tc>
                <a:extLst>
                  <a:ext uri="{0D108BD9-81ED-4DB2-BD59-A6C34878D82A}">
                    <a16:rowId xmlns:a16="http://schemas.microsoft.com/office/drawing/2014/main" val="10005"/>
                  </a:ext>
                </a:extLst>
              </a:tr>
              <a:tr h="365760">
                <a:tc>
                  <a:txBody>
                    <a:bodyPr/>
                    <a:lstStyle/>
                    <a:p>
                      <a:pPr>
                        <a:defRPr sz="1200">
                          <a:solidFill>
                            <a:srgbClr val="333333"/>
                          </a:solidFill>
                          <a:latin typeface="Roboto Light"/>
                        </a:defRPr>
                      </a:pPr>
                      <a:r>
                        <a:t>Ours</a:t>
                      </a:r>
                    </a:p>
                  </a:txBody>
                  <a:tcPr>
                    <a:solidFill>
                      <a:srgbClr val="F5F7FA"/>
                    </a:solidFill>
                  </a:tcPr>
                </a:tc>
                <a:tc>
                  <a:txBody>
                    <a:bodyPr/>
                    <a:lstStyle/>
                    <a:p>
                      <a:pPr>
                        <a:defRPr sz="1200">
                          <a:solidFill>
                            <a:srgbClr val="333333"/>
                          </a:solidFill>
                          <a:latin typeface="Roboto Light"/>
                        </a:defRPr>
                      </a:pPr>
                      <a:r>
                        <a:t>ResNeXt-50 + CBAM + BiLSTM</a:t>
                      </a:r>
                    </a:p>
                  </a:txBody>
                  <a:tcPr>
                    <a:solidFill>
                      <a:srgbClr val="F5F7FA"/>
                    </a:solidFill>
                  </a:tcPr>
                </a:tc>
                <a:tc>
                  <a:txBody>
                    <a:bodyPr/>
                    <a:lstStyle/>
                    <a:p>
                      <a:pPr>
                        <a:defRPr sz="1200">
                          <a:solidFill>
                            <a:srgbClr val="333333"/>
                          </a:solidFill>
                          <a:latin typeface="Roboto Light"/>
                        </a:defRPr>
                      </a:pPr>
                      <a:r>
                        <a:t>Celeb-DF v2</a:t>
                      </a:r>
                    </a:p>
                  </a:txBody>
                  <a:tcPr>
                    <a:solidFill>
                      <a:srgbClr val="F5F7FA"/>
                    </a:solidFill>
                  </a:tcPr>
                </a:tc>
                <a:tc>
                  <a:txBody>
                    <a:bodyPr/>
                    <a:lstStyle/>
                    <a:p>
                      <a:pPr>
                        <a:defRPr sz="1200">
                          <a:solidFill>
                            <a:srgbClr val="333333"/>
                          </a:solidFill>
                          <a:latin typeface="Roboto Light"/>
                        </a:defRPr>
                      </a:pPr>
                      <a:r>
                        <a:t>91.0%</a:t>
                      </a:r>
                    </a:p>
                  </a:txBody>
                  <a:tcPr>
                    <a:solidFill>
                      <a:srgbClr val="F5F7FA"/>
                    </a:solidFill>
                  </a:tcPr>
                </a:tc>
                <a:tc>
                  <a:txBody>
                    <a:bodyPr/>
                    <a:lstStyle/>
                    <a:p>
                      <a:pPr>
                        <a:defRPr sz="1200">
                          <a:solidFill>
                            <a:srgbClr val="333333"/>
                          </a:solidFill>
                          <a:latin typeface="Roboto Light"/>
                        </a:defRPr>
                      </a:pPr>
                      <a:r>
                        <a:rPr dirty="0"/>
                        <a:t>97.0%</a:t>
                      </a:r>
                    </a:p>
                  </a:txBody>
                  <a:tcPr>
                    <a:solidFill>
                      <a:srgbClr val="F5F7FA"/>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349363" y="4495800"/>
            <a:ext cx="8412480" cy="1507184"/>
          </a:xfrm>
          <a:prstGeom prst="roundRect">
            <a:avLst/>
          </a:prstGeom>
          <a:solidFill>
            <a:srgbClr val="E8F8EF"/>
          </a:solidFill>
          <a:ln w="19050">
            <a:solidFill>
              <a:srgbClr val="28A74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4510268"/>
            <a:ext cx="7863840" cy="1492716"/>
          </a:xfrm>
          <a:prstGeom prst="rect">
            <a:avLst/>
          </a:prstGeom>
          <a:noFill/>
        </p:spPr>
        <p:txBody>
          <a:bodyPr wrap="square">
            <a:spAutoFit/>
          </a:bodyPr>
          <a:lstStyle/>
          <a:p>
            <a:pPr algn="l">
              <a:defRPr sz="1300" b="0">
                <a:solidFill>
                  <a:srgbClr val="1B3A5C"/>
                </a:solidFill>
                <a:latin typeface="Roboto Light"/>
              </a:defRPr>
            </a:pPr>
            <a:r>
              <a:rPr dirty="0"/>
              <a:t>Our Advantages: </a:t>
            </a:r>
            <a:endParaRPr lang="en-IN" dirty="0"/>
          </a:p>
          <a:p>
            <a:pPr algn="l">
              <a:defRPr sz="1300" b="0">
                <a:solidFill>
                  <a:srgbClr val="1B3A5C"/>
                </a:solidFill>
                <a:latin typeface="Roboto Light"/>
              </a:defRPr>
            </a:pPr>
            <a:r>
              <a:rPr dirty="0"/>
              <a:t>(1) Combined spatial-temporal approach captures both frame-level artifacts and inter-frame inconsistencies that CNN-only methods miss. </a:t>
            </a:r>
            <a:endParaRPr lang="en-IN" dirty="0"/>
          </a:p>
          <a:p>
            <a:pPr algn="l">
              <a:defRPr sz="1300" b="0">
                <a:solidFill>
                  <a:srgbClr val="1B3A5C"/>
                </a:solidFill>
                <a:latin typeface="Roboto Light"/>
              </a:defRPr>
            </a:pPr>
            <a:r>
              <a:rPr dirty="0"/>
              <a:t>(2) CBAM attention provides forensic interpretability — visualizable attention maps show exactly which facial regions drove the prediction.</a:t>
            </a:r>
            <a:endParaRPr lang="en-IN" dirty="0"/>
          </a:p>
          <a:p>
            <a:pPr algn="l">
              <a:defRPr sz="1300" b="0">
                <a:solidFill>
                  <a:srgbClr val="1B3A5C"/>
                </a:solidFill>
                <a:latin typeface="Roboto Light"/>
              </a:defRPr>
            </a:pPr>
            <a:r>
              <a:rPr dirty="0"/>
              <a:t>(3) 97% AUC on Celeb-DF v2 demonstrates strong generalization on a challenging benchmark with unseen manipulation techniques.</a:t>
            </a:r>
          </a:p>
        </p:txBody>
      </p:sp>
      <p:sp>
        <p:nvSpPr>
          <p:cNvPr id="9" name="TextBox 8"/>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15/22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Training Dynamics &amp; Convergence</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36823" y="1577051"/>
            <a:ext cx="402336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708415"/>
            <a:ext cx="3749040" cy="320040"/>
          </a:xfrm>
          <a:prstGeom prst="rect">
            <a:avLst/>
          </a:prstGeom>
          <a:noFill/>
        </p:spPr>
        <p:txBody>
          <a:bodyPr wrap="square">
            <a:spAutoFit/>
          </a:bodyPr>
          <a:lstStyle/>
          <a:p>
            <a:pPr algn="l">
              <a:defRPr sz="1400" b="1">
                <a:solidFill>
                  <a:srgbClr val="28A745"/>
                </a:solidFill>
                <a:latin typeface="Poppins Light"/>
              </a:defRPr>
            </a:pPr>
            <a:r>
              <a:rPr dirty="0"/>
              <a:t>Training Accuracy Progression</a:t>
            </a:r>
          </a:p>
        </p:txBody>
      </p:sp>
      <p:sp>
        <p:nvSpPr>
          <p:cNvPr id="8" name="TextBox 7"/>
          <p:cNvSpPr txBox="1"/>
          <p:nvPr/>
        </p:nvSpPr>
        <p:spPr>
          <a:xfrm>
            <a:off x="502920" y="2010398"/>
            <a:ext cx="374904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Epoch 7: Train 88.85% | Val 88.24%</a:t>
            </a:r>
          </a:p>
          <a:p>
            <a:pPr>
              <a:spcBef>
                <a:spcPts val="200"/>
              </a:spcBef>
              <a:spcAft>
                <a:spcPts val="300"/>
              </a:spcAft>
              <a:defRPr sz="1200">
                <a:solidFill>
                  <a:srgbClr val="333333"/>
                </a:solidFill>
                <a:latin typeface="Roboto Light"/>
              </a:defRPr>
            </a:pPr>
            <a:r>
              <a:rPr dirty="0"/>
              <a:t>• Epoch 9: Train 88.96% | Val 90.76%</a:t>
            </a:r>
          </a:p>
          <a:p>
            <a:pPr>
              <a:spcBef>
                <a:spcPts val="200"/>
              </a:spcBef>
              <a:spcAft>
                <a:spcPts val="300"/>
              </a:spcAft>
              <a:defRPr sz="1200">
                <a:solidFill>
                  <a:srgbClr val="333333"/>
                </a:solidFill>
                <a:latin typeface="Roboto Light"/>
              </a:defRPr>
            </a:pPr>
            <a:r>
              <a:rPr dirty="0"/>
              <a:t>• Epoch 10: Train 90.62% | Val 94.12%</a:t>
            </a:r>
          </a:p>
          <a:p>
            <a:pPr>
              <a:spcBef>
                <a:spcPts val="200"/>
              </a:spcBef>
              <a:spcAft>
                <a:spcPts val="300"/>
              </a:spcAft>
              <a:defRPr sz="1200">
                <a:solidFill>
                  <a:srgbClr val="333333"/>
                </a:solidFill>
                <a:latin typeface="Roboto Light"/>
              </a:defRPr>
            </a:pPr>
            <a:r>
              <a:rPr dirty="0"/>
              <a:t>• Epoch 13: Train 93.23% | Val 94.96%</a:t>
            </a:r>
          </a:p>
          <a:p>
            <a:pPr>
              <a:spcBef>
                <a:spcPts val="200"/>
              </a:spcBef>
              <a:spcAft>
                <a:spcPts val="300"/>
              </a:spcAft>
              <a:defRPr sz="1200">
                <a:solidFill>
                  <a:srgbClr val="333333"/>
                </a:solidFill>
                <a:latin typeface="Roboto Light"/>
              </a:defRPr>
            </a:pPr>
            <a:r>
              <a:rPr dirty="0"/>
              <a:t>• Epoch 17: Train 95.31% | Val 92.44%</a:t>
            </a:r>
          </a:p>
          <a:p>
            <a:pPr>
              <a:spcBef>
                <a:spcPts val="200"/>
              </a:spcBef>
              <a:spcAft>
                <a:spcPts val="300"/>
              </a:spcAft>
              <a:defRPr sz="1200">
                <a:solidFill>
                  <a:srgbClr val="333333"/>
                </a:solidFill>
                <a:latin typeface="Roboto Light"/>
              </a:defRPr>
            </a:pPr>
            <a:r>
              <a:rPr dirty="0"/>
              <a:t>• Epoch 20: Train 95.31% | Val 96.64% (BEST)</a:t>
            </a:r>
          </a:p>
          <a:p>
            <a:pPr>
              <a:spcBef>
                <a:spcPts val="200"/>
              </a:spcBef>
              <a:spcAft>
                <a:spcPts val="300"/>
              </a:spcAft>
              <a:defRPr sz="1200">
                <a:solidFill>
                  <a:srgbClr val="333333"/>
                </a:solidFill>
                <a:latin typeface="Roboto Light"/>
              </a:defRPr>
            </a:pPr>
            <a:r>
              <a:rPr dirty="0"/>
              <a:t>• Epoch 22: Train 96.56% | Val 94.12%</a:t>
            </a:r>
          </a:p>
        </p:txBody>
      </p:sp>
      <p:sp>
        <p:nvSpPr>
          <p:cNvPr id="9" name="Rounded Rectangle 8"/>
          <p:cNvSpPr/>
          <p:nvPr/>
        </p:nvSpPr>
        <p:spPr>
          <a:xfrm>
            <a:off x="4754880" y="1572768"/>
            <a:ext cx="402336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95898" y="1708415"/>
            <a:ext cx="3749040" cy="320040"/>
          </a:xfrm>
          <a:prstGeom prst="rect">
            <a:avLst/>
          </a:prstGeom>
          <a:noFill/>
        </p:spPr>
        <p:txBody>
          <a:bodyPr wrap="square">
            <a:spAutoFit/>
          </a:bodyPr>
          <a:lstStyle/>
          <a:p>
            <a:pPr algn="l">
              <a:defRPr sz="1400" b="1">
                <a:solidFill>
                  <a:srgbClr val="E17A55"/>
                </a:solidFill>
                <a:latin typeface="Poppins Light"/>
              </a:defRPr>
            </a:pPr>
            <a:r>
              <a:rPr dirty="0"/>
              <a:t>Loss Progression</a:t>
            </a:r>
          </a:p>
        </p:txBody>
      </p:sp>
      <p:sp>
        <p:nvSpPr>
          <p:cNvPr id="11" name="TextBox 10"/>
          <p:cNvSpPr txBox="1"/>
          <p:nvPr/>
        </p:nvSpPr>
        <p:spPr>
          <a:xfrm>
            <a:off x="4892040" y="2051315"/>
            <a:ext cx="3749040" cy="1520929"/>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Epoch 7: Train 0.3947 | Val 0.3938</a:t>
            </a:r>
          </a:p>
          <a:p>
            <a:pPr>
              <a:spcBef>
                <a:spcPts val="200"/>
              </a:spcBef>
              <a:spcAft>
                <a:spcPts val="300"/>
              </a:spcAft>
              <a:defRPr sz="1200">
                <a:solidFill>
                  <a:srgbClr val="333333"/>
                </a:solidFill>
                <a:latin typeface="Roboto Light"/>
              </a:defRPr>
            </a:pPr>
            <a:r>
              <a:rPr dirty="0"/>
              <a:t>• Epoch 10: Train 0.2992 | Val 0.1761</a:t>
            </a:r>
          </a:p>
          <a:p>
            <a:pPr>
              <a:spcBef>
                <a:spcPts val="200"/>
              </a:spcBef>
              <a:spcAft>
                <a:spcPts val="300"/>
              </a:spcAft>
              <a:defRPr sz="1200">
                <a:solidFill>
                  <a:srgbClr val="333333"/>
                </a:solidFill>
                <a:latin typeface="Roboto Light"/>
              </a:defRPr>
            </a:pPr>
            <a:r>
              <a:rPr dirty="0"/>
              <a:t>• Epoch 13: Train 0.2304 | Val 0.1551 (lowest)</a:t>
            </a:r>
          </a:p>
          <a:p>
            <a:pPr>
              <a:spcBef>
                <a:spcPts val="200"/>
              </a:spcBef>
              <a:spcAft>
                <a:spcPts val="300"/>
              </a:spcAft>
              <a:defRPr sz="1200">
                <a:solidFill>
                  <a:srgbClr val="333333"/>
                </a:solidFill>
                <a:latin typeface="Roboto Light"/>
              </a:defRPr>
            </a:pPr>
            <a:r>
              <a:rPr dirty="0"/>
              <a:t>• Epoch 17: Train 0.1952 | Val 0.2791</a:t>
            </a:r>
          </a:p>
          <a:p>
            <a:pPr>
              <a:spcBef>
                <a:spcPts val="200"/>
              </a:spcBef>
              <a:spcAft>
                <a:spcPts val="300"/>
              </a:spcAft>
              <a:defRPr sz="1200">
                <a:solidFill>
                  <a:srgbClr val="333333"/>
                </a:solidFill>
                <a:latin typeface="Roboto Light"/>
              </a:defRPr>
            </a:pPr>
            <a:r>
              <a:rPr dirty="0"/>
              <a:t>• Epoch 20: Train 0.1908 | Val 0.1054</a:t>
            </a:r>
          </a:p>
          <a:p>
            <a:pPr>
              <a:spcBef>
                <a:spcPts val="200"/>
              </a:spcBef>
              <a:spcAft>
                <a:spcPts val="300"/>
              </a:spcAft>
              <a:defRPr sz="1200">
                <a:solidFill>
                  <a:srgbClr val="333333"/>
                </a:solidFill>
                <a:latin typeface="Roboto Light"/>
              </a:defRPr>
            </a:pPr>
            <a:r>
              <a:rPr dirty="0"/>
              <a:t>• Train loss consistently decreased: 0.39 → 0.13</a:t>
            </a:r>
          </a:p>
        </p:txBody>
      </p:sp>
      <p:sp>
        <p:nvSpPr>
          <p:cNvPr id="12" name="TextBox 11"/>
          <p:cNvSpPr txBox="1"/>
          <p:nvPr/>
        </p:nvSpPr>
        <p:spPr>
          <a:xfrm>
            <a:off x="502920" y="4130773"/>
            <a:ext cx="8229600" cy="320040"/>
          </a:xfrm>
          <a:prstGeom prst="rect">
            <a:avLst/>
          </a:prstGeom>
          <a:noFill/>
        </p:spPr>
        <p:txBody>
          <a:bodyPr wrap="square">
            <a:spAutoFit/>
          </a:bodyPr>
          <a:lstStyle/>
          <a:p>
            <a:pPr algn="l">
              <a:defRPr sz="1500" b="1">
                <a:solidFill>
                  <a:srgbClr val="1B3A5C"/>
                </a:solidFill>
                <a:latin typeface="Poppins Light"/>
              </a:defRPr>
            </a:pPr>
            <a:r>
              <a:t>Convergence Analysis</a:t>
            </a:r>
          </a:p>
        </p:txBody>
      </p:sp>
      <p:sp>
        <p:nvSpPr>
          <p:cNvPr id="13" name="TextBox 12"/>
          <p:cNvSpPr txBox="1"/>
          <p:nvPr/>
        </p:nvSpPr>
        <p:spPr>
          <a:xfrm>
            <a:off x="502920" y="4455096"/>
            <a:ext cx="8229600" cy="228600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rPr dirty="0"/>
              <a:t>• Two-phase strategy validated: Phase 2 fine-tuning drove accuracy from ~89% to 96.64%</a:t>
            </a:r>
          </a:p>
          <a:p>
            <a:pPr>
              <a:spcBef>
                <a:spcPts val="200"/>
              </a:spcBef>
              <a:spcAft>
                <a:spcPts val="600"/>
              </a:spcAft>
              <a:defRPr sz="1200">
                <a:solidFill>
                  <a:srgbClr val="333333"/>
                </a:solidFill>
                <a:latin typeface="Roboto Light"/>
              </a:defRPr>
            </a:pPr>
            <a:r>
              <a:rPr dirty="0"/>
              <a:t>• Validation accuracy shows some fluctuation (expected with small </a:t>
            </a:r>
            <a:r>
              <a:rPr dirty="0" err="1"/>
              <a:t>val</a:t>
            </a:r>
            <a:r>
              <a:rPr dirty="0"/>
              <a:t> set of 119 videos)</a:t>
            </a:r>
          </a:p>
          <a:p>
            <a:pPr>
              <a:spcBef>
                <a:spcPts val="200"/>
              </a:spcBef>
              <a:spcAft>
                <a:spcPts val="600"/>
              </a:spcAft>
              <a:defRPr sz="1200">
                <a:solidFill>
                  <a:srgbClr val="333333"/>
                </a:solidFill>
                <a:latin typeface="Roboto Light"/>
              </a:defRPr>
            </a:pPr>
            <a:r>
              <a:rPr dirty="0"/>
              <a:t>• Best validation loss (0.1054) at epoch 20 aligns with best accuracy — well-calibrated model</a:t>
            </a:r>
          </a:p>
          <a:p>
            <a:pPr>
              <a:spcBef>
                <a:spcPts val="200"/>
              </a:spcBef>
              <a:spcAft>
                <a:spcPts val="600"/>
              </a:spcAft>
              <a:defRPr sz="1200">
                <a:solidFill>
                  <a:srgbClr val="333333"/>
                </a:solidFill>
                <a:latin typeface="Roboto Light"/>
              </a:defRPr>
            </a:pPr>
            <a:r>
              <a:rPr dirty="0"/>
              <a:t>• No severe overfitting: training accuracy (95-96%) stays close to validation accuracy (94-96%)</a:t>
            </a:r>
          </a:p>
          <a:p>
            <a:pPr>
              <a:spcBef>
                <a:spcPts val="200"/>
              </a:spcBef>
              <a:spcAft>
                <a:spcPts val="600"/>
              </a:spcAft>
              <a:defRPr sz="1200">
                <a:solidFill>
                  <a:srgbClr val="333333"/>
                </a:solidFill>
                <a:latin typeface="Roboto Light"/>
              </a:defRPr>
            </a:pPr>
            <a:r>
              <a:rPr dirty="0"/>
              <a:t>• Early stopping triggered after 8 epochs without improvement post epoch 20</a:t>
            </a:r>
          </a:p>
        </p:txBody>
      </p:sp>
      <p:sp>
        <p:nvSpPr>
          <p:cNvPr id="14" name="TextBox 13"/>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16/22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Attention Visualization &amp; Interpretability</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447038"/>
            <a:ext cx="8229600" cy="365760"/>
          </a:xfrm>
          <a:prstGeom prst="rect">
            <a:avLst/>
          </a:prstGeom>
          <a:noFill/>
        </p:spPr>
        <p:txBody>
          <a:bodyPr wrap="square">
            <a:spAutoFit/>
          </a:bodyPr>
          <a:lstStyle/>
          <a:p>
            <a:pPr algn="l">
              <a:defRPr sz="1800" b="1">
                <a:solidFill>
                  <a:srgbClr val="1B3A5C"/>
                </a:solidFill>
                <a:latin typeface="Poppins Light"/>
              </a:defRPr>
            </a:pPr>
            <a:r>
              <a:t>How the Model "Sees" Deepfakes</a:t>
            </a:r>
          </a:p>
        </p:txBody>
      </p:sp>
      <p:sp>
        <p:nvSpPr>
          <p:cNvPr id="7" name="TextBox 6"/>
          <p:cNvSpPr txBox="1"/>
          <p:nvPr/>
        </p:nvSpPr>
        <p:spPr>
          <a:xfrm>
            <a:off x="457200" y="1828800"/>
            <a:ext cx="8229600" cy="1371600"/>
          </a:xfrm>
          <a:prstGeom prst="rect">
            <a:avLst/>
          </a:prstGeom>
          <a:noFill/>
        </p:spPr>
        <p:txBody>
          <a:bodyPr wrap="square">
            <a:spAutoFit/>
          </a:bodyPr>
          <a:lstStyle/>
          <a:p>
            <a:pPr>
              <a:spcBef>
                <a:spcPts val="200"/>
              </a:spcBef>
              <a:spcAft>
                <a:spcPts val="600"/>
              </a:spcAft>
              <a:defRPr sz="1400">
                <a:solidFill>
                  <a:srgbClr val="333333"/>
                </a:solidFill>
                <a:latin typeface="Roboto Light"/>
              </a:defRPr>
            </a:pPr>
            <a:r>
              <a:t>• CBAM attention maps are extractable via model.get_attention_maps() method</a:t>
            </a:r>
          </a:p>
          <a:p>
            <a:pPr>
              <a:spcBef>
                <a:spcPts val="200"/>
              </a:spcBef>
              <a:spcAft>
                <a:spcPts val="600"/>
              </a:spcAft>
              <a:defRPr sz="1400">
                <a:solidFill>
                  <a:srgbClr val="333333"/>
                </a:solidFill>
                <a:latin typeface="Roboto Light"/>
              </a:defRPr>
            </a:pPr>
            <a:r>
              <a:t>• Spatial attention heatmaps overlay on face images showing high-focus regions</a:t>
            </a:r>
          </a:p>
          <a:p>
            <a:pPr>
              <a:spcBef>
                <a:spcPts val="200"/>
              </a:spcBef>
              <a:spcAft>
                <a:spcPts val="600"/>
              </a:spcAft>
              <a:defRPr sz="1400">
                <a:solidFill>
                  <a:srgbClr val="333333"/>
                </a:solidFill>
                <a:latin typeface="Roboto Light"/>
              </a:defRPr>
            </a:pPr>
            <a:r>
              <a:t>• The model automatically learns to focus on forensically meaningful areas:</a:t>
            </a:r>
          </a:p>
        </p:txBody>
      </p:sp>
      <p:sp>
        <p:nvSpPr>
          <p:cNvPr id="8" name="Rounded Rectangle 7"/>
          <p:cNvSpPr/>
          <p:nvPr/>
        </p:nvSpPr>
        <p:spPr>
          <a:xfrm>
            <a:off x="274320" y="3200400"/>
            <a:ext cx="201168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3273552"/>
            <a:ext cx="1737360" cy="320040"/>
          </a:xfrm>
          <a:prstGeom prst="rect">
            <a:avLst/>
          </a:prstGeom>
          <a:noFill/>
        </p:spPr>
        <p:txBody>
          <a:bodyPr wrap="square">
            <a:spAutoFit/>
          </a:bodyPr>
          <a:lstStyle/>
          <a:p>
            <a:pPr algn="l">
              <a:defRPr sz="1400" b="1">
                <a:solidFill>
                  <a:srgbClr val="2E86AB"/>
                </a:solidFill>
                <a:latin typeface="Poppins Light"/>
              </a:defRPr>
            </a:pPr>
            <a:r>
              <a:t>Eye Region</a:t>
            </a:r>
          </a:p>
        </p:txBody>
      </p:sp>
      <p:sp>
        <p:nvSpPr>
          <p:cNvPr id="10" name="TextBox 9"/>
          <p:cNvSpPr txBox="1"/>
          <p:nvPr/>
        </p:nvSpPr>
        <p:spPr>
          <a:xfrm>
            <a:off x="411480" y="3566160"/>
            <a:ext cx="173736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Iris rendering anomalies</a:t>
            </a:r>
          </a:p>
          <a:p>
            <a:pPr>
              <a:spcBef>
                <a:spcPts val="200"/>
              </a:spcBef>
              <a:spcAft>
                <a:spcPts val="300"/>
              </a:spcAft>
              <a:defRPr sz="1200">
                <a:solidFill>
                  <a:srgbClr val="333333"/>
                </a:solidFill>
                <a:latin typeface="Roboto Light"/>
              </a:defRPr>
            </a:pPr>
            <a:r>
              <a:t>• Unnatural blinking patterns</a:t>
            </a:r>
          </a:p>
          <a:p>
            <a:pPr>
              <a:spcBef>
                <a:spcPts val="200"/>
              </a:spcBef>
              <a:spcAft>
                <a:spcPts val="300"/>
              </a:spcAft>
              <a:defRPr sz="1200">
                <a:solidFill>
                  <a:srgbClr val="333333"/>
                </a:solidFill>
                <a:latin typeface="Roboto Light"/>
              </a:defRPr>
            </a:pPr>
            <a:r>
              <a:t>• Reflection inconsistencies</a:t>
            </a:r>
          </a:p>
          <a:p>
            <a:pPr>
              <a:spcBef>
                <a:spcPts val="200"/>
              </a:spcBef>
              <a:spcAft>
                <a:spcPts val="300"/>
              </a:spcAft>
              <a:defRPr sz="1200">
                <a:solidFill>
                  <a:srgbClr val="333333"/>
                </a:solidFill>
                <a:latin typeface="Roboto Light"/>
              </a:defRPr>
            </a:pPr>
            <a:r>
              <a:t>• Eyelash generation artifacts</a:t>
            </a:r>
          </a:p>
        </p:txBody>
      </p:sp>
      <p:sp>
        <p:nvSpPr>
          <p:cNvPr id="11" name="Rounded Rectangle 10"/>
          <p:cNvSpPr/>
          <p:nvPr/>
        </p:nvSpPr>
        <p:spPr>
          <a:xfrm>
            <a:off x="2468880" y="3200400"/>
            <a:ext cx="201168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06040" y="3273552"/>
            <a:ext cx="1737360" cy="320040"/>
          </a:xfrm>
          <a:prstGeom prst="rect">
            <a:avLst/>
          </a:prstGeom>
          <a:noFill/>
        </p:spPr>
        <p:txBody>
          <a:bodyPr wrap="square">
            <a:spAutoFit/>
          </a:bodyPr>
          <a:lstStyle/>
          <a:p>
            <a:pPr algn="l">
              <a:defRPr sz="1400" b="1">
                <a:solidFill>
                  <a:srgbClr val="2E86AB"/>
                </a:solidFill>
                <a:latin typeface="Poppins Light"/>
              </a:defRPr>
            </a:pPr>
            <a:r>
              <a:t>Mouth &amp; Lips</a:t>
            </a:r>
          </a:p>
        </p:txBody>
      </p:sp>
      <p:sp>
        <p:nvSpPr>
          <p:cNvPr id="13" name="TextBox 12"/>
          <p:cNvSpPr txBox="1"/>
          <p:nvPr/>
        </p:nvSpPr>
        <p:spPr>
          <a:xfrm>
            <a:off x="2606040" y="3566160"/>
            <a:ext cx="173736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Lip sync mismatches</a:t>
            </a:r>
          </a:p>
          <a:p>
            <a:pPr>
              <a:spcBef>
                <a:spcPts val="200"/>
              </a:spcBef>
              <a:spcAft>
                <a:spcPts val="300"/>
              </a:spcAft>
              <a:defRPr sz="1200">
                <a:solidFill>
                  <a:srgbClr val="333333"/>
                </a:solidFill>
                <a:latin typeface="Roboto Light"/>
              </a:defRPr>
            </a:pPr>
            <a:r>
              <a:t>• Teeth rendering errors</a:t>
            </a:r>
          </a:p>
          <a:p>
            <a:pPr>
              <a:spcBef>
                <a:spcPts val="200"/>
              </a:spcBef>
              <a:spcAft>
                <a:spcPts val="300"/>
              </a:spcAft>
              <a:defRPr sz="1200">
                <a:solidFill>
                  <a:srgbClr val="333333"/>
                </a:solidFill>
                <a:latin typeface="Roboto Light"/>
              </a:defRPr>
            </a:pPr>
            <a:r>
              <a:t>• Jaw boundary artifacts</a:t>
            </a:r>
          </a:p>
          <a:p>
            <a:pPr>
              <a:spcBef>
                <a:spcPts val="200"/>
              </a:spcBef>
              <a:spcAft>
                <a:spcPts val="300"/>
              </a:spcAft>
              <a:defRPr sz="1200">
                <a:solidFill>
                  <a:srgbClr val="333333"/>
                </a:solidFill>
                <a:latin typeface="Roboto Light"/>
              </a:defRPr>
            </a:pPr>
            <a:r>
              <a:t>• Asymmetric movements</a:t>
            </a:r>
          </a:p>
        </p:txBody>
      </p:sp>
      <p:sp>
        <p:nvSpPr>
          <p:cNvPr id="14" name="Rounded Rectangle 13"/>
          <p:cNvSpPr/>
          <p:nvPr/>
        </p:nvSpPr>
        <p:spPr>
          <a:xfrm>
            <a:off x="4663440" y="3200400"/>
            <a:ext cx="201168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00600" y="3273552"/>
            <a:ext cx="1737360" cy="320040"/>
          </a:xfrm>
          <a:prstGeom prst="rect">
            <a:avLst/>
          </a:prstGeom>
          <a:noFill/>
        </p:spPr>
        <p:txBody>
          <a:bodyPr wrap="square">
            <a:spAutoFit/>
          </a:bodyPr>
          <a:lstStyle/>
          <a:p>
            <a:pPr algn="l">
              <a:defRPr sz="1400" b="1">
                <a:solidFill>
                  <a:srgbClr val="2E86AB"/>
                </a:solidFill>
                <a:latin typeface="Poppins Light"/>
              </a:defRPr>
            </a:pPr>
            <a:r>
              <a:t>Face Boundary</a:t>
            </a:r>
          </a:p>
        </p:txBody>
      </p:sp>
      <p:sp>
        <p:nvSpPr>
          <p:cNvPr id="16" name="TextBox 15"/>
          <p:cNvSpPr txBox="1"/>
          <p:nvPr/>
        </p:nvSpPr>
        <p:spPr>
          <a:xfrm>
            <a:off x="4800600" y="3566160"/>
            <a:ext cx="173736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Blending seam artifacts</a:t>
            </a:r>
          </a:p>
          <a:p>
            <a:pPr>
              <a:spcBef>
                <a:spcPts val="200"/>
              </a:spcBef>
              <a:spcAft>
                <a:spcPts val="300"/>
              </a:spcAft>
              <a:defRPr sz="1200">
                <a:solidFill>
                  <a:srgbClr val="333333"/>
                </a:solidFill>
                <a:latin typeface="Roboto Light"/>
              </a:defRPr>
            </a:pPr>
            <a:r>
              <a:t>• Color temperature shifts</a:t>
            </a:r>
          </a:p>
          <a:p>
            <a:pPr>
              <a:spcBef>
                <a:spcPts val="200"/>
              </a:spcBef>
              <a:spcAft>
                <a:spcPts val="300"/>
              </a:spcAft>
              <a:defRPr sz="1200">
                <a:solidFill>
                  <a:srgbClr val="333333"/>
                </a:solidFill>
                <a:latin typeface="Roboto Light"/>
              </a:defRPr>
            </a:pPr>
            <a:r>
              <a:t>• Resolution mismatch</a:t>
            </a:r>
          </a:p>
          <a:p>
            <a:pPr>
              <a:spcBef>
                <a:spcPts val="200"/>
              </a:spcBef>
              <a:spcAft>
                <a:spcPts val="300"/>
              </a:spcAft>
              <a:defRPr sz="1200">
                <a:solidFill>
                  <a:srgbClr val="333333"/>
                </a:solidFill>
                <a:latin typeface="Roboto Light"/>
              </a:defRPr>
            </a:pPr>
            <a:r>
              <a:t>• Lighting inconsistencies</a:t>
            </a:r>
          </a:p>
        </p:txBody>
      </p:sp>
      <p:sp>
        <p:nvSpPr>
          <p:cNvPr id="17" name="Rounded Rectangle 16"/>
          <p:cNvSpPr/>
          <p:nvPr/>
        </p:nvSpPr>
        <p:spPr>
          <a:xfrm>
            <a:off x="6858000" y="3200400"/>
            <a:ext cx="2011680" cy="22860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926580" y="3273552"/>
            <a:ext cx="1874520" cy="320040"/>
          </a:xfrm>
          <a:prstGeom prst="rect">
            <a:avLst/>
          </a:prstGeom>
          <a:noFill/>
        </p:spPr>
        <p:txBody>
          <a:bodyPr wrap="square">
            <a:spAutoFit/>
          </a:bodyPr>
          <a:lstStyle/>
          <a:p>
            <a:pPr algn="l">
              <a:defRPr sz="1400" b="1">
                <a:solidFill>
                  <a:srgbClr val="2E86AB"/>
                </a:solidFill>
                <a:latin typeface="Poppins Light"/>
              </a:defRPr>
            </a:pPr>
            <a:r>
              <a:rPr dirty="0"/>
              <a:t>Temporal Patterns</a:t>
            </a:r>
          </a:p>
        </p:txBody>
      </p:sp>
      <p:sp>
        <p:nvSpPr>
          <p:cNvPr id="19" name="TextBox 18"/>
          <p:cNvSpPr txBox="1"/>
          <p:nvPr/>
        </p:nvSpPr>
        <p:spPr>
          <a:xfrm>
            <a:off x="6995160" y="3566160"/>
            <a:ext cx="1737360" cy="1828800"/>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t>• Frame-to-frame flickering</a:t>
            </a:r>
          </a:p>
          <a:p>
            <a:pPr>
              <a:spcBef>
                <a:spcPts val="200"/>
              </a:spcBef>
              <a:spcAft>
                <a:spcPts val="300"/>
              </a:spcAft>
              <a:defRPr sz="1200">
                <a:solidFill>
                  <a:srgbClr val="333333"/>
                </a:solidFill>
                <a:latin typeface="Roboto Light"/>
              </a:defRPr>
            </a:pPr>
            <a:r>
              <a:t>• Unnatural head motion</a:t>
            </a:r>
          </a:p>
          <a:p>
            <a:pPr>
              <a:spcBef>
                <a:spcPts val="200"/>
              </a:spcBef>
              <a:spcAft>
                <a:spcPts val="300"/>
              </a:spcAft>
              <a:defRPr sz="1200">
                <a:solidFill>
                  <a:srgbClr val="333333"/>
                </a:solidFill>
                <a:latin typeface="Roboto Light"/>
              </a:defRPr>
            </a:pPr>
            <a:r>
              <a:t>• Blink frequency anomaly</a:t>
            </a:r>
          </a:p>
          <a:p>
            <a:pPr>
              <a:spcBef>
                <a:spcPts val="200"/>
              </a:spcBef>
              <a:spcAft>
                <a:spcPts val="300"/>
              </a:spcAft>
              <a:defRPr sz="1200">
                <a:solidFill>
                  <a:srgbClr val="333333"/>
                </a:solidFill>
                <a:latin typeface="Roboto Light"/>
              </a:defRPr>
            </a:pPr>
            <a:r>
              <a:t>• Color shift across frames</a:t>
            </a:r>
          </a:p>
        </p:txBody>
      </p:sp>
      <p:sp>
        <p:nvSpPr>
          <p:cNvPr id="20" name="TextBox 19"/>
          <p:cNvSpPr txBox="1"/>
          <p:nvPr/>
        </p:nvSpPr>
        <p:spPr>
          <a:xfrm>
            <a:off x="411480" y="5609844"/>
            <a:ext cx="8229600" cy="548640"/>
          </a:xfrm>
          <a:prstGeom prst="rect">
            <a:avLst/>
          </a:prstGeom>
          <a:noFill/>
        </p:spPr>
        <p:txBody>
          <a:bodyPr wrap="square">
            <a:spAutoFit/>
          </a:bodyPr>
          <a:lstStyle/>
          <a:p>
            <a:pPr algn="l">
              <a:defRPr sz="1200" b="0">
                <a:solidFill>
                  <a:srgbClr val="1B3A5C"/>
                </a:solidFill>
                <a:latin typeface="Roboto Light"/>
              </a:defRPr>
            </a:pPr>
            <a:r>
              <a:rPr dirty="0"/>
              <a:t>Forensic Benefit: Attention maps provide explainability — forensic experts can verify WHY the model flagged a video, not just the binary prediction. This transparency is critical for legal/evidentiary use.</a:t>
            </a:r>
          </a:p>
        </p:txBody>
      </p:sp>
      <p:sp>
        <p:nvSpPr>
          <p:cNvPr id="21" name="TextBox 20"/>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17/22</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Web Application &amp; Deployment</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34822" y="1778990"/>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1982" y="1852142"/>
            <a:ext cx="3749040" cy="320040"/>
          </a:xfrm>
          <a:prstGeom prst="rect">
            <a:avLst/>
          </a:prstGeom>
          <a:noFill/>
        </p:spPr>
        <p:txBody>
          <a:bodyPr wrap="square">
            <a:spAutoFit/>
          </a:bodyPr>
          <a:lstStyle/>
          <a:p>
            <a:pPr algn="l">
              <a:defRPr sz="1400" b="1">
                <a:solidFill>
                  <a:srgbClr val="2E86AB"/>
                </a:solidFill>
                <a:latin typeface="Poppins Light"/>
              </a:defRPr>
            </a:pPr>
            <a:r>
              <a:t>Backend (FastAPI on Port 8000)</a:t>
            </a:r>
          </a:p>
        </p:txBody>
      </p:sp>
      <p:sp>
        <p:nvSpPr>
          <p:cNvPr id="8" name="TextBox 7"/>
          <p:cNvSpPr txBox="1"/>
          <p:nvPr/>
        </p:nvSpPr>
        <p:spPr>
          <a:xfrm>
            <a:off x="571982" y="2144750"/>
            <a:ext cx="3749040" cy="2018501"/>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Endpoints:</a:t>
            </a:r>
          </a:p>
          <a:p>
            <a:pPr>
              <a:spcBef>
                <a:spcPts val="200"/>
              </a:spcBef>
              <a:spcAft>
                <a:spcPts val="300"/>
              </a:spcAft>
              <a:defRPr sz="1200">
                <a:solidFill>
                  <a:srgbClr val="333333"/>
                </a:solidFill>
                <a:latin typeface="Roboto Light"/>
              </a:defRPr>
            </a:pPr>
            <a:r>
              <a:rPr dirty="0"/>
              <a:t>•   GET /         — API info</a:t>
            </a:r>
          </a:p>
          <a:p>
            <a:pPr>
              <a:spcBef>
                <a:spcPts val="200"/>
              </a:spcBef>
              <a:spcAft>
                <a:spcPts val="300"/>
              </a:spcAft>
              <a:defRPr sz="1200">
                <a:solidFill>
                  <a:srgbClr val="333333"/>
                </a:solidFill>
                <a:latin typeface="Roboto Light"/>
              </a:defRPr>
            </a:pPr>
            <a:r>
              <a:rPr dirty="0"/>
              <a:t>•   GET /health   — Health check (model, device)</a:t>
            </a:r>
          </a:p>
          <a:p>
            <a:pPr>
              <a:spcBef>
                <a:spcPts val="200"/>
              </a:spcBef>
              <a:spcAft>
                <a:spcPts val="300"/>
              </a:spcAft>
              <a:defRPr sz="1200">
                <a:solidFill>
                  <a:srgbClr val="333333"/>
                </a:solidFill>
                <a:latin typeface="Roboto Light"/>
              </a:defRPr>
            </a:pPr>
            <a:r>
              <a:rPr dirty="0"/>
              <a:t>•   POST /predict — Upload video, get prediction</a:t>
            </a:r>
          </a:p>
          <a:p>
            <a:pPr>
              <a:spcBef>
                <a:spcPts val="200"/>
              </a:spcBef>
              <a:spcAft>
                <a:spcPts val="300"/>
              </a:spcAft>
              <a:defRPr sz="1200">
                <a:solidFill>
                  <a:srgbClr val="333333"/>
                </a:solidFill>
                <a:latin typeface="Roboto Light"/>
              </a:defRPr>
            </a:pPr>
            <a:r>
              <a:rPr dirty="0"/>
              <a:t>•   GET /docs     — Interactive API docs</a:t>
            </a:r>
          </a:p>
          <a:p>
            <a:pPr>
              <a:spcBef>
                <a:spcPts val="200"/>
              </a:spcBef>
              <a:spcAft>
                <a:spcPts val="300"/>
              </a:spcAft>
              <a:defRPr sz="1200">
                <a:solidFill>
                  <a:srgbClr val="333333"/>
                </a:solidFill>
                <a:latin typeface="Roboto Light"/>
              </a:defRPr>
            </a:pPr>
            <a:r>
              <a:rPr dirty="0"/>
              <a:t>• Accepts: mp4, avi, mov, </a:t>
            </a:r>
            <a:r>
              <a:rPr dirty="0" err="1"/>
              <a:t>mkv</a:t>
            </a:r>
            <a:r>
              <a:rPr dirty="0"/>
              <a:t>, </a:t>
            </a:r>
            <a:r>
              <a:rPr dirty="0" err="1"/>
              <a:t>webm</a:t>
            </a:r>
            <a:endParaRPr dirty="0"/>
          </a:p>
          <a:p>
            <a:pPr>
              <a:spcBef>
                <a:spcPts val="200"/>
              </a:spcBef>
              <a:spcAft>
                <a:spcPts val="300"/>
              </a:spcAft>
              <a:defRPr sz="1200">
                <a:solidFill>
                  <a:srgbClr val="333333"/>
                </a:solidFill>
                <a:latin typeface="Roboto Light"/>
              </a:defRPr>
            </a:pPr>
            <a:r>
              <a:rPr dirty="0"/>
              <a:t>• Auto-loads model from checkpoints/</a:t>
            </a:r>
          </a:p>
          <a:p>
            <a:pPr>
              <a:spcBef>
                <a:spcPts val="200"/>
              </a:spcBef>
              <a:spcAft>
                <a:spcPts val="300"/>
              </a:spcAft>
              <a:defRPr sz="1200">
                <a:solidFill>
                  <a:srgbClr val="333333"/>
                </a:solidFill>
                <a:latin typeface="Roboto Light"/>
              </a:defRPr>
            </a:pPr>
            <a:r>
              <a:rPr dirty="0"/>
              <a:t>• GPU inference when CUDA available</a:t>
            </a:r>
          </a:p>
        </p:txBody>
      </p:sp>
      <p:sp>
        <p:nvSpPr>
          <p:cNvPr id="9" name="Rounded Rectangle 8"/>
          <p:cNvSpPr/>
          <p:nvPr/>
        </p:nvSpPr>
        <p:spPr>
          <a:xfrm>
            <a:off x="4753915" y="1737360"/>
            <a:ext cx="4023360" cy="256032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64961" y="1834240"/>
            <a:ext cx="3749040" cy="320040"/>
          </a:xfrm>
          <a:prstGeom prst="rect">
            <a:avLst/>
          </a:prstGeom>
          <a:noFill/>
        </p:spPr>
        <p:txBody>
          <a:bodyPr wrap="square">
            <a:spAutoFit/>
          </a:bodyPr>
          <a:lstStyle/>
          <a:p>
            <a:pPr algn="l">
              <a:defRPr sz="1400" b="1">
                <a:solidFill>
                  <a:srgbClr val="28A745"/>
                </a:solidFill>
                <a:latin typeface="Poppins Light"/>
              </a:defRPr>
            </a:pPr>
            <a:r>
              <a:rPr dirty="0"/>
              <a:t>Frontend (HTML/JS on Port 3000)</a:t>
            </a:r>
          </a:p>
        </p:txBody>
      </p:sp>
      <p:sp>
        <p:nvSpPr>
          <p:cNvPr id="11" name="TextBox 10"/>
          <p:cNvSpPr txBox="1"/>
          <p:nvPr/>
        </p:nvSpPr>
        <p:spPr>
          <a:xfrm>
            <a:off x="4970748" y="2200000"/>
            <a:ext cx="3749040" cy="2018501"/>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Single-page application</a:t>
            </a:r>
          </a:p>
          <a:p>
            <a:pPr>
              <a:spcBef>
                <a:spcPts val="200"/>
              </a:spcBef>
              <a:spcAft>
                <a:spcPts val="300"/>
              </a:spcAft>
              <a:defRPr sz="1200">
                <a:solidFill>
                  <a:srgbClr val="333333"/>
                </a:solidFill>
                <a:latin typeface="Roboto Light"/>
              </a:defRPr>
            </a:pPr>
            <a:r>
              <a:rPr dirty="0"/>
              <a:t>• Drag-and-drop video upload</a:t>
            </a:r>
          </a:p>
          <a:p>
            <a:pPr>
              <a:spcBef>
                <a:spcPts val="200"/>
              </a:spcBef>
              <a:spcAft>
                <a:spcPts val="300"/>
              </a:spcAft>
              <a:defRPr sz="1200">
                <a:solidFill>
                  <a:srgbClr val="333333"/>
                </a:solidFill>
                <a:latin typeface="Roboto Light"/>
              </a:defRPr>
            </a:pPr>
            <a:r>
              <a:rPr dirty="0"/>
              <a:t>• Real-time analysis with loading spinner</a:t>
            </a:r>
          </a:p>
          <a:p>
            <a:pPr>
              <a:spcBef>
                <a:spcPts val="200"/>
              </a:spcBef>
              <a:spcAft>
                <a:spcPts val="300"/>
              </a:spcAft>
              <a:defRPr sz="1200">
                <a:solidFill>
                  <a:srgbClr val="333333"/>
                </a:solidFill>
                <a:latin typeface="Roboto Light"/>
              </a:defRPr>
            </a:pPr>
            <a:r>
              <a:rPr dirty="0"/>
              <a:t>• Visual result display: REAL/FAKE + confidence</a:t>
            </a:r>
          </a:p>
          <a:p>
            <a:pPr>
              <a:spcBef>
                <a:spcPts val="200"/>
              </a:spcBef>
              <a:spcAft>
                <a:spcPts val="300"/>
              </a:spcAft>
              <a:defRPr sz="1200">
                <a:solidFill>
                  <a:srgbClr val="333333"/>
                </a:solidFill>
                <a:latin typeface="Roboto Light"/>
              </a:defRPr>
            </a:pPr>
            <a:r>
              <a:rPr dirty="0"/>
              <a:t>• Fake probability bar chart</a:t>
            </a:r>
          </a:p>
          <a:p>
            <a:pPr>
              <a:spcBef>
                <a:spcPts val="200"/>
              </a:spcBef>
              <a:spcAft>
                <a:spcPts val="300"/>
              </a:spcAft>
              <a:defRPr sz="1200">
                <a:solidFill>
                  <a:srgbClr val="333333"/>
                </a:solidFill>
                <a:latin typeface="Roboto Light"/>
              </a:defRPr>
            </a:pPr>
            <a:r>
              <a:rPr dirty="0"/>
              <a:t>• Responsive design with gradient background</a:t>
            </a:r>
          </a:p>
          <a:p>
            <a:pPr>
              <a:spcBef>
                <a:spcPts val="200"/>
              </a:spcBef>
              <a:spcAft>
                <a:spcPts val="300"/>
              </a:spcAft>
              <a:defRPr sz="1200">
                <a:solidFill>
                  <a:srgbClr val="333333"/>
                </a:solidFill>
                <a:latin typeface="Roboto Light"/>
              </a:defRPr>
            </a:pPr>
            <a:r>
              <a:rPr dirty="0"/>
              <a:t>• No external dependencies required</a:t>
            </a:r>
          </a:p>
          <a:p>
            <a:pPr>
              <a:spcBef>
                <a:spcPts val="200"/>
              </a:spcBef>
              <a:spcAft>
                <a:spcPts val="300"/>
              </a:spcAft>
              <a:defRPr sz="1200">
                <a:solidFill>
                  <a:srgbClr val="333333"/>
                </a:solidFill>
                <a:latin typeface="Roboto Light"/>
              </a:defRPr>
            </a:pPr>
            <a:r>
              <a:rPr dirty="0"/>
              <a:t>• Works in any modern browser</a:t>
            </a:r>
          </a:p>
        </p:txBody>
      </p:sp>
      <p:sp>
        <p:nvSpPr>
          <p:cNvPr id="12" name="TextBox 11"/>
          <p:cNvSpPr txBox="1"/>
          <p:nvPr/>
        </p:nvSpPr>
        <p:spPr>
          <a:xfrm>
            <a:off x="490188" y="4618685"/>
            <a:ext cx="8229600" cy="320040"/>
          </a:xfrm>
          <a:prstGeom prst="rect">
            <a:avLst/>
          </a:prstGeom>
          <a:noFill/>
        </p:spPr>
        <p:txBody>
          <a:bodyPr wrap="square">
            <a:spAutoFit/>
          </a:bodyPr>
          <a:lstStyle/>
          <a:p>
            <a:pPr algn="l">
              <a:defRPr sz="1500" b="1">
                <a:solidFill>
                  <a:srgbClr val="1B3A5C"/>
                </a:solidFill>
                <a:latin typeface="Poppins Light"/>
              </a:defRPr>
            </a:pPr>
            <a:r>
              <a:t>Inference Pipeline (End-to-End)</a:t>
            </a:r>
          </a:p>
        </p:txBody>
      </p:sp>
      <p:sp>
        <p:nvSpPr>
          <p:cNvPr id="13" name="Rounded Rectangle 12"/>
          <p:cNvSpPr/>
          <p:nvPr/>
        </p:nvSpPr>
        <p:spPr>
          <a:xfrm>
            <a:off x="398748" y="4984445"/>
            <a:ext cx="12801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4468" y="5030165"/>
            <a:ext cx="1188720" cy="228600"/>
          </a:xfrm>
          <a:prstGeom prst="rect">
            <a:avLst/>
          </a:prstGeom>
          <a:noFill/>
        </p:spPr>
        <p:txBody>
          <a:bodyPr wrap="square">
            <a:spAutoFit/>
          </a:bodyPr>
          <a:lstStyle/>
          <a:p>
            <a:pPr algn="ctr">
              <a:defRPr sz="1100" b="1">
                <a:solidFill>
                  <a:srgbClr val="FFFFFF"/>
                </a:solidFill>
                <a:latin typeface="Poppins Light"/>
              </a:defRPr>
            </a:pPr>
            <a:r>
              <a:t>Upload</a:t>
            </a:r>
          </a:p>
        </p:txBody>
      </p:sp>
      <p:sp>
        <p:nvSpPr>
          <p:cNvPr id="15" name="TextBox 14"/>
          <p:cNvSpPr txBox="1"/>
          <p:nvPr/>
        </p:nvSpPr>
        <p:spPr>
          <a:xfrm>
            <a:off x="444468" y="5258765"/>
            <a:ext cx="1188720" cy="457200"/>
          </a:xfrm>
          <a:prstGeom prst="rect">
            <a:avLst/>
          </a:prstGeom>
          <a:noFill/>
        </p:spPr>
        <p:txBody>
          <a:bodyPr wrap="square">
            <a:spAutoFit/>
          </a:bodyPr>
          <a:lstStyle/>
          <a:p>
            <a:pPr algn="ctr">
              <a:defRPr sz="800" b="0">
                <a:solidFill>
                  <a:srgbClr val="EEEEEE"/>
                </a:solidFill>
                <a:latin typeface="Roboto Light"/>
              </a:defRPr>
            </a:pPr>
            <a:r>
              <a:t>Video file received via POST request</a:t>
            </a:r>
          </a:p>
        </p:txBody>
      </p:sp>
      <p:sp>
        <p:nvSpPr>
          <p:cNvPr id="16" name="Rounded Rectangle 15"/>
          <p:cNvSpPr/>
          <p:nvPr/>
        </p:nvSpPr>
        <p:spPr>
          <a:xfrm>
            <a:off x="1816068" y="4984445"/>
            <a:ext cx="12801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61788" y="5030165"/>
            <a:ext cx="1188720" cy="228600"/>
          </a:xfrm>
          <a:prstGeom prst="rect">
            <a:avLst/>
          </a:prstGeom>
          <a:noFill/>
        </p:spPr>
        <p:txBody>
          <a:bodyPr wrap="square">
            <a:spAutoFit/>
          </a:bodyPr>
          <a:lstStyle/>
          <a:p>
            <a:pPr algn="ctr">
              <a:defRPr sz="1100" b="1">
                <a:solidFill>
                  <a:srgbClr val="FFFFFF"/>
                </a:solidFill>
                <a:latin typeface="Poppins Light"/>
              </a:defRPr>
            </a:pPr>
            <a:r>
              <a:t>Extract</a:t>
            </a:r>
          </a:p>
        </p:txBody>
      </p:sp>
      <p:sp>
        <p:nvSpPr>
          <p:cNvPr id="18" name="TextBox 17"/>
          <p:cNvSpPr txBox="1"/>
          <p:nvPr/>
        </p:nvSpPr>
        <p:spPr>
          <a:xfrm>
            <a:off x="1861788" y="5258765"/>
            <a:ext cx="1188720" cy="457200"/>
          </a:xfrm>
          <a:prstGeom prst="rect">
            <a:avLst/>
          </a:prstGeom>
          <a:noFill/>
        </p:spPr>
        <p:txBody>
          <a:bodyPr wrap="square">
            <a:spAutoFit/>
          </a:bodyPr>
          <a:lstStyle/>
          <a:p>
            <a:pPr algn="ctr">
              <a:defRPr sz="800" b="0">
                <a:solidFill>
                  <a:srgbClr val="EEEEEE"/>
                </a:solidFill>
                <a:latin typeface="Roboto Light"/>
              </a:defRPr>
            </a:pPr>
            <a:r>
              <a:t>16 frames sampled uniformly from video</a:t>
            </a:r>
          </a:p>
        </p:txBody>
      </p:sp>
      <p:sp>
        <p:nvSpPr>
          <p:cNvPr id="19" name="Rounded Rectangle 18"/>
          <p:cNvSpPr/>
          <p:nvPr/>
        </p:nvSpPr>
        <p:spPr>
          <a:xfrm>
            <a:off x="3233388" y="4984445"/>
            <a:ext cx="12801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79108" y="5030165"/>
            <a:ext cx="1188720" cy="228600"/>
          </a:xfrm>
          <a:prstGeom prst="rect">
            <a:avLst/>
          </a:prstGeom>
          <a:noFill/>
        </p:spPr>
        <p:txBody>
          <a:bodyPr wrap="square">
            <a:spAutoFit/>
          </a:bodyPr>
          <a:lstStyle/>
          <a:p>
            <a:pPr algn="ctr">
              <a:defRPr sz="1100" b="1">
                <a:solidFill>
                  <a:srgbClr val="FFFFFF"/>
                </a:solidFill>
                <a:latin typeface="Poppins Light"/>
              </a:defRPr>
            </a:pPr>
            <a:r>
              <a:t>Detect</a:t>
            </a:r>
          </a:p>
        </p:txBody>
      </p:sp>
      <p:sp>
        <p:nvSpPr>
          <p:cNvPr id="21" name="TextBox 20"/>
          <p:cNvSpPr txBox="1"/>
          <p:nvPr/>
        </p:nvSpPr>
        <p:spPr>
          <a:xfrm>
            <a:off x="3279108" y="5258765"/>
            <a:ext cx="1188720" cy="457200"/>
          </a:xfrm>
          <a:prstGeom prst="rect">
            <a:avLst/>
          </a:prstGeom>
          <a:noFill/>
        </p:spPr>
        <p:txBody>
          <a:bodyPr wrap="square">
            <a:spAutoFit/>
          </a:bodyPr>
          <a:lstStyle/>
          <a:p>
            <a:pPr algn="ctr">
              <a:defRPr sz="800" b="0">
                <a:solidFill>
                  <a:srgbClr val="EEEEEE"/>
                </a:solidFill>
                <a:latin typeface="Roboto Light"/>
              </a:defRPr>
            </a:pPr>
            <a:r>
              <a:t>MTCNN/RetinaFace detects and crops faces</a:t>
            </a:r>
          </a:p>
        </p:txBody>
      </p:sp>
      <p:sp>
        <p:nvSpPr>
          <p:cNvPr id="22" name="Rounded Rectangle 21"/>
          <p:cNvSpPr/>
          <p:nvPr/>
        </p:nvSpPr>
        <p:spPr>
          <a:xfrm>
            <a:off x="4650708" y="4984445"/>
            <a:ext cx="12801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96428" y="5030165"/>
            <a:ext cx="1188720" cy="228600"/>
          </a:xfrm>
          <a:prstGeom prst="rect">
            <a:avLst/>
          </a:prstGeom>
          <a:noFill/>
        </p:spPr>
        <p:txBody>
          <a:bodyPr wrap="square">
            <a:spAutoFit/>
          </a:bodyPr>
          <a:lstStyle/>
          <a:p>
            <a:pPr algn="ctr">
              <a:defRPr sz="1100" b="1">
                <a:solidFill>
                  <a:srgbClr val="FFFFFF"/>
                </a:solidFill>
                <a:latin typeface="Poppins Light"/>
              </a:defRPr>
            </a:pPr>
            <a:r>
              <a:t>Align</a:t>
            </a:r>
          </a:p>
        </p:txBody>
      </p:sp>
      <p:sp>
        <p:nvSpPr>
          <p:cNvPr id="24" name="TextBox 23"/>
          <p:cNvSpPr txBox="1"/>
          <p:nvPr/>
        </p:nvSpPr>
        <p:spPr>
          <a:xfrm>
            <a:off x="4696428" y="5258765"/>
            <a:ext cx="1188720" cy="457200"/>
          </a:xfrm>
          <a:prstGeom prst="rect">
            <a:avLst/>
          </a:prstGeom>
          <a:noFill/>
        </p:spPr>
        <p:txBody>
          <a:bodyPr wrap="square">
            <a:spAutoFit/>
          </a:bodyPr>
          <a:lstStyle/>
          <a:p>
            <a:pPr algn="ctr">
              <a:defRPr sz="800" b="0">
                <a:solidFill>
                  <a:srgbClr val="EEEEEE"/>
                </a:solidFill>
                <a:latin typeface="Roboto Light"/>
              </a:defRPr>
            </a:pPr>
            <a:r>
              <a:t>Landmark-based affine alignment to 224×224</a:t>
            </a:r>
          </a:p>
        </p:txBody>
      </p:sp>
      <p:sp>
        <p:nvSpPr>
          <p:cNvPr id="25" name="Rounded Rectangle 24"/>
          <p:cNvSpPr/>
          <p:nvPr/>
        </p:nvSpPr>
        <p:spPr>
          <a:xfrm>
            <a:off x="6068028" y="4984445"/>
            <a:ext cx="1280160" cy="77724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13748" y="5030165"/>
            <a:ext cx="1188720" cy="228600"/>
          </a:xfrm>
          <a:prstGeom prst="rect">
            <a:avLst/>
          </a:prstGeom>
          <a:noFill/>
        </p:spPr>
        <p:txBody>
          <a:bodyPr wrap="square">
            <a:spAutoFit/>
          </a:bodyPr>
          <a:lstStyle/>
          <a:p>
            <a:pPr algn="ctr">
              <a:defRPr sz="1100" b="1">
                <a:solidFill>
                  <a:srgbClr val="FFFFFF"/>
                </a:solidFill>
                <a:latin typeface="Poppins Light"/>
              </a:defRPr>
            </a:pPr>
            <a:r>
              <a:t>Infer</a:t>
            </a:r>
          </a:p>
        </p:txBody>
      </p:sp>
      <p:sp>
        <p:nvSpPr>
          <p:cNvPr id="27" name="TextBox 26"/>
          <p:cNvSpPr txBox="1"/>
          <p:nvPr/>
        </p:nvSpPr>
        <p:spPr>
          <a:xfrm>
            <a:off x="6113748" y="5258765"/>
            <a:ext cx="1188720" cy="457200"/>
          </a:xfrm>
          <a:prstGeom prst="rect">
            <a:avLst/>
          </a:prstGeom>
          <a:noFill/>
        </p:spPr>
        <p:txBody>
          <a:bodyPr wrap="square">
            <a:spAutoFit/>
          </a:bodyPr>
          <a:lstStyle/>
          <a:p>
            <a:pPr algn="ctr">
              <a:defRPr sz="800" b="0">
                <a:solidFill>
                  <a:srgbClr val="EEEEEE"/>
                </a:solidFill>
                <a:latin typeface="Roboto Light"/>
              </a:defRPr>
            </a:pPr>
            <a:r>
              <a:t>Model forward pass with torch.no_grad()</a:t>
            </a:r>
          </a:p>
        </p:txBody>
      </p:sp>
      <p:sp>
        <p:nvSpPr>
          <p:cNvPr id="28" name="Rounded Rectangle 27"/>
          <p:cNvSpPr/>
          <p:nvPr/>
        </p:nvSpPr>
        <p:spPr>
          <a:xfrm>
            <a:off x="7485348" y="4984445"/>
            <a:ext cx="1280160" cy="77724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531068" y="5030165"/>
            <a:ext cx="1188720" cy="228600"/>
          </a:xfrm>
          <a:prstGeom prst="rect">
            <a:avLst/>
          </a:prstGeom>
          <a:noFill/>
        </p:spPr>
        <p:txBody>
          <a:bodyPr wrap="square">
            <a:spAutoFit/>
          </a:bodyPr>
          <a:lstStyle/>
          <a:p>
            <a:pPr algn="ctr">
              <a:defRPr sz="1100" b="1">
                <a:solidFill>
                  <a:srgbClr val="FFFFFF"/>
                </a:solidFill>
                <a:latin typeface="Poppins Light"/>
              </a:defRPr>
            </a:pPr>
            <a:r>
              <a:t>Return</a:t>
            </a:r>
          </a:p>
        </p:txBody>
      </p:sp>
      <p:sp>
        <p:nvSpPr>
          <p:cNvPr id="30" name="TextBox 29"/>
          <p:cNvSpPr txBox="1"/>
          <p:nvPr/>
        </p:nvSpPr>
        <p:spPr>
          <a:xfrm>
            <a:off x="7531068" y="5258765"/>
            <a:ext cx="1188720" cy="457200"/>
          </a:xfrm>
          <a:prstGeom prst="rect">
            <a:avLst/>
          </a:prstGeom>
          <a:noFill/>
        </p:spPr>
        <p:txBody>
          <a:bodyPr wrap="square">
            <a:spAutoFit/>
          </a:bodyPr>
          <a:lstStyle/>
          <a:p>
            <a:pPr algn="ctr">
              <a:defRPr sz="800" b="0">
                <a:solidFill>
                  <a:srgbClr val="EEEEEE"/>
                </a:solidFill>
                <a:latin typeface="Roboto Light"/>
              </a:defRPr>
            </a:pPr>
            <a:r>
              <a:t>JSON: {prediction, confidence, fake_probability}</a:t>
            </a:r>
          </a:p>
        </p:txBody>
      </p:sp>
      <p:sp>
        <p:nvSpPr>
          <p:cNvPr id="31" name="TextBox 30"/>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18/22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Results &amp; Analysis</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Testing &amp; Validation Outcomes</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13506" y="1536192"/>
            <a:ext cx="4023360" cy="27432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14495" y="1744871"/>
            <a:ext cx="4099560" cy="320040"/>
          </a:xfrm>
          <a:prstGeom prst="rect">
            <a:avLst/>
          </a:prstGeom>
          <a:noFill/>
        </p:spPr>
        <p:txBody>
          <a:bodyPr wrap="square">
            <a:spAutoFit/>
          </a:bodyPr>
          <a:lstStyle/>
          <a:p>
            <a:pPr algn="l">
              <a:defRPr sz="1400" b="1">
                <a:solidFill>
                  <a:srgbClr val="28A745"/>
                </a:solidFill>
                <a:latin typeface="Poppins Light"/>
              </a:defRPr>
            </a:pPr>
            <a:r>
              <a:rPr dirty="0"/>
              <a:t>Comprehensive Evaluation</a:t>
            </a:r>
          </a:p>
        </p:txBody>
      </p:sp>
      <p:sp>
        <p:nvSpPr>
          <p:cNvPr id="8" name="TextBox 7"/>
          <p:cNvSpPr txBox="1"/>
          <p:nvPr/>
        </p:nvSpPr>
        <p:spPr>
          <a:xfrm>
            <a:off x="510637" y="2014619"/>
            <a:ext cx="3749040" cy="2139047"/>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Accuracy: 91.0% — correctly classified 111/122 videos</a:t>
            </a:r>
          </a:p>
          <a:p>
            <a:pPr>
              <a:spcBef>
                <a:spcPts val="200"/>
              </a:spcBef>
              <a:spcAft>
                <a:spcPts val="300"/>
              </a:spcAft>
              <a:defRPr sz="1200">
                <a:solidFill>
                  <a:srgbClr val="333333"/>
                </a:solidFill>
                <a:latin typeface="Roboto Light"/>
              </a:defRPr>
            </a:pPr>
            <a:r>
              <a:rPr dirty="0"/>
              <a:t>• F1 Score: 93.3% — excellent balance of precision &amp; recall</a:t>
            </a:r>
          </a:p>
          <a:p>
            <a:pPr>
              <a:spcBef>
                <a:spcPts val="200"/>
              </a:spcBef>
              <a:spcAft>
                <a:spcPts val="300"/>
              </a:spcAft>
              <a:defRPr sz="1200">
                <a:solidFill>
                  <a:srgbClr val="333333"/>
                </a:solidFill>
                <a:latin typeface="Roboto Light"/>
              </a:defRPr>
            </a:pPr>
            <a:r>
              <a:rPr dirty="0"/>
              <a:t>• AUC: 97.0% — near-perfect discrimination ability</a:t>
            </a:r>
          </a:p>
          <a:p>
            <a:pPr>
              <a:spcBef>
                <a:spcPts val="200"/>
              </a:spcBef>
              <a:spcAft>
                <a:spcPts val="300"/>
              </a:spcAft>
              <a:defRPr sz="1200">
                <a:solidFill>
                  <a:srgbClr val="333333"/>
                </a:solidFill>
                <a:latin typeface="Roboto Light"/>
              </a:defRPr>
            </a:pPr>
            <a:r>
              <a:rPr dirty="0"/>
              <a:t>• EER: 9.76% — low equal error rate</a:t>
            </a:r>
          </a:p>
          <a:p>
            <a:pPr>
              <a:spcBef>
                <a:spcPts val="200"/>
              </a:spcBef>
              <a:spcAft>
                <a:spcPts val="300"/>
              </a:spcAft>
              <a:defRPr sz="1200">
                <a:solidFill>
                  <a:srgbClr val="333333"/>
                </a:solidFill>
                <a:latin typeface="Roboto Light"/>
              </a:defRPr>
            </a:pPr>
            <a:r>
              <a:rPr dirty="0"/>
              <a:t>• Log Loss: 0.5675 — well-calibrated probabilities</a:t>
            </a:r>
          </a:p>
          <a:p>
            <a:pPr>
              <a:spcBef>
                <a:spcPts val="200"/>
              </a:spcBef>
              <a:spcAft>
                <a:spcPts val="300"/>
              </a:spcAft>
              <a:defRPr sz="1200">
                <a:solidFill>
                  <a:srgbClr val="333333"/>
                </a:solidFill>
                <a:latin typeface="Roboto Light"/>
              </a:defRPr>
            </a:pPr>
            <a:r>
              <a:rPr dirty="0"/>
              <a:t>• Decision threshold: 0.3 (sensitivity-first)</a:t>
            </a:r>
          </a:p>
          <a:p>
            <a:pPr>
              <a:spcBef>
                <a:spcPts val="200"/>
              </a:spcBef>
              <a:spcAft>
                <a:spcPts val="300"/>
              </a:spcAft>
              <a:defRPr sz="1200">
                <a:solidFill>
                  <a:srgbClr val="333333"/>
                </a:solidFill>
                <a:latin typeface="Roboto Light"/>
              </a:defRPr>
            </a:pPr>
            <a:r>
              <a:rPr dirty="0"/>
              <a:t>• Favors catching deepfakes over false alarms</a:t>
            </a:r>
          </a:p>
        </p:txBody>
      </p:sp>
      <p:sp>
        <p:nvSpPr>
          <p:cNvPr id="9" name="Rounded Rectangle 8"/>
          <p:cNvSpPr/>
          <p:nvPr/>
        </p:nvSpPr>
        <p:spPr>
          <a:xfrm>
            <a:off x="4754880" y="1508760"/>
            <a:ext cx="4023360" cy="2743200"/>
          </a:xfrm>
          <a:prstGeom prst="roundRect">
            <a:avLst/>
          </a:prstGeom>
          <a:solidFill>
            <a:srgbClr val="FAFAFA"/>
          </a:solidFill>
          <a:ln w="190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2069" y="1729836"/>
            <a:ext cx="3749040" cy="320040"/>
          </a:xfrm>
          <a:prstGeom prst="rect">
            <a:avLst/>
          </a:prstGeom>
          <a:noFill/>
        </p:spPr>
        <p:txBody>
          <a:bodyPr wrap="square">
            <a:spAutoFit/>
          </a:bodyPr>
          <a:lstStyle/>
          <a:p>
            <a:pPr algn="l">
              <a:defRPr sz="1400" b="1">
                <a:solidFill>
                  <a:srgbClr val="2E86AB"/>
                </a:solidFill>
                <a:latin typeface="Poppins Light"/>
              </a:defRPr>
            </a:pPr>
            <a:r>
              <a:rPr dirty="0"/>
              <a:t>Testing Methodology</a:t>
            </a:r>
          </a:p>
        </p:txBody>
      </p:sp>
      <p:sp>
        <p:nvSpPr>
          <p:cNvPr id="11" name="TextBox 10"/>
          <p:cNvSpPr txBox="1"/>
          <p:nvPr/>
        </p:nvSpPr>
        <p:spPr>
          <a:xfrm>
            <a:off x="4932069" y="2092198"/>
            <a:ext cx="3749040" cy="2018501"/>
          </a:xfrm>
          <a:prstGeom prst="rect">
            <a:avLst/>
          </a:prstGeom>
          <a:noFill/>
        </p:spPr>
        <p:txBody>
          <a:bodyPr wrap="square">
            <a:spAutoFit/>
          </a:bodyPr>
          <a:lstStyle/>
          <a:p>
            <a:pPr>
              <a:spcBef>
                <a:spcPts val="200"/>
              </a:spcBef>
              <a:spcAft>
                <a:spcPts val="300"/>
              </a:spcAft>
              <a:defRPr sz="1200">
                <a:solidFill>
                  <a:srgbClr val="333333"/>
                </a:solidFill>
                <a:latin typeface="Roboto Light"/>
              </a:defRPr>
            </a:pPr>
            <a:r>
              <a:rPr dirty="0"/>
              <a:t>• Stratified 80/10/10 split (seed=42)</a:t>
            </a:r>
          </a:p>
          <a:p>
            <a:pPr>
              <a:spcBef>
                <a:spcPts val="200"/>
              </a:spcBef>
              <a:spcAft>
                <a:spcPts val="300"/>
              </a:spcAft>
              <a:defRPr sz="1200">
                <a:solidFill>
                  <a:srgbClr val="333333"/>
                </a:solidFill>
                <a:latin typeface="Roboto Light"/>
              </a:defRPr>
            </a:pPr>
            <a:r>
              <a:rPr dirty="0"/>
              <a:t>• Test set completely held out during training</a:t>
            </a:r>
          </a:p>
          <a:p>
            <a:pPr>
              <a:spcBef>
                <a:spcPts val="200"/>
              </a:spcBef>
              <a:spcAft>
                <a:spcPts val="300"/>
              </a:spcAft>
              <a:defRPr sz="1200">
                <a:solidFill>
                  <a:srgbClr val="333333"/>
                </a:solidFill>
                <a:latin typeface="Roboto Light"/>
              </a:defRPr>
            </a:pPr>
            <a:r>
              <a:rPr dirty="0"/>
              <a:t>• No augmentation during evaluation</a:t>
            </a:r>
          </a:p>
          <a:p>
            <a:pPr>
              <a:spcBef>
                <a:spcPts val="200"/>
              </a:spcBef>
              <a:spcAft>
                <a:spcPts val="300"/>
              </a:spcAft>
              <a:defRPr sz="1200">
                <a:solidFill>
                  <a:srgbClr val="333333"/>
                </a:solidFill>
                <a:latin typeface="Roboto Light"/>
              </a:defRPr>
            </a:pPr>
            <a:r>
              <a:rPr dirty="0"/>
              <a:t>• Uniform frame sampling (no jitter)</a:t>
            </a:r>
          </a:p>
          <a:p>
            <a:pPr>
              <a:spcBef>
                <a:spcPts val="200"/>
              </a:spcBef>
              <a:spcAft>
                <a:spcPts val="300"/>
              </a:spcAft>
              <a:defRPr sz="1200">
                <a:solidFill>
                  <a:srgbClr val="333333"/>
                </a:solidFill>
                <a:latin typeface="Roboto Light"/>
              </a:defRPr>
            </a:pPr>
            <a:r>
              <a:rPr dirty="0"/>
              <a:t>• Single model (no ensemble/TTA)</a:t>
            </a:r>
          </a:p>
          <a:p>
            <a:pPr>
              <a:spcBef>
                <a:spcPts val="200"/>
              </a:spcBef>
              <a:spcAft>
                <a:spcPts val="300"/>
              </a:spcAft>
              <a:defRPr sz="1200">
                <a:solidFill>
                  <a:srgbClr val="333333"/>
                </a:solidFill>
                <a:latin typeface="Roboto Light"/>
              </a:defRPr>
            </a:pPr>
            <a:r>
              <a:rPr dirty="0"/>
              <a:t>• Best validation accuracy: 96.64%</a:t>
            </a:r>
          </a:p>
          <a:p>
            <a:pPr>
              <a:spcBef>
                <a:spcPts val="200"/>
              </a:spcBef>
              <a:spcAft>
                <a:spcPts val="300"/>
              </a:spcAft>
              <a:defRPr sz="1200">
                <a:solidFill>
                  <a:srgbClr val="333333"/>
                </a:solidFill>
                <a:latin typeface="Roboto Light"/>
              </a:defRPr>
            </a:pPr>
            <a:r>
              <a:rPr dirty="0"/>
              <a:t>• Test accuracy: 91.0% (expected gap)</a:t>
            </a:r>
          </a:p>
          <a:p>
            <a:pPr>
              <a:spcBef>
                <a:spcPts val="200"/>
              </a:spcBef>
              <a:spcAft>
                <a:spcPts val="300"/>
              </a:spcAft>
              <a:defRPr sz="1200">
                <a:solidFill>
                  <a:srgbClr val="333333"/>
                </a:solidFill>
                <a:latin typeface="Roboto Light"/>
              </a:defRPr>
            </a:pPr>
            <a:r>
              <a:rPr dirty="0"/>
              <a:t>• Generalization gap is acceptable</a:t>
            </a:r>
          </a:p>
        </p:txBody>
      </p:sp>
      <p:sp>
        <p:nvSpPr>
          <p:cNvPr id="12" name="TextBox 11"/>
          <p:cNvSpPr txBox="1"/>
          <p:nvPr/>
        </p:nvSpPr>
        <p:spPr>
          <a:xfrm>
            <a:off x="457200" y="4389120"/>
            <a:ext cx="8229600" cy="320040"/>
          </a:xfrm>
          <a:prstGeom prst="rect">
            <a:avLst/>
          </a:prstGeom>
          <a:noFill/>
        </p:spPr>
        <p:txBody>
          <a:bodyPr wrap="square">
            <a:spAutoFit/>
          </a:bodyPr>
          <a:lstStyle/>
          <a:p>
            <a:pPr algn="l">
              <a:defRPr sz="1500" b="1">
                <a:solidFill>
                  <a:srgbClr val="1B3A5C"/>
                </a:solidFill>
                <a:latin typeface="Poppins Light"/>
              </a:defRPr>
            </a:pPr>
            <a:r>
              <a:t>Error Analysis</a:t>
            </a:r>
          </a:p>
        </p:txBody>
      </p:sp>
      <p:sp>
        <p:nvSpPr>
          <p:cNvPr id="13" name="TextBox 12"/>
          <p:cNvSpPr txBox="1"/>
          <p:nvPr/>
        </p:nvSpPr>
        <p:spPr>
          <a:xfrm>
            <a:off x="457200" y="4754880"/>
            <a:ext cx="8229600" cy="1828800"/>
          </a:xfrm>
          <a:prstGeom prst="rect">
            <a:avLst/>
          </a:prstGeom>
          <a:noFill/>
        </p:spPr>
        <p:txBody>
          <a:bodyPr wrap="square">
            <a:spAutoFit/>
          </a:bodyPr>
          <a:lstStyle/>
          <a:p>
            <a:pPr>
              <a:spcBef>
                <a:spcPts val="200"/>
              </a:spcBef>
              <a:spcAft>
                <a:spcPts val="600"/>
              </a:spcAft>
              <a:defRPr sz="1200">
                <a:solidFill>
                  <a:srgbClr val="333333"/>
                </a:solidFill>
                <a:latin typeface="Roboto Light"/>
              </a:defRPr>
            </a:pPr>
            <a:r>
              <a:t>• 11 misclassified videos total: 7 false positives (real flagged as fake) + 4 false negatives (fake missed)</a:t>
            </a:r>
          </a:p>
          <a:p>
            <a:pPr>
              <a:spcBef>
                <a:spcPts val="200"/>
              </a:spcBef>
              <a:spcAft>
                <a:spcPts val="600"/>
              </a:spcAft>
              <a:defRPr sz="1200">
                <a:solidFill>
                  <a:srgbClr val="333333"/>
                </a:solidFill>
                <a:latin typeface="Roboto Light"/>
              </a:defRPr>
            </a:pPr>
            <a:r>
              <a:t>• False negatives (missed fakes) are the most critical errors — only 4 out of 80 fake videos = 5% miss rate</a:t>
            </a:r>
          </a:p>
          <a:p>
            <a:pPr>
              <a:spcBef>
                <a:spcPts val="200"/>
              </a:spcBef>
              <a:spcAft>
                <a:spcPts val="600"/>
              </a:spcAft>
              <a:defRPr sz="1200">
                <a:solidFill>
                  <a:srgbClr val="333333"/>
                </a:solidFill>
                <a:latin typeface="Roboto Light"/>
              </a:defRPr>
            </a:pPr>
            <a:r>
              <a:t>• False positives are less dangerous — can be verified through manual review</a:t>
            </a:r>
          </a:p>
          <a:p>
            <a:pPr>
              <a:spcBef>
                <a:spcPts val="200"/>
              </a:spcBef>
              <a:spcAft>
                <a:spcPts val="600"/>
              </a:spcAft>
              <a:defRPr sz="1200">
                <a:solidFill>
                  <a:srgbClr val="333333"/>
                </a:solidFill>
                <a:latin typeface="Roboto Light"/>
              </a:defRPr>
            </a:pPr>
            <a:r>
              <a:t>• Model achieves 95% recall on fake class — suitable for high-security forensic applications</a:t>
            </a:r>
          </a:p>
        </p:txBody>
      </p:sp>
      <p:sp>
        <p:nvSpPr>
          <p:cNvPr id="14" name="TextBox 13"/>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19/22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Challenges &amp; Solutions</a:t>
            </a:r>
          </a:p>
        </p:txBody>
      </p:sp>
      <p:sp>
        <p:nvSpPr>
          <p:cNvPr id="4" name="Rectangle 3"/>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74320" y="1371600"/>
            <a:ext cx="8686800" cy="926592"/>
          </a:xfrm>
          <a:prstGeom prst="roundRect">
            <a:avLst/>
          </a:prstGeom>
          <a:solidFill>
            <a:srgbClr val="F8F9FA"/>
          </a:solidFill>
          <a:ln w="63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199" y="1399032"/>
            <a:ext cx="2772383" cy="276999"/>
          </a:xfrm>
          <a:prstGeom prst="rect">
            <a:avLst/>
          </a:prstGeom>
          <a:noFill/>
        </p:spPr>
        <p:txBody>
          <a:bodyPr wrap="square">
            <a:spAutoFit/>
          </a:bodyPr>
          <a:lstStyle/>
          <a:p>
            <a:pPr algn="l">
              <a:defRPr sz="1200" b="1">
                <a:solidFill>
                  <a:srgbClr val="DC3545"/>
                </a:solidFill>
                <a:latin typeface="Poppins Light"/>
              </a:defRPr>
            </a:pPr>
            <a:r>
              <a:t>Catastrophic Forgetting</a:t>
            </a:r>
          </a:p>
        </p:txBody>
      </p:sp>
      <p:sp>
        <p:nvSpPr>
          <p:cNvPr id="7" name="TextBox 6"/>
          <p:cNvSpPr txBox="1"/>
          <p:nvPr/>
        </p:nvSpPr>
        <p:spPr>
          <a:xfrm>
            <a:off x="457200" y="1627631"/>
            <a:ext cx="3881336" cy="369332"/>
          </a:xfrm>
          <a:prstGeom prst="rect">
            <a:avLst/>
          </a:prstGeom>
          <a:noFill/>
        </p:spPr>
        <p:txBody>
          <a:bodyPr wrap="square">
            <a:spAutoFit/>
          </a:bodyPr>
          <a:lstStyle/>
          <a:p>
            <a:pPr algn="l">
              <a:defRPr sz="900" b="0">
                <a:solidFill>
                  <a:srgbClr val="333333"/>
                </a:solidFill>
                <a:latin typeface="Roboto Light"/>
              </a:defRPr>
            </a:pPr>
            <a:r>
              <a:t>Fine-tuning the pretrained ResNeXt backbone destroyed useful ImageNet features before temporal model could learn</a:t>
            </a:r>
          </a:p>
        </p:txBody>
      </p:sp>
      <p:sp>
        <p:nvSpPr>
          <p:cNvPr id="8" name="TextBox 7"/>
          <p:cNvSpPr txBox="1"/>
          <p:nvPr/>
        </p:nvSpPr>
        <p:spPr>
          <a:xfrm>
            <a:off x="4572000" y="1399032"/>
            <a:ext cx="924128" cy="246221"/>
          </a:xfrm>
          <a:prstGeom prst="rect">
            <a:avLst/>
          </a:prstGeom>
          <a:noFill/>
        </p:spPr>
        <p:txBody>
          <a:bodyPr wrap="square">
            <a:spAutoFit/>
          </a:bodyPr>
          <a:lstStyle/>
          <a:p>
            <a:pPr algn="l">
              <a:defRPr sz="1000" b="1">
                <a:solidFill>
                  <a:srgbClr val="28A745"/>
                </a:solidFill>
                <a:latin typeface="Poppins Light"/>
              </a:defRPr>
            </a:pPr>
            <a:r>
              <a:t>Solution:</a:t>
            </a:r>
          </a:p>
        </p:txBody>
      </p:sp>
      <p:sp>
        <p:nvSpPr>
          <p:cNvPr id="9" name="TextBox 8"/>
          <p:cNvSpPr txBox="1"/>
          <p:nvPr/>
        </p:nvSpPr>
        <p:spPr>
          <a:xfrm>
            <a:off x="4572000" y="1627631"/>
            <a:ext cx="4158574" cy="369332"/>
          </a:xfrm>
          <a:prstGeom prst="rect">
            <a:avLst/>
          </a:prstGeom>
          <a:noFill/>
        </p:spPr>
        <p:txBody>
          <a:bodyPr wrap="square">
            <a:spAutoFit/>
          </a:bodyPr>
          <a:lstStyle/>
          <a:p>
            <a:pPr algn="l">
              <a:defRPr sz="900" b="0">
                <a:solidFill>
                  <a:srgbClr val="333333"/>
                </a:solidFill>
                <a:latin typeface="Roboto Light"/>
              </a:defRPr>
            </a:pPr>
            <a:r>
              <a:t>Two-phase training: freeze backbone in Phase 1, then fine-tune with 10× lower learning rate in Phase 2</a:t>
            </a:r>
          </a:p>
        </p:txBody>
      </p:sp>
      <p:sp>
        <p:nvSpPr>
          <p:cNvPr id="10" name="Rounded Rectangle 9"/>
          <p:cNvSpPr/>
          <p:nvPr/>
        </p:nvSpPr>
        <p:spPr>
          <a:xfrm>
            <a:off x="274320" y="2359152"/>
            <a:ext cx="8686800" cy="926592"/>
          </a:xfrm>
          <a:prstGeom prst="roundRect">
            <a:avLst/>
          </a:prstGeom>
          <a:solidFill>
            <a:srgbClr val="FFFFFF"/>
          </a:solidFill>
          <a:ln w="63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199" y="2386584"/>
            <a:ext cx="2772383" cy="276999"/>
          </a:xfrm>
          <a:prstGeom prst="rect">
            <a:avLst/>
          </a:prstGeom>
          <a:noFill/>
        </p:spPr>
        <p:txBody>
          <a:bodyPr wrap="square">
            <a:spAutoFit/>
          </a:bodyPr>
          <a:lstStyle/>
          <a:p>
            <a:pPr algn="l">
              <a:defRPr sz="1200" b="1">
                <a:solidFill>
                  <a:srgbClr val="DC3545"/>
                </a:solidFill>
                <a:latin typeface="Poppins Light"/>
              </a:defRPr>
            </a:pPr>
            <a:r>
              <a:t>Training Speed Bottleneck</a:t>
            </a:r>
          </a:p>
        </p:txBody>
      </p:sp>
      <p:sp>
        <p:nvSpPr>
          <p:cNvPr id="12" name="TextBox 11"/>
          <p:cNvSpPr txBox="1"/>
          <p:nvPr/>
        </p:nvSpPr>
        <p:spPr>
          <a:xfrm>
            <a:off x="457200" y="2615183"/>
            <a:ext cx="3881336" cy="369332"/>
          </a:xfrm>
          <a:prstGeom prst="rect">
            <a:avLst/>
          </a:prstGeom>
          <a:noFill/>
        </p:spPr>
        <p:txBody>
          <a:bodyPr wrap="square">
            <a:spAutoFit/>
          </a:bodyPr>
          <a:lstStyle/>
          <a:p>
            <a:pPr algn="l">
              <a:defRPr sz="900" b="0">
                <a:solidFill>
                  <a:srgbClr val="333333"/>
                </a:solidFill>
                <a:latin typeface="Roboto Light"/>
              </a:defRPr>
            </a:pPr>
            <a:r>
              <a:t>Face detection (MTCNN) during training was extremely slow — dominated training time</a:t>
            </a:r>
          </a:p>
        </p:txBody>
      </p:sp>
      <p:sp>
        <p:nvSpPr>
          <p:cNvPr id="13" name="TextBox 12"/>
          <p:cNvSpPr txBox="1"/>
          <p:nvPr/>
        </p:nvSpPr>
        <p:spPr>
          <a:xfrm>
            <a:off x="4572000" y="2386584"/>
            <a:ext cx="924128" cy="246221"/>
          </a:xfrm>
          <a:prstGeom prst="rect">
            <a:avLst/>
          </a:prstGeom>
          <a:noFill/>
        </p:spPr>
        <p:txBody>
          <a:bodyPr wrap="square">
            <a:spAutoFit/>
          </a:bodyPr>
          <a:lstStyle/>
          <a:p>
            <a:pPr algn="l">
              <a:defRPr sz="1000" b="1">
                <a:solidFill>
                  <a:srgbClr val="28A745"/>
                </a:solidFill>
                <a:latin typeface="Poppins Light"/>
              </a:defRPr>
            </a:pPr>
            <a:r>
              <a:t>Solution:</a:t>
            </a:r>
          </a:p>
        </p:txBody>
      </p:sp>
      <p:sp>
        <p:nvSpPr>
          <p:cNvPr id="14" name="TextBox 13"/>
          <p:cNvSpPr txBox="1"/>
          <p:nvPr/>
        </p:nvSpPr>
        <p:spPr>
          <a:xfrm>
            <a:off x="4572000" y="2615183"/>
            <a:ext cx="4158574" cy="369332"/>
          </a:xfrm>
          <a:prstGeom prst="rect">
            <a:avLst/>
          </a:prstGeom>
          <a:noFill/>
        </p:spPr>
        <p:txBody>
          <a:bodyPr wrap="square">
            <a:spAutoFit/>
          </a:bodyPr>
          <a:lstStyle/>
          <a:p>
            <a:pPr algn="l">
              <a:defRPr sz="900" b="0">
                <a:solidFill>
                  <a:srgbClr val="333333"/>
                </a:solidFill>
                <a:latin typeface="Roboto Light"/>
              </a:defRPr>
            </a:pPr>
            <a:r>
              <a:t>Pre-extracted face tensors cached to disk (data_cache/), providing 10-50× speedup</a:t>
            </a:r>
          </a:p>
        </p:txBody>
      </p:sp>
      <p:sp>
        <p:nvSpPr>
          <p:cNvPr id="15" name="Rounded Rectangle 14"/>
          <p:cNvSpPr/>
          <p:nvPr/>
        </p:nvSpPr>
        <p:spPr>
          <a:xfrm>
            <a:off x="274320" y="3346704"/>
            <a:ext cx="8686800" cy="926592"/>
          </a:xfrm>
          <a:prstGeom prst="roundRect">
            <a:avLst/>
          </a:prstGeom>
          <a:solidFill>
            <a:srgbClr val="F8F9FA"/>
          </a:solidFill>
          <a:ln w="63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199" y="3374136"/>
            <a:ext cx="2772383" cy="276999"/>
          </a:xfrm>
          <a:prstGeom prst="rect">
            <a:avLst/>
          </a:prstGeom>
          <a:noFill/>
        </p:spPr>
        <p:txBody>
          <a:bodyPr wrap="square">
            <a:spAutoFit/>
          </a:bodyPr>
          <a:lstStyle/>
          <a:p>
            <a:pPr algn="l">
              <a:defRPr sz="1200" b="1">
                <a:solidFill>
                  <a:srgbClr val="DC3545"/>
                </a:solidFill>
                <a:latin typeface="Poppins Light"/>
              </a:defRPr>
            </a:pPr>
            <a:r>
              <a:t>Class Imbalance</a:t>
            </a:r>
          </a:p>
        </p:txBody>
      </p:sp>
      <p:sp>
        <p:nvSpPr>
          <p:cNvPr id="17" name="TextBox 16"/>
          <p:cNvSpPr txBox="1"/>
          <p:nvPr/>
        </p:nvSpPr>
        <p:spPr>
          <a:xfrm>
            <a:off x="457200" y="3602735"/>
            <a:ext cx="3881336" cy="369332"/>
          </a:xfrm>
          <a:prstGeom prst="rect">
            <a:avLst/>
          </a:prstGeom>
          <a:noFill/>
        </p:spPr>
        <p:txBody>
          <a:bodyPr wrap="square">
            <a:spAutoFit/>
          </a:bodyPr>
          <a:lstStyle/>
          <a:p>
            <a:pPr algn="l">
              <a:defRPr sz="900" b="0">
                <a:solidFill>
                  <a:srgbClr val="333333"/>
                </a:solidFill>
                <a:latin typeface="Roboto Light"/>
              </a:defRPr>
            </a:pPr>
            <a:r>
              <a:t>More fake videos than real in Celeb-DF v2 — model biased toward predicting fake</a:t>
            </a:r>
          </a:p>
        </p:txBody>
      </p:sp>
      <p:sp>
        <p:nvSpPr>
          <p:cNvPr id="18" name="TextBox 17"/>
          <p:cNvSpPr txBox="1"/>
          <p:nvPr/>
        </p:nvSpPr>
        <p:spPr>
          <a:xfrm>
            <a:off x="4572000" y="3374136"/>
            <a:ext cx="924128" cy="246221"/>
          </a:xfrm>
          <a:prstGeom prst="rect">
            <a:avLst/>
          </a:prstGeom>
          <a:noFill/>
        </p:spPr>
        <p:txBody>
          <a:bodyPr wrap="square">
            <a:spAutoFit/>
          </a:bodyPr>
          <a:lstStyle/>
          <a:p>
            <a:pPr algn="l">
              <a:defRPr sz="1000" b="1">
                <a:solidFill>
                  <a:srgbClr val="28A745"/>
                </a:solidFill>
                <a:latin typeface="Poppins Light"/>
              </a:defRPr>
            </a:pPr>
            <a:r>
              <a:t>Solution:</a:t>
            </a:r>
          </a:p>
        </p:txBody>
      </p:sp>
      <p:sp>
        <p:nvSpPr>
          <p:cNvPr id="19" name="TextBox 18"/>
          <p:cNvSpPr txBox="1"/>
          <p:nvPr/>
        </p:nvSpPr>
        <p:spPr>
          <a:xfrm>
            <a:off x="4572000" y="3602735"/>
            <a:ext cx="4158574" cy="369332"/>
          </a:xfrm>
          <a:prstGeom prst="rect">
            <a:avLst/>
          </a:prstGeom>
          <a:noFill/>
        </p:spPr>
        <p:txBody>
          <a:bodyPr wrap="square">
            <a:spAutoFit/>
          </a:bodyPr>
          <a:lstStyle/>
          <a:p>
            <a:pPr algn="l">
              <a:defRPr sz="900" b="0">
                <a:solidFill>
                  <a:srgbClr val="333333"/>
                </a:solidFill>
                <a:latin typeface="Roboto Light"/>
              </a:defRPr>
            </a:pPr>
            <a:r>
              <a:t>Combined loss (0.5 CE + 0.5 Focal Loss) with α=0.25 and γ=2.0 to focus on hard examples</a:t>
            </a:r>
          </a:p>
        </p:txBody>
      </p:sp>
      <p:sp>
        <p:nvSpPr>
          <p:cNvPr id="20" name="Rounded Rectangle 19"/>
          <p:cNvSpPr/>
          <p:nvPr/>
        </p:nvSpPr>
        <p:spPr>
          <a:xfrm>
            <a:off x="274320" y="4334256"/>
            <a:ext cx="8686800" cy="926592"/>
          </a:xfrm>
          <a:prstGeom prst="roundRect">
            <a:avLst/>
          </a:prstGeom>
          <a:solidFill>
            <a:srgbClr val="FFFFFF"/>
          </a:solidFill>
          <a:ln w="63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7199" y="4361688"/>
            <a:ext cx="2772383" cy="276999"/>
          </a:xfrm>
          <a:prstGeom prst="rect">
            <a:avLst/>
          </a:prstGeom>
          <a:noFill/>
        </p:spPr>
        <p:txBody>
          <a:bodyPr wrap="square">
            <a:spAutoFit/>
          </a:bodyPr>
          <a:lstStyle/>
          <a:p>
            <a:pPr algn="l">
              <a:defRPr sz="1200" b="1">
                <a:solidFill>
                  <a:srgbClr val="DC3545"/>
                </a:solidFill>
                <a:latin typeface="Poppins Light"/>
              </a:defRPr>
            </a:pPr>
            <a:r>
              <a:t>Face Detection Failures</a:t>
            </a:r>
          </a:p>
        </p:txBody>
      </p:sp>
      <p:sp>
        <p:nvSpPr>
          <p:cNvPr id="22" name="TextBox 21"/>
          <p:cNvSpPr txBox="1"/>
          <p:nvPr/>
        </p:nvSpPr>
        <p:spPr>
          <a:xfrm>
            <a:off x="457200" y="4590287"/>
            <a:ext cx="3881336" cy="369332"/>
          </a:xfrm>
          <a:prstGeom prst="rect">
            <a:avLst/>
          </a:prstGeom>
          <a:noFill/>
        </p:spPr>
        <p:txBody>
          <a:bodyPr wrap="square">
            <a:spAutoFit/>
          </a:bodyPr>
          <a:lstStyle/>
          <a:p>
            <a:pPr algn="l">
              <a:defRPr sz="900" b="0">
                <a:solidFill>
                  <a:srgbClr val="333333"/>
                </a:solidFill>
                <a:latin typeface="Roboto Light"/>
              </a:defRPr>
            </a:pPr>
            <a:r>
              <a:t>MTCNN failed on some frames with occlusion, extreme poses, or poor lighting</a:t>
            </a:r>
          </a:p>
        </p:txBody>
      </p:sp>
      <p:sp>
        <p:nvSpPr>
          <p:cNvPr id="23" name="TextBox 22"/>
          <p:cNvSpPr txBox="1"/>
          <p:nvPr/>
        </p:nvSpPr>
        <p:spPr>
          <a:xfrm>
            <a:off x="4572000" y="4361688"/>
            <a:ext cx="924128" cy="246221"/>
          </a:xfrm>
          <a:prstGeom prst="rect">
            <a:avLst/>
          </a:prstGeom>
          <a:noFill/>
        </p:spPr>
        <p:txBody>
          <a:bodyPr wrap="square">
            <a:spAutoFit/>
          </a:bodyPr>
          <a:lstStyle/>
          <a:p>
            <a:pPr algn="l">
              <a:defRPr sz="1000" b="1">
                <a:solidFill>
                  <a:srgbClr val="28A745"/>
                </a:solidFill>
                <a:latin typeface="Poppins Light"/>
              </a:defRPr>
            </a:pPr>
            <a:r>
              <a:t>Solution:</a:t>
            </a:r>
          </a:p>
        </p:txBody>
      </p:sp>
      <p:sp>
        <p:nvSpPr>
          <p:cNvPr id="24" name="TextBox 23"/>
          <p:cNvSpPr txBox="1"/>
          <p:nvPr/>
        </p:nvSpPr>
        <p:spPr>
          <a:xfrm>
            <a:off x="4572000" y="4590287"/>
            <a:ext cx="4158574" cy="369332"/>
          </a:xfrm>
          <a:prstGeom prst="rect">
            <a:avLst/>
          </a:prstGeom>
          <a:noFill/>
        </p:spPr>
        <p:txBody>
          <a:bodyPr wrap="square">
            <a:spAutoFit/>
          </a:bodyPr>
          <a:lstStyle/>
          <a:p>
            <a:pPr algn="l">
              <a:defRPr sz="900" b="0">
                <a:solidFill>
                  <a:srgbClr val="333333"/>
                </a:solidFill>
                <a:latin typeface="Roboto Light"/>
              </a:defRPr>
            </a:pPr>
            <a:r>
              <a:t>Cascaded fallback: MTCNN → RetinaFace → center crop. Ensures every frame produces input</a:t>
            </a:r>
          </a:p>
        </p:txBody>
      </p:sp>
      <p:sp>
        <p:nvSpPr>
          <p:cNvPr id="25" name="Rounded Rectangle 24"/>
          <p:cNvSpPr/>
          <p:nvPr/>
        </p:nvSpPr>
        <p:spPr>
          <a:xfrm>
            <a:off x="274320" y="5321808"/>
            <a:ext cx="8686800" cy="926592"/>
          </a:xfrm>
          <a:prstGeom prst="roundRect">
            <a:avLst/>
          </a:prstGeom>
          <a:solidFill>
            <a:srgbClr val="F8F9FA"/>
          </a:solidFill>
          <a:ln w="6350">
            <a:solidFill>
              <a:srgbClr val="2E86A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199" y="5349240"/>
            <a:ext cx="2772383" cy="276999"/>
          </a:xfrm>
          <a:prstGeom prst="rect">
            <a:avLst/>
          </a:prstGeom>
          <a:noFill/>
        </p:spPr>
        <p:txBody>
          <a:bodyPr wrap="square">
            <a:spAutoFit/>
          </a:bodyPr>
          <a:lstStyle/>
          <a:p>
            <a:pPr algn="l">
              <a:defRPr sz="1200" b="1">
                <a:solidFill>
                  <a:srgbClr val="DC3545"/>
                </a:solidFill>
                <a:latin typeface="Poppins Light"/>
              </a:defRPr>
            </a:pPr>
            <a:r>
              <a:t>GPU Memory Constraints</a:t>
            </a:r>
          </a:p>
        </p:txBody>
      </p:sp>
      <p:sp>
        <p:nvSpPr>
          <p:cNvPr id="27" name="TextBox 26"/>
          <p:cNvSpPr txBox="1"/>
          <p:nvPr/>
        </p:nvSpPr>
        <p:spPr>
          <a:xfrm>
            <a:off x="457200" y="5577839"/>
            <a:ext cx="3881336" cy="369332"/>
          </a:xfrm>
          <a:prstGeom prst="rect">
            <a:avLst/>
          </a:prstGeom>
          <a:noFill/>
        </p:spPr>
        <p:txBody>
          <a:bodyPr wrap="square">
            <a:spAutoFit/>
          </a:bodyPr>
          <a:lstStyle/>
          <a:p>
            <a:pPr algn="l">
              <a:defRPr sz="900" b="0">
                <a:solidFill>
                  <a:srgbClr val="333333"/>
                </a:solidFill>
                <a:latin typeface="Roboto Light"/>
              </a:defRPr>
            </a:pPr>
            <a:r>
              <a:t>Batch of 16 frames × 224×224 × ResNeXt-50 exceeded GPU memory at larger batch sizes</a:t>
            </a:r>
          </a:p>
        </p:txBody>
      </p:sp>
      <p:sp>
        <p:nvSpPr>
          <p:cNvPr id="28" name="TextBox 27"/>
          <p:cNvSpPr txBox="1"/>
          <p:nvPr/>
        </p:nvSpPr>
        <p:spPr>
          <a:xfrm>
            <a:off x="4572000" y="5349240"/>
            <a:ext cx="924128" cy="246221"/>
          </a:xfrm>
          <a:prstGeom prst="rect">
            <a:avLst/>
          </a:prstGeom>
          <a:noFill/>
        </p:spPr>
        <p:txBody>
          <a:bodyPr wrap="square">
            <a:spAutoFit/>
          </a:bodyPr>
          <a:lstStyle/>
          <a:p>
            <a:pPr algn="l">
              <a:defRPr sz="1000" b="1">
                <a:solidFill>
                  <a:srgbClr val="28A745"/>
                </a:solidFill>
                <a:latin typeface="Poppins Light"/>
              </a:defRPr>
            </a:pPr>
            <a:r>
              <a:t>Solution:</a:t>
            </a:r>
          </a:p>
        </p:txBody>
      </p:sp>
      <p:sp>
        <p:nvSpPr>
          <p:cNvPr id="29" name="TextBox 28"/>
          <p:cNvSpPr txBox="1"/>
          <p:nvPr/>
        </p:nvSpPr>
        <p:spPr>
          <a:xfrm>
            <a:off x="4572000" y="5577839"/>
            <a:ext cx="4158574" cy="230832"/>
          </a:xfrm>
          <a:prstGeom prst="rect">
            <a:avLst/>
          </a:prstGeom>
          <a:noFill/>
        </p:spPr>
        <p:txBody>
          <a:bodyPr wrap="square">
            <a:spAutoFit/>
          </a:bodyPr>
          <a:lstStyle/>
          <a:p>
            <a:pPr algn="l">
              <a:defRPr sz="900" b="0">
                <a:solidFill>
                  <a:srgbClr val="333333"/>
                </a:solidFill>
                <a:latin typeface="Roboto Light"/>
              </a:defRPr>
            </a:pPr>
            <a:r>
              <a:t>Mixed precision training (AMP FP16/FP32) + batch size 4 + gradient clipping</a:t>
            </a:r>
          </a:p>
        </p:txBody>
      </p:sp>
      <p:sp>
        <p:nvSpPr>
          <p:cNvPr id="30" name="TextBox 29"/>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20/22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Remaining Work &amp; Future Scope</a:t>
            </a:r>
          </a:p>
        </p:txBody>
      </p:sp>
      <p:sp>
        <p:nvSpPr>
          <p:cNvPr id="4" name="TextBox 3"/>
          <p:cNvSpPr txBox="1"/>
          <p:nvPr/>
        </p:nvSpPr>
        <p:spPr>
          <a:xfrm>
            <a:off x="548640" y="685800"/>
            <a:ext cx="8046720" cy="365760"/>
          </a:xfrm>
          <a:prstGeom prst="rect">
            <a:avLst/>
          </a:prstGeom>
          <a:noFill/>
        </p:spPr>
        <p:txBody>
          <a:bodyPr wrap="none">
            <a:spAutoFit/>
          </a:bodyPr>
          <a:lstStyle/>
          <a:p>
            <a:pPr>
              <a:defRPr sz="1400">
                <a:solidFill>
                  <a:srgbClr val="BBCCDD"/>
                </a:solidFill>
                <a:latin typeface="Roboto Light"/>
              </a:defRPr>
            </a:pPr>
            <a:r>
              <a:t>~10% Remaining</a:t>
            </a:r>
          </a:p>
        </p:txBody>
      </p:sp>
      <p:sp>
        <p:nvSpPr>
          <p:cNvPr id="5" name="Rectangle 4"/>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9129" y="1696212"/>
            <a:ext cx="4114800" cy="320040"/>
          </a:xfrm>
          <a:prstGeom prst="rect">
            <a:avLst/>
          </a:prstGeom>
          <a:noFill/>
        </p:spPr>
        <p:txBody>
          <a:bodyPr wrap="square">
            <a:spAutoFit/>
          </a:bodyPr>
          <a:lstStyle/>
          <a:p>
            <a:pPr algn="l">
              <a:defRPr sz="1800" b="1">
                <a:solidFill>
                  <a:srgbClr val="1B3A5C"/>
                </a:solidFill>
                <a:latin typeface="Poppins Light"/>
              </a:defRPr>
            </a:pPr>
            <a:r>
              <a:t>Remaining 10% Work</a:t>
            </a:r>
          </a:p>
        </p:txBody>
      </p:sp>
      <p:sp>
        <p:nvSpPr>
          <p:cNvPr id="7" name="TextBox 6"/>
          <p:cNvSpPr txBox="1"/>
          <p:nvPr/>
        </p:nvSpPr>
        <p:spPr>
          <a:xfrm>
            <a:off x="459129" y="2153412"/>
            <a:ext cx="4114800" cy="2743200"/>
          </a:xfrm>
          <a:prstGeom prst="rect">
            <a:avLst/>
          </a:prstGeom>
          <a:noFill/>
        </p:spPr>
        <p:txBody>
          <a:bodyPr wrap="square">
            <a:spAutoFit/>
          </a:bodyPr>
          <a:lstStyle/>
          <a:p>
            <a:pPr>
              <a:spcBef>
                <a:spcPts val="200"/>
              </a:spcBef>
              <a:spcAft>
                <a:spcPts val="600"/>
              </a:spcAft>
              <a:defRPr sz="1300">
                <a:solidFill>
                  <a:srgbClr val="333333"/>
                </a:solidFill>
                <a:latin typeface="Roboto Light"/>
              </a:defRPr>
            </a:pPr>
            <a:r>
              <a:t>• Cross-dataset evaluation on FaceForensics++ and DFDC datasets for generalization assessment</a:t>
            </a:r>
          </a:p>
          <a:p>
            <a:pPr>
              <a:spcBef>
                <a:spcPts val="200"/>
              </a:spcBef>
              <a:spcAft>
                <a:spcPts val="600"/>
              </a:spcAft>
              <a:defRPr sz="1300">
                <a:solidFill>
                  <a:srgbClr val="333333"/>
                </a:solidFill>
                <a:latin typeface="Roboto Light"/>
              </a:defRPr>
            </a:pPr>
            <a:r>
              <a:t>• Comprehensive attention map visualization with heatmap overlays on sample videos</a:t>
            </a:r>
          </a:p>
          <a:p>
            <a:pPr>
              <a:spcBef>
                <a:spcPts val="200"/>
              </a:spcBef>
              <a:spcAft>
                <a:spcPts val="600"/>
              </a:spcAft>
              <a:defRPr sz="1300">
                <a:solidFill>
                  <a:srgbClr val="333333"/>
                </a:solidFill>
                <a:latin typeface="Roboto Light"/>
              </a:defRPr>
            </a:pPr>
            <a:r>
              <a:t>• Performance benchmarking against additional baseline methods</a:t>
            </a:r>
          </a:p>
          <a:p>
            <a:pPr>
              <a:spcBef>
                <a:spcPts val="200"/>
              </a:spcBef>
              <a:spcAft>
                <a:spcPts val="600"/>
              </a:spcAft>
              <a:defRPr sz="1300">
                <a:solidFill>
                  <a:srgbClr val="333333"/>
                </a:solidFill>
                <a:latin typeface="Roboto Light"/>
              </a:defRPr>
            </a:pPr>
            <a:r>
              <a:t>• Documentation refinement and final project report completion</a:t>
            </a:r>
          </a:p>
          <a:p>
            <a:pPr>
              <a:spcBef>
                <a:spcPts val="200"/>
              </a:spcBef>
              <a:spcAft>
                <a:spcPts val="600"/>
              </a:spcAft>
              <a:defRPr sz="1300">
                <a:solidFill>
                  <a:srgbClr val="333333"/>
                </a:solidFill>
                <a:latin typeface="Roboto Light"/>
              </a:defRPr>
            </a:pPr>
            <a:r>
              <a:t>• UI/UX improvements for the web application</a:t>
            </a:r>
          </a:p>
        </p:txBody>
      </p:sp>
      <p:sp>
        <p:nvSpPr>
          <p:cNvPr id="8" name="TextBox 7"/>
          <p:cNvSpPr txBox="1"/>
          <p:nvPr/>
        </p:nvSpPr>
        <p:spPr>
          <a:xfrm>
            <a:off x="4756809" y="1696212"/>
            <a:ext cx="4114800" cy="320040"/>
          </a:xfrm>
          <a:prstGeom prst="rect">
            <a:avLst/>
          </a:prstGeom>
          <a:noFill/>
        </p:spPr>
        <p:txBody>
          <a:bodyPr wrap="square">
            <a:spAutoFit/>
          </a:bodyPr>
          <a:lstStyle/>
          <a:p>
            <a:pPr algn="l">
              <a:defRPr sz="1800" b="1">
                <a:solidFill>
                  <a:srgbClr val="1B3A5C"/>
                </a:solidFill>
                <a:latin typeface="Poppins Light"/>
              </a:defRPr>
            </a:pPr>
            <a:r>
              <a:t>Future Scope</a:t>
            </a:r>
          </a:p>
        </p:txBody>
      </p:sp>
      <p:sp>
        <p:nvSpPr>
          <p:cNvPr id="9" name="TextBox 8"/>
          <p:cNvSpPr txBox="1"/>
          <p:nvPr/>
        </p:nvSpPr>
        <p:spPr>
          <a:xfrm>
            <a:off x="4756809" y="2153412"/>
            <a:ext cx="4114800" cy="2743200"/>
          </a:xfrm>
          <a:prstGeom prst="rect">
            <a:avLst/>
          </a:prstGeom>
          <a:noFill/>
        </p:spPr>
        <p:txBody>
          <a:bodyPr wrap="square">
            <a:spAutoFit/>
          </a:bodyPr>
          <a:lstStyle/>
          <a:p>
            <a:pPr>
              <a:spcBef>
                <a:spcPts val="200"/>
              </a:spcBef>
              <a:spcAft>
                <a:spcPts val="600"/>
              </a:spcAft>
              <a:defRPr sz="1300">
                <a:solidFill>
                  <a:srgbClr val="333333"/>
                </a:solidFill>
                <a:latin typeface="Roboto Light"/>
              </a:defRPr>
            </a:pPr>
            <a:r>
              <a:t>• Extend to diffusion model-generated deepfakes (Stable Diffusion, DALL-E)</a:t>
            </a:r>
          </a:p>
          <a:p>
            <a:pPr>
              <a:spcBef>
                <a:spcPts val="200"/>
              </a:spcBef>
              <a:spcAft>
                <a:spcPts val="600"/>
              </a:spcAft>
              <a:defRPr sz="1300">
                <a:solidFill>
                  <a:srgbClr val="333333"/>
                </a:solidFill>
                <a:latin typeface="Roboto Light"/>
              </a:defRPr>
            </a:pPr>
            <a:r>
              <a:t>• Audio-visual multimodal fusion for comprehensive detection</a:t>
            </a:r>
          </a:p>
          <a:p>
            <a:pPr>
              <a:spcBef>
                <a:spcPts val="200"/>
              </a:spcBef>
              <a:spcAft>
                <a:spcPts val="600"/>
              </a:spcAft>
              <a:defRPr sz="1300">
                <a:solidFill>
                  <a:srgbClr val="333333"/>
                </a:solidFill>
                <a:latin typeface="Roboto Light"/>
              </a:defRPr>
            </a:pPr>
            <a:r>
              <a:t>• Real-time video stream processing for live deployment</a:t>
            </a:r>
          </a:p>
          <a:p>
            <a:pPr>
              <a:spcBef>
                <a:spcPts val="200"/>
              </a:spcBef>
              <a:spcAft>
                <a:spcPts val="600"/>
              </a:spcAft>
              <a:defRPr sz="1300">
                <a:solidFill>
                  <a:srgbClr val="333333"/>
                </a:solidFill>
                <a:latin typeface="Roboto Light"/>
              </a:defRPr>
            </a:pPr>
            <a:r>
              <a:t>• Transformer-based temporal modeling (replace BiLSTM with temporal attention)</a:t>
            </a:r>
          </a:p>
          <a:p>
            <a:pPr>
              <a:spcBef>
                <a:spcPts val="200"/>
              </a:spcBef>
              <a:spcAft>
                <a:spcPts val="600"/>
              </a:spcAft>
              <a:defRPr sz="1300">
                <a:solidFill>
                  <a:srgbClr val="333333"/>
                </a:solidFill>
                <a:latin typeface="Roboto Light"/>
              </a:defRPr>
            </a:pPr>
            <a:r>
              <a:t>• Mobile/edge deployment with model compression (quantization, pruning)</a:t>
            </a:r>
          </a:p>
        </p:txBody>
      </p:sp>
      <p:sp>
        <p:nvSpPr>
          <p:cNvPr id="10" name="Rounded Rectangle 9"/>
          <p:cNvSpPr/>
          <p:nvPr/>
        </p:nvSpPr>
        <p:spPr>
          <a:xfrm>
            <a:off x="457200" y="5029200"/>
            <a:ext cx="8229600" cy="457200"/>
          </a:xfrm>
          <a:prstGeom prst="round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57200" y="5029200"/>
            <a:ext cx="7406640" cy="457200"/>
          </a:xfrm>
          <a:prstGeom prst="roundRect">
            <a:avLst/>
          </a:prstGeom>
          <a:solidFill>
            <a:srgbClr val="28A7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5047488"/>
            <a:ext cx="8229600" cy="411480"/>
          </a:xfrm>
          <a:prstGeom prst="rect">
            <a:avLst/>
          </a:prstGeom>
          <a:noFill/>
        </p:spPr>
        <p:txBody>
          <a:bodyPr wrap="square">
            <a:spAutoFit/>
          </a:bodyPr>
          <a:lstStyle/>
          <a:p>
            <a:pPr algn="ctr">
              <a:defRPr sz="1800" b="1">
                <a:solidFill>
                  <a:srgbClr val="FFFFFF"/>
                </a:solidFill>
                <a:latin typeface="Poppins Light"/>
              </a:defRPr>
            </a:pPr>
            <a:r>
              <a:t>90% Complete</a:t>
            </a:r>
          </a:p>
        </p:txBody>
      </p:sp>
      <p:sp>
        <p:nvSpPr>
          <p:cNvPr id="13" name="TextBox 12"/>
          <p:cNvSpPr txBox="1"/>
          <p:nvPr/>
        </p:nvSpPr>
        <p:spPr>
          <a:xfrm>
            <a:off x="457200" y="5609844"/>
            <a:ext cx="8229600" cy="457200"/>
          </a:xfrm>
          <a:prstGeom prst="rect">
            <a:avLst/>
          </a:prstGeom>
          <a:noFill/>
        </p:spPr>
        <p:txBody>
          <a:bodyPr wrap="square">
            <a:spAutoFit/>
          </a:bodyPr>
          <a:lstStyle/>
          <a:p>
            <a:pPr algn="ctr">
              <a:defRPr sz="1300" b="0">
                <a:solidFill>
                  <a:srgbClr val="333333"/>
                </a:solidFill>
                <a:latin typeface="Roboto Light"/>
              </a:defRPr>
            </a:pPr>
            <a:r>
              <a:rPr dirty="0"/>
              <a:t>Current Status: Core model trained and tested (91% accuracy, 97% AUC), web application functional, preprocessing pipeline complete. Remaining: cross-dataset evaluation and final documentation.</a:t>
            </a:r>
          </a:p>
        </p:txBody>
      </p:sp>
      <p:sp>
        <p:nvSpPr>
          <p:cNvPr id="14" name="TextBox 13"/>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21/22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10972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8046720" cy="640080"/>
          </a:xfrm>
          <a:prstGeom prst="rect">
            <a:avLst/>
          </a:prstGeom>
          <a:noFill/>
        </p:spPr>
        <p:txBody>
          <a:bodyPr wrap="square">
            <a:spAutoFit/>
          </a:bodyPr>
          <a:lstStyle/>
          <a:p>
            <a:pPr>
              <a:defRPr sz="2800" b="0">
                <a:solidFill>
                  <a:srgbClr val="FFFFFF"/>
                </a:solidFill>
                <a:latin typeface="Poppins Light"/>
              </a:defRPr>
            </a:pPr>
            <a:r>
              <a:t>References</a:t>
            </a:r>
          </a:p>
        </p:txBody>
      </p:sp>
      <p:sp>
        <p:nvSpPr>
          <p:cNvPr id="4" name="Rectangle 3"/>
          <p:cNvSpPr/>
          <p:nvPr/>
        </p:nvSpPr>
        <p:spPr>
          <a:xfrm>
            <a:off x="0" y="1097280"/>
            <a:ext cx="9144000" cy="36576"/>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600200"/>
            <a:ext cx="8229600" cy="5029200"/>
          </a:xfrm>
          <a:prstGeom prst="rect">
            <a:avLst/>
          </a:prstGeom>
          <a:noFill/>
        </p:spPr>
        <p:txBody>
          <a:bodyPr wrap="square">
            <a:spAutoFit/>
          </a:bodyPr>
          <a:lstStyle/>
          <a:p>
            <a:pPr>
              <a:spcAft>
                <a:spcPts val="400"/>
              </a:spcAft>
              <a:defRPr sz="1100">
                <a:solidFill>
                  <a:srgbClr val="333333"/>
                </a:solidFill>
                <a:latin typeface="Roboto Light"/>
              </a:defRPr>
            </a:pPr>
            <a:r>
              <a:t>[1] Afchar, D., Nozick, V., Yamagishi, J., &amp; Echizen, I. (2018). MesoNet: A Compact Facial Video Forgery Detection Network. IEEE WIFS.</a:t>
            </a:r>
          </a:p>
          <a:p>
            <a:pPr>
              <a:spcAft>
                <a:spcPts val="400"/>
              </a:spcAft>
              <a:defRPr sz="1100">
                <a:solidFill>
                  <a:srgbClr val="333333"/>
                </a:solidFill>
                <a:latin typeface="Roboto Light"/>
              </a:defRPr>
            </a:pPr>
            <a:r>
              <a:t>[2] Rössler, A., et al. (2019). FaceForensics++: Learning to Detect Manipulated Facial Images. ICCV.</a:t>
            </a:r>
          </a:p>
          <a:p>
            <a:pPr>
              <a:spcAft>
                <a:spcPts val="400"/>
              </a:spcAft>
              <a:defRPr sz="1100">
                <a:solidFill>
                  <a:srgbClr val="333333"/>
                </a:solidFill>
                <a:latin typeface="Roboto Light"/>
              </a:defRPr>
            </a:pPr>
            <a:r>
              <a:t>[3] Güera, D. &amp; Delp, E.J. (2018). Deepfake Video Detection Using Recurrent Neural Networks. IEEE AVSS.</a:t>
            </a:r>
          </a:p>
          <a:p>
            <a:pPr>
              <a:spcAft>
                <a:spcPts val="400"/>
              </a:spcAft>
              <a:defRPr sz="1100">
                <a:solidFill>
                  <a:srgbClr val="333333"/>
                </a:solidFill>
                <a:latin typeface="Roboto Light"/>
              </a:defRPr>
            </a:pPr>
            <a:r>
              <a:t>[4] Li, Y., et al. (2020). Celeb-DF: A Large-scale Challenging Dataset for DeepFake Forensics. CVPR.</a:t>
            </a:r>
          </a:p>
          <a:p>
            <a:pPr>
              <a:spcAft>
                <a:spcPts val="400"/>
              </a:spcAft>
              <a:defRPr sz="1100">
                <a:solidFill>
                  <a:srgbClr val="333333"/>
                </a:solidFill>
                <a:latin typeface="Roboto Light"/>
              </a:defRPr>
            </a:pPr>
            <a:r>
              <a:t>[5] Woo, S., et al. (2018). CBAM: Convolutional Block Attention Module. ECCV.</a:t>
            </a:r>
          </a:p>
          <a:p>
            <a:pPr>
              <a:spcAft>
                <a:spcPts val="400"/>
              </a:spcAft>
              <a:defRPr sz="1100">
                <a:solidFill>
                  <a:srgbClr val="333333"/>
                </a:solidFill>
                <a:latin typeface="Roboto Light"/>
              </a:defRPr>
            </a:pPr>
            <a:r>
              <a:t>[6] Xie, S., et al. (2017). Aggregated Residual Transformations for Deep Neural Networks (ResNeXt). CVPR.</a:t>
            </a:r>
          </a:p>
          <a:p>
            <a:pPr>
              <a:spcAft>
                <a:spcPts val="400"/>
              </a:spcAft>
              <a:defRPr sz="1100">
                <a:solidFill>
                  <a:srgbClr val="333333"/>
                </a:solidFill>
                <a:latin typeface="Roboto Light"/>
              </a:defRPr>
            </a:pPr>
            <a:r>
              <a:t>[7] Dolhansky, B., et al. (2020). The DeepFake Detection Challenge (DFDC) Dataset. arXiv.</a:t>
            </a:r>
          </a:p>
          <a:p>
            <a:pPr>
              <a:spcAft>
                <a:spcPts val="400"/>
              </a:spcAft>
              <a:defRPr sz="1100">
                <a:solidFill>
                  <a:srgbClr val="333333"/>
                </a:solidFill>
                <a:latin typeface="Roboto Light"/>
              </a:defRPr>
            </a:pPr>
            <a:r>
              <a:t>[8] Tolosana, R., et al. (2020). DeepFakes and Beyond: A Survey of Face Manipulation and Fake Detection. Information Fusion.</a:t>
            </a:r>
          </a:p>
          <a:p>
            <a:pPr>
              <a:spcAft>
                <a:spcPts val="400"/>
              </a:spcAft>
              <a:defRPr sz="1100">
                <a:solidFill>
                  <a:srgbClr val="333333"/>
                </a:solidFill>
                <a:latin typeface="Roboto Light"/>
              </a:defRPr>
            </a:pPr>
            <a:r>
              <a:t>[9] Nguyen, H.H., et al. (2019). Use of a Capsule Network to Detect Fake Images and Videos. arXiv.</a:t>
            </a:r>
          </a:p>
          <a:p>
            <a:pPr>
              <a:spcAft>
                <a:spcPts val="400"/>
              </a:spcAft>
              <a:defRPr sz="1100">
                <a:solidFill>
                  <a:srgbClr val="333333"/>
                </a:solidFill>
                <a:latin typeface="Roboto Light"/>
              </a:defRPr>
            </a:pPr>
            <a:r>
              <a:t>[10] Dang, H., et al. (2020). On the Detection of Digital Face Manipulation. CVPR.</a:t>
            </a:r>
          </a:p>
          <a:p>
            <a:pPr>
              <a:spcAft>
                <a:spcPts val="400"/>
              </a:spcAft>
              <a:defRPr sz="1100">
                <a:solidFill>
                  <a:srgbClr val="333333"/>
                </a:solidFill>
                <a:latin typeface="Roboto Light"/>
              </a:defRPr>
            </a:pPr>
            <a:r>
              <a:t>[11] Lin, T.Y., et al. (2017). Focal Loss for Dense Object Detection. ICCV.</a:t>
            </a:r>
          </a:p>
          <a:p>
            <a:pPr>
              <a:spcAft>
                <a:spcPts val="400"/>
              </a:spcAft>
              <a:defRPr sz="1100">
                <a:solidFill>
                  <a:srgbClr val="333333"/>
                </a:solidFill>
                <a:latin typeface="Roboto Light"/>
              </a:defRPr>
            </a:pPr>
            <a:r>
              <a:t>[12] Goodfellow, I., et al. (2014). Generative Adversarial Networks. NeurIPS.</a:t>
            </a:r>
          </a:p>
          <a:p>
            <a:pPr>
              <a:spcAft>
                <a:spcPts val="400"/>
              </a:spcAft>
              <a:defRPr sz="1100">
                <a:solidFill>
                  <a:srgbClr val="333333"/>
                </a:solidFill>
                <a:latin typeface="Roboto Light"/>
              </a:defRPr>
            </a:pPr>
            <a:r>
              <a:t>[13] Jung, T., et al. (2020). DeepVision: Deepfakes Detection Using Human Eye Blinking Pattern. IEEE Access.</a:t>
            </a:r>
          </a:p>
          <a:p>
            <a:pPr>
              <a:spcAft>
                <a:spcPts val="400"/>
              </a:spcAft>
              <a:defRPr sz="1100">
                <a:solidFill>
                  <a:srgbClr val="333333"/>
                </a:solidFill>
                <a:latin typeface="Roboto Light"/>
              </a:defRPr>
            </a:pPr>
            <a:r>
              <a:t>[14] Lal, S., et al. (2025). CNN-LSTM deepfake detection with attention. Digital Signal Processing.</a:t>
            </a:r>
          </a:p>
        </p:txBody>
      </p:sp>
      <p:sp>
        <p:nvSpPr>
          <p:cNvPr id="6" name="TextBox 5"/>
          <p:cNvSpPr txBox="1"/>
          <p:nvPr/>
        </p:nvSpPr>
        <p:spPr>
          <a:xfrm>
            <a:off x="8046720" y="6492240"/>
            <a:ext cx="914400" cy="274320"/>
          </a:xfrm>
          <a:prstGeom prst="rect">
            <a:avLst/>
          </a:prstGeom>
          <a:noFill/>
        </p:spPr>
        <p:txBody>
          <a:bodyPr wrap="square">
            <a:spAutoFit/>
          </a:bodyPr>
          <a:lstStyle/>
          <a:p>
            <a:pPr algn="r">
              <a:defRPr sz="1000" b="0">
                <a:solidFill>
                  <a:srgbClr val="666666"/>
                </a:solidFill>
                <a:latin typeface="Roboto Light"/>
              </a:defRPr>
            </a:pPr>
            <a:r>
              <a:t>22/22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F0F0F0"/>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F0F0F0"/>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F0F0F0"/>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14815</TotalTime>
  <Words>4032</Words>
  <Application>Microsoft Office PowerPoint</Application>
  <PresentationFormat>On-screen Show (4:3)</PresentationFormat>
  <Paragraphs>611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Andalus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Hardik Dahiya</cp:lastModifiedBy>
  <cp:revision>648</cp:revision>
  <dcterms:created xsi:type="dcterms:W3CDTF">2011-09-04T16:22:06Z</dcterms:created>
  <dcterms:modified xsi:type="dcterms:W3CDTF">2026-03-24T16:45:48Z</dcterms:modified>
</cp:coreProperties>
</file>