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60" r:id="rId2"/>
  </p:sldIdLst>
  <p:sldSz cx="12801600" cy="9601200" type="A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804" y="-212"/>
      </p:cViewPr>
      <p:guideLst>
        <p:guide orient="horz" pos="302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48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3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2;p3"/>
          <p:cNvSpPr txBox="1"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Calibri" panose="020F0502020204030204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60"/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9pPr>
          </a:lstStyle>
          <a:p>
            <a:endParaRPr/>
          </a:p>
        </p:txBody>
      </p:sp>
      <p:sp>
        <p:nvSpPr>
          <p:cNvPr id="1048583" name="Google Shape;14;p3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15;p3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Google Shape;18;p4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4" name="Google Shape;19;p4"/>
          <p:cNvSpPr txBox="1"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05" name="Google Shape;20;p4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6" name="Google Shape;21;p4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7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24;p5"/>
          <p:cNvSpPr txBox="1"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Calibri" panose="020F0502020204030204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0" name="Google Shape;25;p5"/>
          <p:cNvSpPr txBox="1"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6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 sz="252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21" name="Google Shape;26;p5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2" name="Google Shape;27;p5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3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Google Shape;30;p6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5" name="Google Shape;31;p6"/>
          <p:cNvSpPr txBox="1">
            <a:spLocks noGrp="1"/>
          </p:cNvSpPr>
          <p:nvPr>
            <p:ph type="body" idx="1"/>
          </p:nvPr>
        </p:nvSpPr>
        <p:spPr>
          <a:xfrm>
            <a:off x="880110" y="2555875"/>
            <a:ext cx="5440680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26" name="Google Shape;32;p6"/>
          <p:cNvSpPr txBox="1">
            <a:spLocks noGrp="1"/>
          </p:cNvSpPr>
          <p:nvPr>
            <p:ph type="body" idx="2"/>
          </p:nvPr>
        </p:nvSpPr>
        <p:spPr>
          <a:xfrm>
            <a:off x="6480810" y="2555875"/>
            <a:ext cx="5440680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27" name="Google Shape;33;p6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8" name="Google Shape;34;p6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9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37;p7"/>
          <p:cNvSpPr txBox="1"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1" name="Google Shape;38;p7"/>
          <p:cNvSpPr txBox="1"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60" b="1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9pPr>
          </a:lstStyle>
          <a:p>
            <a:endParaRPr/>
          </a:p>
        </p:txBody>
      </p:sp>
      <p:sp>
        <p:nvSpPr>
          <p:cNvPr id="1048632" name="Google Shape;39;p7"/>
          <p:cNvSpPr txBox="1">
            <a:spLocks noGrp="1"/>
          </p:cNvSpPr>
          <p:nvPr>
            <p:ph type="body" idx="2"/>
          </p:nvPr>
        </p:nvSpPr>
        <p:spPr>
          <a:xfrm>
            <a:off x="881779" y="3507105"/>
            <a:ext cx="5415676" cy="515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3" name="Google Shape;40;p7"/>
          <p:cNvSpPr txBox="1">
            <a:spLocks noGrp="1"/>
          </p:cNvSpPr>
          <p:nvPr>
            <p:ph type="body" idx="3"/>
          </p:nvPr>
        </p:nvSpPr>
        <p:spPr>
          <a:xfrm>
            <a:off x="6480811" y="2353628"/>
            <a:ext cx="5442347" cy="115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60" b="1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 b="1"/>
            </a:lvl9pPr>
          </a:lstStyle>
          <a:p>
            <a:endParaRPr/>
          </a:p>
        </p:txBody>
      </p:sp>
      <p:sp>
        <p:nvSpPr>
          <p:cNvPr id="1048634" name="Google Shape;41;p7"/>
          <p:cNvSpPr txBox="1">
            <a:spLocks noGrp="1"/>
          </p:cNvSpPr>
          <p:nvPr>
            <p:ph type="body" idx="4"/>
          </p:nvPr>
        </p:nvSpPr>
        <p:spPr>
          <a:xfrm>
            <a:off x="6480811" y="3507105"/>
            <a:ext cx="5442347" cy="515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5" name="Google Shape;42;p7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6" name="Google Shape;43;p7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Google Shape;46;p8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5" name="Google Shape;47;p8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6" name="Google Shape;48;p8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7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Google Shape;51;p9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9" name="Google Shape;52;p9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0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55;p10"/>
          <p:cNvSpPr txBox="1"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Calibri" panose="020F0502020204030204"/>
              <a:buNone/>
              <a:defRPr sz="44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2" name="Google Shape;56;p10"/>
          <p:cNvSpPr txBox="1">
            <a:spLocks noGrp="1"/>
          </p:cNvSpPr>
          <p:nvPr>
            <p:ph type="body" idx="1"/>
          </p:nvPr>
        </p:nvSpPr>
        <p:spPr>
          <a:xfrm>
            <a:off x="5442347" y="1382397"/>
            <a:ext cx="6480810" cy="682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308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480"/>
              <a:buChar char="•"/>
              <a:defRPr sz="4480"/>
            </a:lvl1pPr>
            <a:lvl2pPr marL="914400" lvl="1" indent="-47752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920"/>
              <a:buChar char="•"/>
              <a:defRPr sz="3920"/>
            </a:lvl2pPr>
            <a:lvl3pPr marL="1371600" lvl="2" indent="-44196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3pPr>
            <a:lvl4pPr marL="1828800" lvl="3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4pPr>
            <a:lvl5pPr marL="2286000" lvl="4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5pPr>
            <a:lvl6pPr marL="2743200" lvl="5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6pPr>
            <a:lvl7pPr marL="3200400" lvl="6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7pPr>
            <a:lvl8pPr marL="3657600" lvl="7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8pPr>
            <a:lvl9pPr marL="4114800" lvl="8" indent="-406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9pPr>
          </a:lstStyle>
          <a:p>
            <a:endParaRPr/>
          </a:p>
        </p:txBody>
      </p:sp>
      <p:sp>
        <p:nvSpPr>
          <p:cNvPr id="1048643" name="Google Shape;57;p10"/>
          <p:cNvSpPr txBox="1">
            <a:spLocks noGrp="1"/>
          </p:cNvSpPr>
          <p:nvPr>
            <p:ph type="body" idx="2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  <a:defRPr sz="196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48644" name="Google Shape;58;p10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9;p10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62;p11"/>
          <p:cNvSpPr txBox="1"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Calibri" panose="020F0502020204030204"/>
              <a:buNone/>
              <a:defRPr sz="44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9" name="Google Shape;63;p11"/>
          <p:cNvSpPr>
            <a:spLocks noGrp="1"/>
          </p:cNvSpPr>
          <p:nvPr>
            <p:ph type="pic" idx="2"/>
          </p:nvPr>
        </p:nvSpPr>
        <p:spPr>
          <a:xfrm>
            <a:off x="5442347" y="1382397"/>
            <a:ext cx="6480810" cy="6823075"/>
          </a:xfrm>
          <a:prstGeom prst="rect">
            <a:avLst/>
          </a:prstGeom>
          <a:noFill/>
          <a:ln>
            <a:noFill/>
          </a:ln>
        </p:spPr>
      </p:sp>
      <p:sp>
        <p:nvSpPr>
          <p:cNvPr id="1048610" name="Google Shape;64;p11"/>
          <p:cNvSpPr txBox="1">
            <a:spLocks noGrp="1"/>
          </p:cNvSpPr>
          <p:nvPr>
            <p:ph type="body" idx="1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  <a:defRPr sz="196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48611" name="Google Shape;65;p11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2" name="Google Shape;66;p11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3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Google Shape;69;p12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5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354864" y="81122"/>
            <a:ext cx="6091873" cy="11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16" name="Google Shape;71;p12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7" name="Google Shape;72;p12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8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6473032" y="3199289"/>
            <a:ext cx="8136573" cy="276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9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872332" y="518954"/>
            <a:ext cx="8136573" cy="812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00" name="Google Shape;77;p13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1" name="Google Shape;78;p13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2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2"/>
          <p:cNvSpPr txBox="1"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60"/>
              <a:buFont typeface="Calibri" panose="020F0502020204030204"/>
              <a:buNone/>
              <a:defRPr sz="616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2"/>
          <p:cNvSpPr txBox="1"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7752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920"/>
              <a:buFont typeface="Arial" panose="020B0604020202020204"/>
              <a:buChar char="•"/>
              <a:defRPr sz="39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4196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 panose="020B0604020202020204"/>
              <a:buChar char="•"/>
              <a:defRPr sz="336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8862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604020202020204"/>
              <a:buChar char="•"/>
              <a:defRPr sz="252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78" name="Google Shape;8;p2"/>
          <p:cNvSpPr txBox="1">
            <a:spLocks noGrp="1"/>
          </p:cNvSpPr>
          <p:nvPr>
            <p:ph type="dt" idx="10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79" name="Google Shape;9;p2"/>
          <p:cNvSpPr txBox="1">
            <a:spLocks noGrp="1"/>
          </p:cNvSpPr>
          <p:nvPr>
            <p:ph type="ftr" idx="11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8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68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hardik.dahiya@vitstudent.ac.in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mailto:yash.srivastav@vitstudent.ac.in" TargetMode="External"/><Relationship Id="rId4" Type="http://schemas.openxmlformats.org/officeDocument/2006/relationships/hyperlink" Target="mailto:shaurya.naithani@vitstudent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4;p1"/>
          <p:cNvSpPr txBox="1"/>
          <p:nvPr/>
        </p:nvSpPr>
        <p:spPr>
          <a:xfrm>
            <a:off x="8688598" y="1282085"/>
            <a:ext cx="4067924" cy="8294538"/>
          </a:xfrm>
          <a:prstGeom prst="rect">
            <a:avLst/>
          </a:prstGeom>
          <a:noFill/>
          <a:ln w="9525" cap="flat" cmpd="sng">
            <a:solidFill>
              <a:srgbClr val="92A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/>
            <a:r>
              <a:rPr lang="en-US" sz="1200" b="1" dirty="0">
                <a:solidFill>
                  <a:schemeClr val="accent1"/>
                </a:solidFill>
              </a:rPr>
              <a:t>RESULTS</a:t>
            </a:r>
            <a:endParaRPr lang="en-US" dirty="0">
              <a:solidFill>
                <a:schemeClr val="accent1"/>
              </a:solidFill>
            </a:endParaRPr>
          </a:p>
          <a:p>
            <a:pPr algn="l"/>
            <a:r>
              <a:rPr lang="en-US" sz="900" b="1" dirty="0">
                <a:solidFill>
                  <a:schemeClr val="accent1"/>
                </a:solidFill>
              </a:rPr>
              <a:t>Primary Results (FaceForensics++ Benchmark)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Accuracy  &gt; 90%   |   AUC  &gt; 0.95   |   F1 Score  &gt; 0.90</a:t>
            </a:r>
            <a:endParaRPr lang="en-US" dirty="0"/>
          </a:p>
          <a:p>
            <a:pPr algn="l"/>
            <a:r>
              <a:rPr lang="en-US" sz="900" b="1" dirty="0">
                <a:solidFill>
                  <a:schemeClr val="accent1"/>
                </a:solidFill>
              </a:rPr>
              <a:t>Cross-Dataset Generalization  (FF++ → Celeb-DFv2)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Accuracy  80 – 88%   |   AUC  0.85 – 0.93</a:t>
            </a:r>
            <a:endParaRPr lang="en-US" dirty="0"/>
          </a:p>
          <a:p>
            <a:pPr algn="l"/>
            <a:r>
              <a:rPr lang="en-US" sz="900" b="1" dirty="0">
                <a:solidFill>
                  <a:schemeClr val="accent1"/>
                </a:solidFill>
              </a:rPr>
              <a:t>Stress Test  (FF++ → DFDC)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Accuracy  60 – 72%   |   AUC  0.65 – 0.76</a:t>
            </a:r>
            <a:endParaRPr lang="en-US" dirty="0"/>
          </a:p>
          <a:p>
            <a:pPr algn="l"/>
            <a:r>
              <a:rPr lang="en-US" sz="900" b="1" dirty="0">
                <a:solidFill>
                  <a:schemeClr val="accent1"/>
                </a:solidFill>
              </a:rPr>
              <a:t>Baseline Comparison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Single-frame CNN (no attention):  Accuracy ~82%, AUC ~0.87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LSTM only (no spatial attention):  Accuracy ~85%, AUC ~0.90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Proposed (ResNeXt+CBAM+BiLSTM):  Accuracy &gt;90%, AUC &gt;0.95  ← best</a:t>
            </a:r>
            <a:endParaRPr lang="en-US" dirty="0"/>
          </a:p>
          <a:p>
            <a:pPr algn="l"/>
            <a:r>
              <a:rPr lang="en-US" sz="900" b="1" dirty="0">
                <a:solidFill>
                  <a:schemeClr val="accent1"/>
                </a:solidFill>
              </a:rPr>
              <a:t>Key Findings</a:t>
            </a:r>
          </a:p>
          <a:p>
            <a:pPr algn="l"/>
            <a:r>
              <a:rPr lang="en-US" sz="900" dirty="0"/>
              <a:t>• CBAM attention focuses on periocular and facial boundary regions — the primary</a:t>
            </a:r>
          </a:p>
          <a:p>
            <a:pPr algn="l"/>
            <a:r>
              <a:rPr lang="en-US" sz="900" dirty="0"/>
              <a:t>  artifact zones for all four face-swap manipulation methods.</a:t>
            </a:r>
          </a:p>
          <a:p>
            <a:pPr algn="l"/>
            <a:r>
              <a:rPr lang="en-US" sz="900" dirty="0"/>
              <a:t>• BiLSTM captures temporal flickering patterns invisible to single-frame models.</a:t>
            </a:r>
          </a:p>
          <a:p>
            <a:pPr algn="l"/>
            <a:r>
              <a:rPr lang="en-US" sz="900" dirty="0"/>
              <a:t>• Two-phase training improves cross-dataset AUC by ~3% vs. end-to-end training.</a:t>
            </a:r>
          </a:p>
          <a:p>
            <a:pPr algn="l"/>
            <a:endParaRPr lang="en-US" dirty="0"/>
          </a:p>
          <a:p>
            <a:pPr algn="l"/>
            <a:r>
              <a:rPr lang="en-US" sz="1200" b="1" dirty="0">
                <a:solidFill>
                  <a:schemeClr val="accent1"/>
                </a:solidFill>
              </a:rPr>
              <a:t>CONCLUSION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The proposed spatial-temporal attention model achieves strong intra-dataset performance (&gt;90% accuracy, &gt;0.95 AUC on FF++) and competitive cross-dataset generalization.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CBAM attention heatmaps provide interpretable evidence, and two-phase training is the key differentiator over baseline approaches. Future work: lightweight model distillation for mobile, audio-visual fusion, and real-time stream detection.</a:t>
            </a:r>
          </a:p>
          <a:p>
            <a:pPr algn="l"/>
            <a:endParaRPr lang="en-US" dirty="0"/>
          </a:p>
          <a:p>
            <a:pPr algn="l"/>
            <a:r>
              <a:rPr lang="en-US" sz="1200" b="1" dirty="0">
                <a:solidFill>
                  <a:schemeClr val="accent1"/>
                </a:solidFill>
              </a:rPr>
              <a:t>CONTACT DETAILS</a:t>
            </a:r>
          </a:p>
          <a:p>
            <a:pPr algn="l"/>
            <a:endParaRPr lang="en-US" dirty="0"/>
          </a:p>
          <a:p>
            <a:pPr algn="l"/>
            <a:r>
              <a:rPr lang="en-US" sz="900" b="1" dirty="0">
                <a:solidFill>
                  <a:schemeClr val="accent1"/>
                </a:solidFill>
              </a:rPr>
              <a:t>MAIL ID: </a:t>
            </a:r>
            <a:r>
              <a:rPr lang="en-US" sz="9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hardik.dahiya@vitstudent.ac.in</a:t>
            </a:r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                </a:t>
            </a:r>
            <a:r>
              <a:rPr lang="en-US" sz="9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shaurya.naithani@vitstudent.ac.in</a:t>
            </a:r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                </a:t>
            </a:r>
            <a:r>
              <a:rPr lang="en-US" sz="9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yash.srivastav@vitstudent.ac.in</a:t>
            </a:r>
            <a:endParaRPr lang="en-US" sz="9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sz="900" b="1" dirty="0">
                <a:solidFill>
                  <a:schemeClr val="accent1"/>
                </a:solidFill>
              </a:rPr>
              <a:t>MOBILE NO: </a:t>
            </a:r>
            <a:r>
              <a:rPr lang="en-US" sz="900" dirty="0">
                <a:solidFill>
                  <a:schemeClr val="tx1"/>
                </a:solidFill>
              </a:rPr>
              <a:t>9991439010</a:t>
            </a:r>
            <a:r>
              <a:rPr lang="en-US" sz="900" b="1" dirty="0">
                <a:solidFill>
                  <a:schemeClr val="accent1"/>
                </a:solidFill>
              </a:rPr>
              <a:t> , </a:t>
            </a:r>
            <a:r>
              <a:rPr lang="en-US" sz="900" dirty="0">
                <a:solidFill>
                  <a:schemeClr val="tx1"/>
                </a:solidFill>
              </a:rPr>
              <a:t>9818663820 , 7021914698</a:t>
            </a:r>
          </a:p>
          <a:p>
            <a:pPr algn="l"/>
            <a:endParaRPr lang="en-US" dirty="0"/>
          </a:p>
          <a:p>
            <a:pPr algn="l"/>
            <a:r>
              <a:rPr lang="en-US" sz="1200" b="1" dirty="0">
                <a:solidFill>
                  <a:schemeClr val="accent1"/>
                </a:solidFill>
              </a:rPr>
              <a:t>REFERENCES</a:t>
            </a:r>
          </a:p>
          <a:p>
            <a:pPr algn="l"/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[1] Rossler et al. FaceForensics++: Learning to Detect Manipulated Facial Images. ICCV 2019.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[2] Li et al. Celeb-DF: A Large-Scale Challenging Dataset for DeepFake Video Forensics. CVPR 2020.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[3] Dolhansky et al. The DeepFake Detection Challenge Dataset. arXiv 2020.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[4] Woo et al. CBAM: Convolutional Block Attention Module. ECCV 2018.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[5] Xie et al. Aggregated Residual Transformations for Deep Neural Networks (ResNeXt). CVPR 2017.</a:t>
            </a:r>
          </a:p>
          <a:p>
            <a:pPr algn="l"/>
            <a:endParaRPr lang="en-US" sz="900" dirty="0"/>
          </a:p>
          <a:p>
            <a:pPr algn="l"/>
            <a:endParaRPr lang="en-US" sz="900" dirty="0"/>
          </a:p>
          <a:p>
            <a:pPr algn="l"/>
            <a:endParaRPr lang="en-US" sz="900" dirty="0"/>
          </a:p>
          <a:p>
            <a:pPr algn="l"/>
            <a:endParaRPr lang="en-US" sz="900" dirty="0"/>
          </a:p>
        </p:txBody>
      </p:sp>
      <p:sp>
        <p:nvSpPr>
          <p:cNvPr id="1048587" name="Google Shape;85;p1"/>
          <p:cNvSpPr/>
          <p:nvPr/>
        </p:nvSpPr>
        <p:spPr>
          <a:xfrm>
            <a:off x="-2146" y="20740"/>
            <a:ext cx="12803746" cy="1273655"/>
          </a:xfrm>
          <a:custGeom>
            <a:avLst/>
            <a:gdLst/>
            <a:ahLst/>
            <a:cxnLst/>
            <a:rect l="l" t="t" r="r" b="b"/>
            <a:pathLst>
              <a:path w="20104100" h="2233930" extrusionOk="0">
                <a:moveTo>
                  <a:pt x="0" y="2233788"/>
                </a:moveTo>
                <a:lnTo>
                  <a:pt x="20104099" y="2233788"/>
                </a:lnTo>
                <a:lnTo>
                  <a:pt x="20104099" y="0"/>
                </a:lnTo>
                <a:lnTo>
                  <a:pt x="0" y="0"/>
                </a:lnTo>
                <a:lnTo>
                  <a:pt x="0" y="22337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405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8588" name="Google Shape;86;p1"/>
          <p:cNvSpPr txBox="1"/>
          <p:nvPr/>
        </p:nvSpPr>
        <p:spPr>
          <a:xfrm>
            <a:off x="4351557" y="29772"/>
            <a:ext cx="6237962" cy="7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50" rIns="0" bIns="0" anchor="b" anchorCtr="0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</a:rPr>
              <a:t>Deepfake Short Video Detection Using Spatial-Temporal Attention</a:t>
            </a:r>
          </a:p>
          <a:p>
            <a:pPr algn="l"/>
            <a:endParaRPr lang="en-US" dirty="0"/>
          </a:p>
        </p:txBody>
      </p:sp>
      <p:sp>
        <p:nvSpPr>
          <p:cNvPr id="1048589" name="Google Shape;91;p1"/>
          <p:cNvSpPr txBox="1"/>
          <p:nvPr/>
        </p:nvSpPr>
        <p:spPr>
          <a:xfrm>
            <a:off x="52662" y="1294958"/>
            <a:ext cx="4221181" cy="8309927"/>
          </a:xfrm>
          <a:prstGeom prst="rect">
            <a:avLst/>
          </a:prstGeom>
          <a:noFill/>
          <a:ln w="9525" cap="flat" cmpd="sng">
            <a:solidFill>
              <a:srgbClr val="92A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/>
            <a:r>
              <a:rPr lang="en-US" sz="1200" b="1" dirty="0">
                <a:solidFill>
                  <a:schemeClr val="accent1"/>
                </a:solidFill>
              </a:rPr>
              <a:t>MOTIVATION / INTRODUCTION</a:t>
            </a:r>
          </a:p>
          <a:p>
            <a:pPr algn="l"/>
            <a:endParaRPr lang="en-US" dirty="0"/>
          </a:p>
          <a:p>
            <a:pPr algn="l"/>
            <a:r>
              <a:rPr lang="en-US" sz="900" dirty="0"/>
              <a:t>Deepfakes — AI-synthesized media that convincingly replace a person's face — pose a growing threat to public trust, social media integrity, and national security. Short-form video platforms (TikTok, Instagram Reels, YouTube Shorts) amplify the problem: manipulated videos can go viral before any detection occurs.</a:t>
            </a:r>
          </a:p>
          <a:p>
            <a:pPr algn="l"/>
            <a:endParaRPr lang="en-US" dirty="0"/>
          </a:p>
          <a:p>
            <a:pPr algn="l"/>
            <a:r>
              <a:rPr lang="en-US" sz="900" dirty="0"/>
              <a:t>Existing detectors often fail on compressed or cross-domain videos. There is a clear need for a robust, generalizable model that captures both spatial facial artifacts and temporal inconsistencies across frames.</a:t>
            </a:r>
          </a:p>
          <a:p>
            <a:pPr algn="l"/>
            <a:endParaRPr lang="en-US" dirty="0"/>
          </a:p>
          <a:p>
            <a:pPr algn="l"/>
            <a:r>
              <a:rPr lang="en-US" sz="1050" b="1" dirty="0">
                <a:solidFill>
                  <a:srgbClr val="0070C0"/>
                </a:solidFill>
              </a:rPr>
              <a:t>SDG GOAL NUMBER: 16 — Peace, Justice, and Strong Institutions</a:t>
            </a:r>
          </a:p>
          <a:p>
            <a:pPr algn="l"/>
            <a:r>
              <a:rPr lang="en-US" sz="900" dirty="0"/>
              <a:t>Deepfake detection directly supports the fight against digital misinformation, fraud, and identity manipulation, strengthening information integrity and democratic accountability.</a:t>
            </a:r>
          </a:p>
          <a:p>
            <a:pPr algn="l"/>
            <a:endParaRPr lang="en-US" dirty="0">
              <a:solidFill>
                <a:schemeClr val="accent1"/>
              </a:solidFill>
            </a:endParaRPr>
          </a:p>
          <a:p>
            <a:pPr algn="l"/>
            <a:r>
              <a:rPr lang="en-US" sz="1200" b="1" dirty="0">
                <a:solidFill>
                  <a:schemeClr val="accent1"/>
                </a:solidFill>
              </a:rPr>
              <a:t>OBJECTIVES</a:t>
            </a:r>
          </a:p>
          <a:p>
            <a:pPr algn="l"/>
            <a:endParaRPr lang="en-US" dirty="0"/>
          </a:p>
          <a:p>
            <a:pPr marL="228600" indent="-228600" algn="l">
              <a:buFont typeface="+mj-lt"/>
              <a:buAutoNum type="arabicPeriod"/>
            </a:pPr>
            <a:r>
              <a:rPr lang="en-US" sz="900" dirty="0"/>
              <a:t>Design a spatial-temporal attention model combining ResNeXt-50 + CBAM for per-frame artifact detection and BiLSTM for temporal inconsistency modeling.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900" dirty="0"/>
              <a:t>Build a preprocessing pipeline with MTCNN / RetinaFace face detection and 5-point landmark-based alignment to produce aligned 224×224 face crops.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900" dirty="0"/>
              <a:t>Achieve Accuracy &gt; 90%, AUC &gt; 0.95, and F1 &gt; 0.90 on FaceForensics++ benchmark.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900" dirty="0"/>
              <a:t>Demonstrate cross-dataset generalization 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900" dirty="0"/>
              <a:t>Develop a production-grade FastAPI backend and React web UI for real-time inference with frame-level attention heatmap visualization.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900" dirty="0"/>
              <a:t>Implement a two-phase training strategy to improve generalization.</a:t>
            </a:r>
          </a:p>
          <a:p>
            <a:pPr algn="l"/>
            <a:endParaRPr lang="en-US" dirty="0"/>
          </a:p>
          <a:p>
            <a:pPr algn="l"/>
            <a:r>
              <a:rPr lang="en-US" sz="1200" b="1" dirty="0">
                <a:solidFill>
                  <a:schemeClr val="accent1"/>
                </a:solidFill>
              </a:rPr>
              <a:t>SCOPE OF THE PROJECT</a:t>
            </a:r>
          </a:p>
          <a:p>
            <a:pPr algn="l"/>
            <a:endParaRPr lang="en-US" dirty="0"/>
          </a:p>
          <a:p>
            <a:pPr algn="l"/>
            <a:r>
              <a:rPr lang="en-US" sz="900" dirty="0"/>
              <a:t>• Input: Short video clips (MP4, AVI, MOV, MKV, WebM formats, up to 60 seconds).</a:t>
            </a:r>
          </a:p>
          <a:p>
            <a:pPr algn="l"/>
            <a:r>
              <a:rPr lang="en-US" sz="900" dirty="0"/>
              <a:t>• Detects AI face manipulations: DeepFakes, FaceSwap, Face2Face, NeuralTextures.</a:t>
            </a:r>
          </a:p>
          <a:p>
            <a:pPr algn="l"/>
            <a:r>
              <a:rPr lang="en-US" sz="900" dirty="0"/>
              <a:t>• Web inference via FastAPI + React with frame-level CBAM attention heatmaps.</a:t>
            </a:r>
          </a:p>
          <a:p>
            <a:pPr algn="l"/>
            <a:r>
              <a:rPr lang="en-US" sz="900" dirty="0"/>
              <a:t>• Trained on FaceForensics++; evaluated cross-dataset on Celeb-DFv2 and DFDC.</a:t>
            </a:r>
          </a:p>
          <a:p>
            <a:pPr algn="l"/>
            <a:r>
              <a:rPr lang="en-US" sz="900" dirty="0"/>
              <a:t>• Out of scope: audio-only deepfakes, GAN-generated static images, real-time streaming.</a:t>
            </a:r>
          </a:p>
          <a:p>
            <a:pPr algn="l"/>
            <a:endParaRPr lang="en-US" sz="900" dirty="0"/>
          </a:p>
          <a:p>
            <a:pPr algn="l"/>
            <a:endParaRPr lang="en-US" sz="900" dirty="0"/>
          </a:p>
          <a:p>
            <a:pPr algn="l"/>
            <a:endParaRPr lang="en-US" sz="900" dirty="0"/>
          </a:p>
          <a:p>
            <a:pPr algn="l"/>
            <a:endParaRPr lang="en-US" sz="900" dirty="0"/>
          </a:p>
          <a:p>
            <a:pPr algn="l"/>
            <a:endParaRPr lang="en-US" sz="900" dirty="0"/>
          </a:p>
          <a:p>
            <a:pPr algn="l"/>
            <a:endParaRPr lang="en-US" sz="9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1048590" name="Google Shape;92;p1"/>
          <p:cNvSpPr txBox="1"/>
          <p:nvPr/>
        </p:nvSpPr>
        <p:spPr>
          <a:xfrm>
            <a:off x="4333137" y="1282084"/>
            <a:ext cx="4302799" cy="8263760"/>
          </a:xfrm>
          <a:prstGeom prst="rect">
            <a:avLst/>
          </a:prstGeom>
          <a:noFill/>
          <a:ln w="9525" cap="flat" cmpd="sng">
            <a:solidFill>
              <a:srgbClr val="92A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/>
            <a:r>
              <a:rPr lang="en-US" sz="1200" b="1" dirty="0">
                <a:solidFill>
                  <a:schemeClr val="accent1"/>
                </a:solidFill>
              </a:rPr>
              <a:t>METHODOLOGY</a:t>
            </a:r>
            <a:endParaRPr lang="en-US" dirty="0"/>
          </a:p>
          <a:p>
            <a:pPr algn="l"/>
            <a:r>
              <a:rPr lang="en-US" sz="900" dirty="0"/>
              <a:t>A four-stage spatial-temporal attention pipeline for short video deepfake detection:</a:t>
            </a:r>
          </a:p>
          <a:p>
            <a:pPr algn="l"/>
            <a:endParaRPr lang="en-US" dirty="0"/>
          </a:p>
          <a:p>
            <a:pPr algn="l"/>
            <a:r>
              <a:rPr lang="en-US" sz="900" b="1" dirty="0">
                <a:solidFill>
                  <a:schemeClr val="accent1"/>
                </a:solidFill>
              </a:rPr>
              <a:t>Stage 1 — Preprocessing</a:t>
            </a:r>
          </a:p>
          <a:p>
            <a:pPr algn="l"/>
            <a:r>
              <a:rPr lang="en-US" sz="900" dirty="0"/>
              <a:t>• Frame Sampling: 16 uniformly spaced frames extracted per video clip.</a:t>
            </a:r>
          </a:p>
          <a:p>
            <a:pPr algn="l"/>
            <a:r>
              <a:rPr lang="en-US" sz="900" dirty="0"/>
              <a:t>• Face Detection: MTCNN (primary) with RetinaFace as fallback detector.</a:t>
            </a:r>
          </a:p>
          <a:p>
            <a:pPr algn="l"/>
            <a:r>
              <a:rPr lang="en-US" sz="900" dirty="0"/>
              <a:t>• Face Alignment: 5-point landmark-based affine warp → 224 × 224 px crops.</a:t>
            </a:r>
          </a:p>
          <a:p>
            <a:pPr algn="l"/>
            <a:endParaRPr lang="en-US" dirty="0">
              <a:solidFill>
                <a:schemeClr val="accent1"/>
              </a:solidFill>
            </a:endParaRPr>
          </a:p>
          <a:p>
            <a:pPr algn="l"/>
            <a:r>
              <a:rPr lang="en-US" sz="900" b="1" dirty="0">
                <a:solidFill>
                  <a:schemeClr val="accent1"/>
                </a:solidFill>
              </a:rPr>
              <a:t>Stage 2 — Spatial Feature Extraction</a:t>
            </a:r>
          </a:p>
          <a:p>
            <a:pPr algn="l"/>
            <a:r>
              <a:rPr lang="en-US" sz="900" dirty="0"/>
              <a:t>• Backbone: ResNeXt-50 pretrained on ImageNet (via timm library).</a:t>
            </a:r>
          </a:p>
          <a:p>
            <a:pPr algn="l"/>
            <a:r>
              <a:rPr lang="en-US" sz="900" dirty="0"/>
              <a:t>• CBAM Channel Attention: Squeeze-excitation block recalibrates feature channels.</a:t>
            </a:r>
          </a:p>
          <a:p>
            <a:pPr algn="l"/>
            <a:r>
              <a:rPr lang="en-US" sz="900" dirty="0"/>
              <a:t>• CBAM Spatial Attention: Highlights periocular/boundary regions most affected by swaps.</a:t>
            </a:r>
          </a:p>
          <a:p>
            <a:pPr algn="l"/>
            <a:r>
              <a:rPr lang="en-US" sz="900" dirty="0"/>
              <a:t>• Output: 512-dimensional feature vector per frame.</a:t>
            </a:r>
          </a:p>
          <a:p>
            <a:pPr algn="l"/>
            <a:endParaRPr lang="en-US" dirty="0"/>
          </a:p>
          <a:p>
            <a:pPr algn="l"/>
            <a:r>
              <a:rPr lang="en-US" sz="900" b="1" dirty="0">
                <a:solidFill>
                  <a:schemeClr val="accent1"/>
                </a:solidFill>
              </a:rPr>
              <a:t>Stage 3 — Temporal Modeling</a:t>
            </a:r>
          </a:p>
          <a:p>
            <a:pPr algn="l"/>
            <a:r>
              <a:rPr lang="en-US" sz="900" dirty="0"/>
              <a:t>• BiLSTM: 2-layer bidirectional LSTM with hidden dimension 256.</a:t>
            </a:r>
          </a:p>
          <a:p>
            <a:pPr algn="l"/>
            <a:r>
              <a:rPr lang="en-US" sz="900" dirty="0"/>
              <a:t>• Processes the sequence of 16 per-frame feature vectors (B × 16 × 512).</a:t>
            </a:r>
          </a:p>
          <a:p>
            <a:pPr algn="l"/>
            <a:r>
              <a:rPr lang="en-US" sz="900" dirty="0"/>
              <a:t>• Captures temporal inconsistencies: unnatural eye blinks, mouth motion,</a:t>
            </a:r>
          </a:p>
          <a:p>
            <a:pPr algn="l"/>
            <a:r>
              <a:rPr lang="en-US" sz="900" dirty="0"/>
              <a:t>  boundary flicker invisible to single-frame classifiers.</a:t>
            </a:r>
          </a:p>
          <a:p>
            <a:pPr algn="l"/>
            <a:endParaRPr lang="en-US" dirty="0"/>
          </a:p>
          <a:p>
            <a:pPr algn="l"/>
            <a:r>
              <a:rPr lang="en-US" sz="900" b="1" dirty="0">
                <a:solidFill>
                  <a:schemeClr val="accent1"/>
                </a:solidFill>
              </a:rPr>
              <a:t>Stage 4 — Classification</a:t>
            </a:r>
          </a:p>
          <a:p>
            <a:pPr algn="l"/>
            <a:r>
              <a:rPr lang="en-US" sz="900" dirty="0"/>
              <a:t>• FC Head: Linear(512 → 256) → ReLU → Dropout(0.5) → Linear(256 → 2).</a:t>
            </a:r>
          </a:p>
          <a:p>
            <a:pPr algn="l"/>
            <a:r>
              <a:rPr lang="en-US" sz="900" dirty="0"/>
              <a:t>• Output: Softmax probability score — Real vs. Fake.</a:t>
            </a:r>
          </a:p>
          <a:p>
            <a:pPr algn="l"/>
            <a:endParaRPr lang="en-US" dirty="0"/>
          </a:p>
          <a:p>
            <a:pPr algn="l"/>
            <a:r>
              <a:rPr lang="en-US" sz="900" b="1" dirty="0">
                <a:solidFill>
                  <a:schemeClr val="accent1"/>
                </a:solidFill>
              </a:rPr>
              <a:t>Two-Phase Training Strategy</a:t>
            </a:r>
          </a:p>
          <a:p>
            <a:pPr algn="l"/>
            <a:r>
              <a:rPr lang="en-US" sz="900" dirty="0"/>
              <a:t>• Phase 1: Freeze ResNeXt-50; train CBAM + BiLSTM to learn attention patterns.</a:t>
            </a:r>
          </a:p>
          <a:p>
            <a:pPr algn="l"/>
            <a:r>
              <a:rPr lang="en-US" sz="900" dirty="0"/>
              <a:t>• Phase 2: End-to-end fine-tuning at 0.1× backbone learning rate </a:t>
            </a:r>
          </a:p>
          <a:p>
            <a:pPr algn="l"/>
            <a:endParaRPr lang="en-US" dirty="0">
              <a:solidFill>
                <a:srgbClr val="00B0F0"/>
              </a:solidFill>
            </a:endParaRPr>
          </a:p>
          <a:p>
            <a:pPr algn="l"/>
            <a:r>
              <a:rPr lang="en-US" sz="1200" b="1" dirty="0">
                <a:solidFill>
                  <a:srgbClr val="0070C0"/>
                </a:solidFill>
              </a:rPr>
              <a:t>ARCHITECTURE</a:t>
            </a:r>
            <a:endParaRPr lang="en-US" dirty="0">
              <a:solidFill>
                <a:srgbClr val="0070C0"/>
              </a:solidFill>
            </a:endParaRPr>
          </a:p>
          <a:p>
            <a:pPr algn="l"/>
            <a:r>
              <a:rPr lang="en-US" sz="900" b="1" dirty="0"/>
              <a:t>Three-Layer System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Frontend: React 18 SPA with video upload, frame-level attention heatmap </a:t>
            </a:r>
            <a:r>
              <a:rPr lang="en-US" sz="900" dirty="0" err="1"/>
              <a:t>timeline,real</a:t>
            </a:r>
            <a:r>
              <a:rPr lang="en-US" sz="900" dirty="0"/>
              <a:t>-time probability gauge, analysis history, and dark/light mode.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Backend: FastAPI (async) + Uvicorn. Model loaded as singleton at startup;</a:t>
            </a:r>
          </a:p>
          <a:p>
            <a:pPr algn="l"/>
            <a:r>
              <a:rPr lang="en-US" sz="900" dirty="0"/>
              <a:t>     temp-file cleanup after each inference.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dirty="0"/>
              <a:t>Model Layer: PyTorch inference with torch.no_grad(). CBAM attention maps</a:t>
            </a:r>
          </a:p>
          <a:p>
            <a:pPr algn="l"/>
            <a:r>
              <a:rPr lang="en-US" sz="900" dirty="0"/>
              <a:t>     extracted per frame for visualization. </a:t>
            </a:r>
            <a:endParaRPr lang="en-US" dirty="0"/>
          </a:p>
          <a:p>
            <a:pPr algn="l"/>
            <a:r>
              <a:rPr lang="en-US" sz="900" b="1" dirty="0"/>
              <a:t>Fig. 1: Proposed System Architecture  (see diagram below)</a:t>
            </a:r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  <a:p>
            <a:pPr algn="l"/>
            <a:endParaRPr lang="en-US" sz="900" b="1" dirty="0"/>
          </a:p>
        </p:txBody>
      </p:sp>
      <p:sp>
        <p:nvSpPr>
          <p:cNvPr id="1048591" name="TextBox 2"/>
          <p:cNvSpPr txBox="1"/>
          <p:nvPr/>
        </p:nvSpPr>
        <p:spPr>
          <a:xfrm>
            <a:off x="4326505" y="435969"/>
            <a:ext cx="626301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300" b="1" dirty="0">
                <a:solidFill>
                  <a:schemeClr val="bg1"/>
                </a:solidFill>
              </a:rPr>
              <a:t>Students: Shaurya Naithani (22BCE1461),  Yash Srivastava (22BCE1968),  Hardik Dahiya (22BCE1301)</a:t>
            </a:r>
          </a:p>
          <a:p>
            <a:pPr algn="l"/>
            <a:r>
              <a:rPr lang="en-US" sz="1300" b="1" dirty="0">
                <a:solidFill>
                  <a:schemeClr val="bg1"/>
                </a:solidFill>
              </a:rPr>
              <a:t>Guide: Dr. S. Geetha, Associate Professor</a:t>
            </a:r>
          </a:p>
          <a:p>
            <a:pPr algn="l"/>
            <a:r>
              <a:rPr lang="en-US" sz="1300" b="1" dirty="0">
                <a:solidFill>
                  <a:schemeClr val="bg1"/>
                </a:solidFill>
              </a:rPr>
              <a:t>School of Computer Science and Engineering (SCOPE), VIT Chennai</a:t>
            </a:r>
          </a:p>
        </p:txBody>
      </p:sp>
      <p:pic>
        <p:nvPicPr>
          <p:cNvPr id="2097152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038" y="45161"/>
            <a:ext cx="4296428" cy="124951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53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0604938" y="16572"/>
            <a:ext cx="2167003" cy="122721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11AEBB-7987-E785-268E-DD30A1CE3E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7009" y="7393374"/>
            <a:ext cx="2161003" cy="20778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1013</Words>
  <Application>Microsoft Office PowerPoint</Application>
  <PresentationFormat>A3 Paper (297x420 mm)</PresentationFormat>
  <Paragraphs>122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Swanger, Scott A</dc:creator>
  <cp:lastModifiedBy>Hardik Dahiya</cp:lastModifiedBy>
  <cp:revision>2</cp:revision>
  <dcterms:created xsi:type="dcterms:W3CDTF">2019-03-04T11:30:00Z</dcterms:created>
  <dcterms:modified xsi:type="dcterms:W3CDTF">2026-04-06T21:48:16Z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3d34c83041b44448ad807b169298ac3b</vt:lpwstr>
  </property>
  <property fmtid="{D5CDD505-2E9C-101B-9397-08002B2CF9AE}" pid="3" name="KSOProductBuildVer">
    <vt:lpwstr>1033-12.2.0.23196</vt:lpwstr>
  </property>
</Properties>
</file>