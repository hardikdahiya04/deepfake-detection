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60" r:id="rId2"/>
  </p:sldIdLst>
  <p:sldSz cx="12801600" cy="9601200" type="A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973" y="48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48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3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3"/>
          <p:cNvSpPr txBox="1"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 panose="020F0502020204030204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/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9pPr>
          </a:lstStyle>
          <a:p>
            <a:endParaRPr/>
          </a:p>
        </p:txBody>
      </p:sp>
      <p:sp>
        <p:nvSpPr>
          <p:cNvPr id="1048583" name="Google Shape;14;p3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5;p3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Google Shape;18;p4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4" name="Google Shape;19;p4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05" name="Google Shape;20;p4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6" name="Google Shape;21;p4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7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24;p5"/>
          <p:cNvSpPr txBox="1"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 panose="020F0502020204030204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0" name="Google Shape;25;p5"/>
          <p:cNvSpPr txBox="1"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 sz="252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21" name="Google Shape;26;p5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2" name="Google Shape;27;p5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3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30;p6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5" name="Google Shape;31;p6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26" name="Google Shape;32;p6"/>
          <p:cNvSpPr txBox="1">
            <a:spLocks noGrp="1"/>
          </p:cNvSpPr>
          <p:nvPr>
            <p:ph type="body" idx="2"/>
          </p:nvPr>
        </p:nvSpPr>
        <p:spPr>
          <a:xfrm>
            <a:off x="64808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27" name="Google Shape;33;p6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8" name="Google Shape;34;p6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9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37;p7"/>
          <p:cNvSpPr txBox="1"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1" name="Google Shape;38;p7"/>
          <p:cNvSpPr txBox="1"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 b="1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9pPr>
          </a:lstStyle>
          <a:p>
            <a:endParaRPr/>
          </a:p>
        </p:txBody>
      </p:sp>
      <p:sp>
        <p:nvSpPr>
          <p:cNvPr id="1048632" name="Google Shape;39;p7"/>
          <p:cNvSpPr txBox="1">
            <a:spLocks noGrp="1"/>
          </p:cNvSpPr>
          <p:nvPr>
            <p:ph type="body" idx="2"/>
          </p:nvPr>
        </p:nvSpPr>
        <p:spPr>
          <a:xfrm>
            <a:off x="881779" y="3507105"/>
            <a:ext cx="5415676" cy="515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3" name="Google Shape;40;p7"/>
          <p:cNvSpPr txBox="1">
            <a:spLocks noGrp="1"/>
          </p:cNvSpPr>
          <p:nvPr>
            <p:ph type="body" idx="3"/>
          </p:nvPr>
        </p:nvSpPr>
        <p:spPr>
          <a:xfrm>
            <a:off x="6480811" y="2353628"/>
            <a:ext cx="5442347" cy="11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 b="1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9pPr>
          </a:lstStyle>
          <a:p>
            <a:endParaRPr/>
          </a:p>
        </p:txBody>
      </p:sp>
      <p:sp>
        <p:nvSpPr>
          <p:cNvPr id="1048634" name="Google Shape;41;p7"/>
          <p:cNvSpPr txBox="1">
            <a:spLocks noGrp="1"/>
          </p:cNvSpPr>
          <p:nvPr>
            <p:ph type="body" idx="4"/>
          </p:nvPr>
        </p:nvSpPr>
        <p:spPr>
          <a:xfrm>
            <a:off x="6480811" y="3507105"/>
            <a:ext cx="5442347" cy="515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5" name="Google Shape;42;p7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6" name="Google Shape;43;p7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Google Shape;46;p8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5" name="Google Shape;47;p8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48;p8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51;p9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9" name="Google Shape;52;p9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0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55;p10"/>
          <p:cNvSpPr txBox="1"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 panose="020F0502020204030204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2" name="Google Shape;56;p10"/>
          <p:cNvSpPr txBox="1">
            <a:spLocks noGrp="1"/>
          </p:cNvSpPr>
          <p:nvPr>
            <p:ph type="body" idx="1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30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480"/>
              <a:buChar char="•"/>
              <a:defRPr sz="4480"/>
            </a:lvl1pPr>
            <a:lvl2pPr marL="914400" lvl="1" indent="-47752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920"/>
              <a:buChar char="•"/>
              <a:defRPr sz="3920"/>
            </a:lvl2pPr>
            <a:lvl3pPr marL="1371600" lvl="2" indent="-44196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3pPr>
            <a:lvl4pPr marL="1828800" lvl="3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4pPr>
            <a:lvl5pPr marL="2286000" lvl="4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5pPr>
            <a:lvl6pPr marL="2743200" lvl="5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6pPr>
            <a:lvl7pPr marL="3200400" lvl="6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7pPr>
            <a:lvl8pPr marL="3657600" lvl="7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8pPr>
            <a:lvl9pPr marL="4114800" lvl="8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9pPr>
          </a:lstStyle>
          <a:p>
            <a:endParaRPr/>
          </a:p>
        </p:txBody>
      </p:sp>
      <p:sp>
        <p:nvSpPr>
          <p:cNvPr id="1048643" name="Google Shape;57;p10"/>
          <p:cNvSpPr txBox="1">
            <a:spLocks noGrp="1"/>
          </p:cNvSpPr>
          <p:nvPr>
            <p:ph type="body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644" name="Google Shape;58;p10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9;p10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62;p11"/>
          <p:cNvSpPr txBox="1"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 panose="020F0502020204030204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9" name="Google Shape;63;p11"/>
          <p:cNvSpPr>
            <a:spLocks noGrp="1"/>
          </p:cNvSpPr>
          <p:nvPr>
            <p:ph type="pic" idx="2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</p:sp>
      <p:sp>
        <p:nvSpPr>
          <p:cNvPr id="1048610" name="Google Shape;64;p11"/>
          <p:cNvSpPr txBox="1">
            <a:spLocks noGrp="1"/>
          </p:cNvSpPr>
          <p:nvPr>
            <p:ph type="body" idx="1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611" name="Google Shape;65;p11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2" name="Google Shape;66;p11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3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69;p12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5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354864" y="81122"/>
            <a:ext cx="6091873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16" name="Google Shape;71;p12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7" name="Google Shape;72;p12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8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6473032" y="3199289"/>
            <a:ext cx="8136573" cy="276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9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872332" y="518954"/>
            <a:ext cx="8136573" cy="812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00" name="Google Shape;77;p13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1" name="Google Shape;78;p13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2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2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60"/>
              <a:buFont typeface="Calibri" panose="020F0502020204030204"/>
              <a:buNone/>
              <a:defRPr sz="616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2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7752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920"/>
              <a:buFont typeface="Arial" panose="020B0604020202020204"/>
              <a:buChar char="•"/>
              <a:defRPr sz="39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4196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 panose="020B0604020202020204"/>
              <a:buChar char="•"/>
              <a:defRPr sz="336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8" name="Google Shape;8;p2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9" name="Google Shape;9;p2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8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mailto:Harshaditya.sharma2022@vitstudent.ac.in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musabbirarrafi/vegnet-organized-dataset-of-cauliflower-disease" TargetMode="External"/><Relationship Id="rId5" Type="http://schemas.openxmlformats.org/officeDocument/2006/relationships/hyperlink" Target="mailto:Prashant.singh@vitstudent.ac.in" TargetMode="External"/><Relationship Id="rId4" Type="http://schemas.openxmlformats.org/officeDocument/2006/relationships/hyperlink" Target="mailto:Joelabhishek.beera2022@vitstudent.ac.in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4;p1"/>
          <p:cNvSpPr txBox="1"/>
          <p:nvPr/>
        </p:nvSpPr>
        <p:spPr>
          <a:xfrm>
            <a:off x="8688598" y="1282085"/>
            <a:ext cx="4067924" cy="8793008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70C0"/>
                </a:solidFill>
                <a:latin typeface="+mj-lt"/>
              </a:rPr>
              <a:t>RESULTS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070C0"/>
                </a:solidFill>
                <a:latin typeface="+mj-lt"/>
              </a:rPr>
              <a:t>Primary Results (SolidiFI Benchmark)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Reentrancy (SWC-107): F1=0.977, Precision=0.981, Recall=0.974, FPR=4.2%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Integer Arithmetic (SWC-101): F1=0.971, Precision=0.973, FPR=5.1%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Access Control (SWC-115): F1=0.982, Precision=0.985 — best in class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Weighted Average F1 = 0.977, FPR = 4.6%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070C0"/>
                </a:solidFill>
                <a:latin typeface="+mj-lt"/>
              </a:rPr>
              <a:t>Baseline Comparison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Slither alone: F1=0.68, FPR∼32%  |  Mythril alone: F1=0.71, FPR∼29%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GNN alone (no consensus): F1=0.93, FPR=8%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b="1" dirty="0">
                <a:solidFill>
                  <a:srgbClr val="231F20"/>
                </a:solidFill>
                <a:latin typeface="+mj-lt"/>
              </a:rPr>
              <a:t>SmartAudit AI (full): F1=0.977, FPR=4.6% — best across all metrics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070C0"/>
                </a:solidFill>
                <a:latin typeface="+mj-lt"/>
              </a:rPr>
              <a:t>CI/CD Feasibility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Small (&lt;100 LOC): 6.4s total  |  Medium (100-500 LOC): 18.2s</a:t>
            </a:r>
          </a:p>
          <a:p>
            <a:pPr marL="171450" marR="0" lvl="0" indent="-171450" algn="l" rtl="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Attention weights correctly identified vulnerable code 94% of the time in true-positive cases.</a:t>
            </a:r>
            <a:endParaRPr sz="900" b="1" cap="none" dirty="0">
              <a:solidFill>
                <a:srgbClr val="0070C0"/>
              </a:solidFill>
              <a:latin typeface="+mj-lt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 dirty="0">
                <a:solidFill>
                  <a:srgbClr val="0070C0"/>
                </a:solidFill>
                <a:latin typeface="+mj-lt"/>
                <a:ea typeface="Arial" panose="020B0604020202020204"/>
                <a:cs typeface="Arial" panose="020B0604020202020204"/>
                <a:sym typeface="Arial" panose="020B0604020202020204"/>
              </a:rPr>
              <a:t>CONCLUSION</a:t>
            </a:r>
          </a:p>
          <a:p>
            <a:pPr marL="171450" marR="0" lvl="0" indent="-171450" algn="l" rtl="0"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SmartAudit AI achieves weighted F1 = 0.977 on SolidiFI — outperforming Slither (0.68) and Mythril (0.71) while cutting FPR from ∼30% to just 4.6%.</a:t>
            </a:r>
          </a:p>
          <a:p>
            <a:pPr marL="171450" marR="0" lvl="0" indent="-171450" algn="l" rtl="0"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Tri-tool consensus is the key differentiator: GNN + Slither + Mythril independently agreeing makes false positives extremely unlikely since each uses a completely different detection approach.</a:t>
            </a:r>
          </a:p>
          <a:p>
            <a:pPr marL="171450" marR="0" lvl="0" indent="-171450" algn="l" rtl="0"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Developer trust was harder to earn than accuracy. Line-level attention heatmaps and Gemini natural-language explanations were essential — not optional — for user adoption.</a:t>
            </a:r>
          </a:p>
          <a:p>
            <a:pPr marL="171450" marR="0" lvl="0" indent="-171450" algn="l" rtl="0">
              <a:spcBef>
                <a:spcPts val="150"/>
              </a:spcBef>
              <a:spcAft>
                <a:spcPts val="15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Future work: cross-contract CFG for flash-loan detection, Vyper language support, VS Code extension for real-time inline annotations, and Docker containerisation for zero-setup deployment.</a:t>
            </a:r>
          </a:p>
          <a:p>
            <a:pPr lvl="0">
              <a:buSzPts val="1200"/>
            </a:pPr>
            <a:r>
              <a:rPr lang="en-US" sz="1100" b="1" dirty="0">
                <a:solidFill>
                  <a:srgbClr val="0070C0"/>
                </a:solidFill>
              </a:rPr>
              <a:t>CONTACT DETAILS</a:t>
            </a:r>
          </a:p>
          <a:p>
            <a:pPr lvl="0">
              <a:buSzPts val="1200"/>
            </a:pPr>
            <a:endParaRPr lang="en-US" sz="1100" b="1" dirty="0">
              <a:solidFill>
                <a:srgbClr val="0070C0"/>
              </a:solidFill>
            </a:endParaRPr>
          </a:p>
          <a:p>
            <a:pPr lvl="0"/>
            <a:r>
              <a:rPr lang="en-US" sz="1100" b="1" dirty="0">
                <a:solidFill>
                  <a:srgbClr val="0070C0"/>
                </a:solidFill>
              </a:rPr>
              <a:t>MAILID: </a:t>
            </a:r>
            <a:r>
              <a:rPr lang="en-US" sz="900" dirty="0">
                <a:solidFill>
                  <a:srgbClr val="0070C0"/>
                </a:solidFill>
                <a:hlinkClick r:id="rId3"/>
              </a:rPr>
              <a:t>A</a:t>
            </a:r>
            <a:r>
              <a:rPr lang="en-US" sz="900" dirty="0">
                <a:solidFill>
                  <a:srgbClr val="0070C0"/>
                </a:solidFill>
              </a:rPr>
              <a:t>nantabh.sahu2022</a:t>
            </a:r>
            <a:r>
              <a:rPr lang="en-US" sz="900" u="sng" dirty="0">
                <a:solidFill>
                  <a:schemeClr val="hlink"/>
                </a:solidFill>
                <a:hlinkClick r:id="rId3"/>
              </a:rPr>
              <a:t>@vitstudent.ac.in</a:t>
            </a:r>
            <a:r>
              <a:rPr lang="en-US" sz="900" b="1" dirty="0">
                <a:solidFill>
                  <a:srgbClr val="0070C0"/>
                </a:solidFill>
              </a:rPr>
              <a:t>,</a:t>
            </a:r>
            <a:r>
              <a:rPr lang="en-US" sz="1000" b="1" dirty="0">
                <a:solidFill>
                  <a:srgbClr val="0070C0"/>
                </a:solidFill>
              </a:rPr>
              <a:t> a</a:t>
            </a:r>
            <a:r>
              <a:rPr lang="en-US" sz="1000" dirty="0">
                <a:solidFill>
                  <a:srgbClr val="0070C0"/>
                </a:solidFill>
              </a:rPr>
              <a:t>kshat.thakkur2022</a:t>
            </a:r>
            <a:r>
              <a:rPr lang="en-US" sz="1000" u="sng" dirty="0">
                <a:solidFill>
                  <a:schemeClr val="hlink"/>
                </a:solidFill>
                <a:hlinkClick r:id="rId4"/>
              </a:rPr>
              <a:t>@vitstudent.ac.in</a:t>
            </a:r>
            <a:r>
              <a:rPr lang="en-US" sz="1000" dirty="0">
                <a:solidFill>
                  <a:schemeClr val="dk1"/>
                </a:solidFill>
              </a:rPr>
              <a:t>, </a:t>
            </a:r>
          </a:p>
          <a:p>
            <a:pPr lvl="0"/>
            <a:r>
              <a:rPr lang="en-US" sz="1000" dirty="0">
                <a:solidFill>
                  <a:schemeClr val="dk1"/>
                </a:solidFill>
              </a:rPr>
              <a:t>p</a:t>
            </a:r>
            <a:r>
              <a:rPr lang="en-US" sz="900" u="sng" dirty="0">
                <a:solidFill>
                  <a:schemeClr val="hlink"/>
                </a:solidFill>
                <a:hlinkClick r:id="rId5"/>
              </a:rPr>
              <a:t>rashant.singh@vitstudent.ac.in</a:t>
            </a:r>
            <a:r>
              <a:rPr lang="en-US" sz="900" dirty="0">
                <a:solidFill>
                  <a:schemeClr val="dk1"/>
                </a:solidFill>
              </a:rPr>
              <a:t> </a:t>
            </a:r>
          </a:p>
          <a:p>
            <a:pPr lvl="0"/>
            <a:endParaRPr lang="en-US" sz="900" dirty="0">
              <a:solidFill>
                <a:schemeClr val="dk1"/>
              </a:solidFill>
            </a:endParaRPr>
          </a:p>
          <a:p>
            <a:pPr lvl="0"/>
            <a:r>
              <a:rPr lang="en-US" sz="1100" b="1" dirty="0">
                <a:solidFill>
                  <a:srgbClr val="0070C0"/>
                </a:solidFill>
              </a:rPr>
              <a:t>MOBILE NO:  </a:t>
            </a:r>
            <a:r>
              <a:rPr lang="en-US" sz="900" dirty="0">
                <a:solidFill>
                  <a:schemeClr val="dk2"/>
                </a:solidFill>
              </a:rPr>
              <a:t>9580453129, 9810770296</a:t>
            </a:r>
            <a:endParaRPr lang="en-US" sz="900" dirty="0">
              <a:solidFill>
                <a:schemeClr val="dk1"/>
              </a:solidFill>
            </a:endParaRPr>
          </a:p>
          <a:p>
            <a:pPr marR="0" lvl="0" algn="l" rtl="0">
              <a:spcBef>
                <a:spcPts val="150"/>
              </a:spcBef>
              <a:spcAft>
                <a:spcPts val="150"/>
              </a:spcAft>
            </a:pPr>
            <a:endParaRPr lang="en-US" sz="900" dirty="0">
              <a:solidFill>
                <a:srgbClr val="231F20"/>
              </a:solidFill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 dirty="0">
                <a:solidFill>
                  <a:srgbClr val="0070C0"/>
                </a:solidFill>
                <a:latin typeface="+mj-lt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 lang="en-US" sz="1200" b="1" cap="none" dirty="0">
              <a:solidFill>
                <a:srgbClr val="0070C0"/>
              </a:solidFill>
              <a:latin typeface="+mj-lt"/>
              <a:cs typeface="Arial" panose="020B0604020202020204"/>
              <a:sym typeface="Arial" panose="020B0604020202020204"/>
            </a:endParaRPr>
          </a:p>
          <a:p>
            <a:pPr marL="171450" marR="144145" lvl="0" indent="-171450">
              <a:lnSpc>
                <a:spcPct val="111000"/>
              </a:lnSpc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231F20"/>
                </a:solidFill>
                <a:latin typeface="+mj-lt"/>
              </a:rPr>
              <a:t>[1] Feist, J. et al. (2019). Slither: A static analysis framework for smart contracts. WETSEB, IEEE/ACM.</a:t>
            </a:r>
          </a:p>
          <a:p>
            <a:pPr marL="171450" marR="144145" lvl="0" indent="-171450">
              <a:lnSpc>
                <a:spcPct val="111000"/>
              </a:lnSpc>
              <a:spcBef>
                <a:spcPts val="200"/>
              </a:spcBef>
              <a:buChar char="•"/>
            </a:pPr>
            <a:r>
              <a:rPr lang="en-US" sz="950" dirty="0">
                <a:solidFill>
                  <a:srgbClr val="231F20"/>
                </a:solidFill>
                <a:latin typeface="+mj-lt"/>
              </a:rPr>
              <a:t>[2] Guo, D. et al. (2021). GraphCodeBERT: Pre-training code representations with data flow. ICLR 2021.</a:t>
            </a:r>
          </a:p>
          <a:p>
            <a:pPr marL="171450" marR="144145" lvl="0" indent="-171450">
              <a:lnSpc>
                <a:spcPct val="111000"/>
              </a:lnSpc>
              <a:spcBef>
                <a:spcPts val="200"/>
              </a:spcBef>
              <a:buChar char="•"/>
            </a:pPr>
            <a:r>
              <a:rPr lang="en-US" sz="950" dirty="0">
                <a:solidFill>
                  <a:srgbClr val="231F20"/>
                </a:solidFill>
                <a:latin typeface="+mj-lt"/>
              </a:rPr>
              <a:t>[3] Velickovic, P. et al. (2018). Graph Attention Networks. ICLR 2018.</a:t>
            </a:r>
          </a:p>
          <a:p>
            <a:pPr marL="171450" marR="144145" lvl="0" indent="-171450">
              <a:lnSpc>
                <a:spcPct val="111000"/>
              </a:lnSpc>
              <a:spcBef>
                <a:spcPts val="200"/>
              </a:spcBef>
              <a:buChar char="•"/>
            </a:pPr>
            <a:r>
              <a:rPr lang="en-US" sz="1050" dirty="0">
                <a:solidFill>
                  <a:srgbClr val="231F20"/>
                </a:solidFill>
              </a:rPr>
              <a:t>[4] Zhuang, Y. et al. (2021). Smart contract vulnerability detection using GNNs. IJCAI 2021.</a:t>
            </a:r>
          </a:p>
          <a:p>
            <a:pPr marL="171450" marR="144145" lvl="0" indent="-171450">
              <a:lnSpc>
                <a:spcPct val="111000"/>
              </a:lnSpc>
              <a:spcBef>
                <a:spcPts val="200"/>
              </a:spcBef>
              <a:buChar char="•"/>
            </a:pPr>
            <a:r>
              <a:rPr lang="en-US" sz="1050" dirty="0">
                <a:solidFill>
                  <a:srgbClr val="231F20"/>
                </a:solidFill>
              </a:rPr>
              <a:t>[5] </a:t>
            </a:r>
            <a:r>
              <a:rPr lang="en-US" sz="1050" dirty="0" err="1">
                <a:solidFill>
                  <a:srgbClr val="231F20"/>
                </a:solidFill>
              </a:rPr>
              <a:t>Chainalysis</a:t>
            </a:r>
            <a:r>
              <a:rPr lang="en-US" sz="1050" dirty="0">
                <a:solidFill>
                  <a:srgbClr val="231F20"/>
                </a:solidFill>
              </a:rPr>
              <a:t>. (2023). 2023 Crypto Crime Report. </a:t>
            </a:r>
            <a:r>
              <a:rPr lang="en-US" sz="1050" dirty="0" err="1">
                <a:solidFill>
                  <a:srgbClr val="231F20"/>
                </a:solidFill>
              </a:rPr>
              <a:t>Chainalysis</a:t>
            </a:r>
            <a:r>
              <a:rPr lang="en-US" sz="1050">
                <a:solidFill>
                  <a:srgbClr val="231F20"/>
                </a:solidFill>
              </a:rPr>
              <a:t> Inc</a:t>
            </a:r>
            <a:endParaRPr lang="en-US" sz="1050" b="1" dirty="0">
              <a:solidFill>
                <a:srgbClr val="0070C0"/>
              </a:solidFill>
              <a:latin typeface="+mj-lt"/>
              <a:ea typeface="Times New Roman" panose="02020603050405020304" pitchFamily="18" charset="0"/>
              <a:hlinkClick r:id="rId6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+mj-lt"/>
              <a:ea typeface="Times New Roman" panose="02020603050405020304" pitchFamily="18" charset="0"/>
              <a:hlinkClick r:id="rId6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+mj-lt"/>
              <a:ea typeface="Times New Roman" panose="02020603050405020304" pitchFamily="18" charset="0"/>
              <a:hlinkClick r:id="rId6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+mj-lt"/>
              <a:ea typeface="Times New Roman" panose="02020603050405020304" pitchFamily="18" charset="0"/>
              <a:hlinkClick r:id="rId6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+mj-lt"/>
              <a:ea typeface="Times New Roman" panose="02020603050405020304" pitchFamily="18" charset="0"/>
              <a:hlinkClick r:id="rId6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+mj-lt"/>
              <a:ea typeface="Times New Roman" panose="02020603050405020304" pitchFamily="18" charset="0"/>
              <a:hlinkClick r:id="rId6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87" name="Google Shape;85;p1"/>
          <p:cNvSpPr/>
          <p:nvPr/>
        </p:nvSpPr>
        <p:spPr>
          <a:xfrm>
            <a:off x="-2146" y="20740"/>
            <a:ext cx="12803746" cy="1273655"/>
          </a:xfrm>
          <a:custGeom>
            <a:avLst/>
            <a:gdLst/>
            <a:ahLst/>
            <a:cxnLst/>
            <a:rect l="l" t="t" r="r" b="b"/>
            <a:pathLst>
              <a:path w="20104100" h="2233930" extrusionOk="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405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8588" name="Google Shape;86;p1"/>
          <p:cNvSpPr txBox="1"/>
          <p:nvPr/>
        </p:nvSpPr>
        <p:spPr>
          <a:xfrm>
            <a:off x="4351557" y="45161"/>
            <a:ext cx="6237962" cy="69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50" rIns="0" bIns="0" anchor="b" anchorCtr="0">
            <a:spAutoFit/>
          </a:bodyPr>
          <a:lstStyle/>
          <a:p>
            <a:pPr marL="635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</a:rPr>
              <a:t>Smart Contract Vulnerability Detection Using Hybrid GNN and GraphCodeBERT</a:t>
            </a:r>
          </a:p>
          <a:p>
            <a:pPr marL="635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lang="en-US" sz="1800" b="1" dirty="0">
              <a:solidFill>
                <a:schemeClr val="bg1"/>
              </a:solidFill>
              <a:effectLst/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1048589" name="Google Shape;91;p1"/>
          <p:cNvSpPr txBox="1"/>
          <p:nvPr/>
        </p:nvSpPr>
        <p:spPr>
          <a:xfrm>
            <a:off x="52662" y="1294958"/>
            <a:ext cx="4221181" cy="8217750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  <a:sym typeface="Arial" panose="020B0604020202020204"/>
              </a:rPr>
              <a:t>MOTIVATION / INTRODUCTION</a:t>
            </a:r>
            <a:endParaRPr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  <a:cs typeface="Times New Roman" panose="02020603050405020304" pitchFamily="18" charset="0"/>
                <a:sym typeface="Arial" panose="020B0604020202020204"/>
              </a:rPr>
              <a:t>Over $3.8 billion was lost to smart contract exploits in 2022 alone. The DAO hack (2016), Parity wallet freeze ($150M), and Wormhole bridge attack ($320M) exposed how immutable code means bugs are permanent.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  <a:cs typeface="Times New Roman" panose="02020603050405020304" pitchFamily="18" charset="0"/>
              </a:rPr>
              <a:t>Existing tools fail developers: Slither triggers 30-50% false positives, Mythril times out on complex contracts, and ML tools give a yes/no verdict with no explanation of where or why.</a:t>
            </a:r>
            <a:br>
              <a:rPr lang="en-US" sz="900" dirty="0">
                <a:solidFill>
                  <a:srgbClr val="231F20"/>
                </a:solidFill>
                <a:latin typeface="+mj-lt"/>
                <a:cs typeface="Times New Roman" panose="02020603050405020304" pitchFamily="18" charset="0"/>
              </a:rPr>
            </a:br>
            <a:endParaRPr lang="en-US" sz="900" dirty="0">
              <a:solidFill>
                <a:srgbClr val="231F20"/>
              </a:solidFill>
              <a:latin typeface="+mj-lt"/>
              <a:cs typeface="Times New Roman" panose="02020603050405020304" pitchFamily="18" charset="0"/>
            </a:endParaRPr>
          </a:p>
          <a:p>
            <a:pPr marR="144145" lvl="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</a:pPr>
            <a:r>
              <a:rPr lang="en-US" b="1" dirty="0">
                <a:solidFill>
                  <a:srgbClr val="0070C0"/>
                </a:solidFill>
                <a:latin typeface="+mj-lt"/>
              </a:rPr>
              <a:t>SDG GOAL NUMBER: 9 (Industry, Innovation and Infrastructure)</a:t>
            </a:r>
            <a:endParaRPr lang="en-US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endParaRPr lang="en-US" b="1" cap="none" dirty="0">
              <a:solidFill>
                <a:srgbClr val="0070C0"/>
              </a:solidFill>
              <a:latin typeface="+mj-lt"/>
            </a:endParaRPr>
          </a:p>
          <a:p>
            <a:endParaRPr lang="en-US" b="1" dirty="0">
              <a:solidFill>
                <a:srgbClr val="0070C0"/>
              </a:solidFill>
              <a:latin typeface="+mj-lt"/>
            </a:endParaRPr>
          </a:p>
          <a:p>
            <a:r>
              <a:rPr lang="en-US" b="1" cap="none" dirty="0">
                <a:solidFill>
                  <a:srgbClr val="0070C0"/>
                </a:solidFill>
                <a:latin typeface="+mj-lt"/>
              </a:rPr>
              <a:t>OBJECTIVES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Design HybridGNN combining 768-dim GraphCodeBERT embeddings with a 2-layer 4-head GAT for multi-label vulnerability classification across 5 SWC classes.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Build CFG extraction pipeline parsing Solidity into function-level nodes with 12-dimensional handcrafted feature vectors per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node.Achieve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F1-score ≥ 0.90 across five vulnerability classes on SolidiFI benchmark.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Integrate Slither, custom Mythril reimplementation, and Gemini 2.0 Flash into a unified tri-tool consensus pipeline with &lt;10% FPR.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Develop production-grade FastAPI backend with React 18 dashboard featuring 7 tabs, real-time CFG visualisation, and line-level attention heatmaps.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Evaluate against standalone Slither and Mythril to demonstrate measurable improvement in precision, recall, and FPR.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Demonstrate analysis time &lt;30 seconds for CI/CD integration on contracts up to 500 lines.</a:t>
            </a:r>
          </a:p>
          <a:p>
            <a:endParaRPr lang="en-US" sz="1100" dirty="0">
              <a:latin typeface="+mj-lt"/>
            </a:endParaRPr>
          </a:p>
          <a:p>
            <a:r>
              <a:rPr lang="en-US" b="1" cap="none" dirty="0">
                <a:solidFill>
                  <a:srgbClr val="0070C0"/>
                </a:solidFill>
                <a:latin typeface="+mj-lt"/>
              </a:rPr>
              <a:t>SCOPE OF THE PROJECT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Supports Solidity smart contracts on EVM-compatible chains (Ethereum, Polygon, BSC), versions 0.4.x-0.8.x.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Full analysis for contracts up to 2,000 LOC; GNN+Slither continue for larger contracts where Mythril may time out.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Covers 5 target SWC classes: Reentrancy (107), Integer Arithmetic (101), Access Control (115), Unchecked Calls (104), Timestamp Dependence (116).</a:t>
            </a:r>
          </a:p>
          <a:p>
            <a:pPr marL="171450" marR="144145" lvl="0" indent="-171450" algn="l" rtl="0">
              <a:lnSpc>
                <a:spcPct val="111000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Out of scope: non-EVM chains (Solana, Tezos), bytecode-only analysis, real-time on-chain monitoring, and cross-contract vulnerability detection.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dirty="0">
              <a:solidFill>
                <a:srgbClr val="0070C0"/>
              </a:solidFill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dirty="0">
              <a:solidFill>
                <a:srgbClr val="0070C0"/>
              </a:solidFill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dirty="0">
              <a:solidFill>
                <a:srgbClr val="0070C0"/>
              </a:solidFill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050" b="1" dirty="0">
              <a:solidFill>
                <a:srgbClr val="0070C0"/>
              </a:solidFill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0" name="Google Shape;92;p1"/>
          <p:cNvSpPr txBox="1"/>
          <p:nvPr/>
        </p:nvSpPr>
        <p:spPr>
          <a:xfrm>
            <a:off x="4326505" y="1282393"/>
            <a:ext cx="4296167" cy="8428950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4925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 dirty="0">
                <a:solidFill>
                  <a:srgbClr val="0070C0"/>
                </a:solidFill>
                <a:latin typeface="+mj-lt"/>
              </a:rPr>
              <a:t>METHODOLOGY</a:t>
            </a:r>
          </a:p>
          <a:p>
            <a:pPr marL="0" marR="0" lvl="0" indent="0" algn="just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+mj-lt"/>
              </a:rPr>
              <a:t>Phase 1 — CFG Extraction</a:t>
            </a:r>
          </a:p>
          <a:p>
            <a:pPr marL="0" marR="0" lvl="0" indent="0" algn="just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Parses Solidity source into AST+CFG+DFG graph G=(V,E). Each function node gets a 12-dimensional handcrafted feature vector (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has_call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,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tx.origin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,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unchecked_return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, arithmetic density, etc.).</a:t>
            </a:r>
          </a:p>
          <a:p>
            <a:pPr marL="0" marR="0" lvl="0" indent="0" algn="just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+mj-lt"/>
              </a:rPr>
              <a:t>Phase 2 — </a:t>
            </a:r>
            <a:r>
              <a:rPr lang="en-US" sz="900" b="1" dirty="0" err="1">
                <a:solidFill>
                  <a:srgbClr val="0070C0"/>
                </a:solidFill>
                <a:latin typeface="+mj-lt"/>
              </a:rPr>
              <a:t>GraphCodeBERT</a:t>
            </a:r>
            <a:r>
              <a:rPr lang="en-US" sz="900" b="1" dirty="0">
                <a:solidFill>
                  <a:srgbClr val="0070C0"/>
                </a:solidFill>
                <a:latin typeface="+mj-lt"/>
              </a:rPr>
              <a:t> Embedding</a:t>
            </a:r>
          </a:p>
          <a:p>
            <a:pPr marL="0" marR="0" lvl="0" indent="0" algn="just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Each function is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tokenised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(≤512 tokens) through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microsoft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/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graphcodebert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-base. The 768-dim CLS token is concatenated with the 12 features and projected to 268 dimensions: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x_i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=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W_proj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× [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h_i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||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f_i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].</a:t>
            </a:r>
          </a:p>
          <a:p>
            <a:pPr marL="0" marR="0" lvl="0" indent="0" algn="just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+mj-lt"/>
              </a:rPr>
              <a:t>Phase 3 — Graph Attention Network (GAT)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Two-layer GAT: Layer 1 uses 4 attention heads (output 1024-dim), Layer 2 uses 1 head (256-dim). Attention weights α_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ij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are extracted as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explainability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signals for the line-level risk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heatmap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.</a:t>
            </a:r>
          </a:p>
          <a:p>
            <a:pPr marL="0" marR="0" lvl="0" indent="0" algn="just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+mj-lt"/>
              </a:rPr>
              <a:t>Phase 4 — Tri-Tool Consensus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Score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k_c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= I_GNN +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I_Slither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+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I_Mythril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∈ {0,1,2,3}. k=3→CRITICAL, k=2→HIGH, k=1→MEDIUM, k=0→SECURE. Critical/High findings trigger Gemini 2.0 Flash patch generation.</a:t>
            </a:r>
          </a:p>
          <a:p>
            <a:pPr marL="0" marR="0" lvl="0" indent="0" algn="just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+mj-lt"/>
              </a:rPr>
              <a:t>Training</a:t>
            </a:r>
          </a:p>
          <a:p>
            <a:pPr marL="0" marR="0" lvl="0" indent="0" algn="just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00" dirty="0" err="1">
                <a:solidFill>
                  <a:srgbClr val="231F20"/>
                </a:solidFill>
                <a:latin typeface="+mj-lt"/>
              </a:rPr>
              <a:t>SolidiFI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dataset (4,804 contracts), 80/10/10 split. Optimizer: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AdamW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(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lr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=2e-4, λ=0.01). Loss: multi-label binary cross-entropy + L2. Trained 100 epochs on RTX 4090 (≈14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hrs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).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GraphCodeBERT</a:t>
            </a:r>
            <a:r>
              <a:rPr lang="en-US" sz="900" dirty="0">
                <a:solidFill>
                  <a:srgbClr val="231F20"/>
                </a:solidFill>
                <a:latin typeface="+mj-lt"/>
              </a:rPr>
              <a:t> frozen for first 10 epochs.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 dirty="0">
                <a:solidFill>
                  <a:srgbClr val="0070C0"/>
                </a:solidFill>
                <a:latin typeface="+mj-lt"/>
              </a:rPr>
              <a:t>ARCHITECTURE</a:t>
            </a:r>
          </a:p>
          <a:p>
            <a:pPr marL="0" marR="0" lvl="0" indent="0" algn="just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070C0"/>
                </a:solidFill>
                <a:latin typeface="+mj-lt"/>
              </a:rPr>
              <a:t>Three-Layer System</a:t>
            </a:r>
          </a:p>
          <a:p>
            <a:pPr marL="171450" marR="0" lvl="0" indent="-171450" algn="just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Frontend: React 18 + TypeScript, 7-tab dashboard, Monaco editor, @xyflow CFG visualiser, attention heatmap, Gemini AI chat</a:t>
            </a:r>
          </a:p>
          <a:p>
            <a:pPr marL="171450" marR="0" lvl="0" indent="-171450" algn="just" rtl="0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Backend: FastAPI (async) + Uvicorn + pydantic-settings. GNN inference as singleton. Slither + Mythril dispatched in parallel via thread pool.</a:t>
            </a:r>
          </a:p>
          <a:p>
            <a:pPr marL="171450" indent="-171450" algn="just">
              <a:spcBef>
                <a:spcPts val="100"/>
              </a:spcBef>
              <a:spcAft>
                <a:spcPts val="150"/>
              </a:spcAft>
              <a:buFont typeface="Arial" panose="020B0604020202020204"/>
              <a:buChar char="•"/>
            </a:pPr>
            <a:r>
              <a:rPr lang="en-US" sz="900" dirty="0">
                <a:solidFill>
                  <a:srgbClr val="231F20"/>
                </a:solidFill>
                <a:latin typeface="+mj-lt"/>
              </a:rPr>
              <a:t>Data Layer: PostgreSQL (protobuf storage) + Celery/Redis for large-contract </a:t>
            </a:r>
            <a:r>
              <a:rPr lang="en-US" sz="900" dirty="0" err="1">
                <a:solidFill>
                  <a:srgbClr val="231F20"/>
                </a:solidFill>
                <a:latin typeface="+mj-lt"/>
              </a:rPr>
              <a:t>background</a:t>
            </a:r>
            <a:r>
              <a:rPr lang="en-US" sz="1050" dirty="0" err="1">
                <a:solidFill>
                  <a:srgbClr val="231F20"/>
                </a:solidFill>
                <a:latin typeface="+mj-lt"/>
              </a:rPr>
              <a:t>jobs</a:t>
            </a:r>
            <a:r>
              <a:rPr lang="en-US" sz="1050" dirty="0">
                <a:solidFill>
                  <a:srgbClr val="231F20"/>
                </a:solidFill>
                <a:latin typeface="+mj-lt"/>
              </a:rPr>
              <a:t>.</a:t>
            </a:r>
          </a:p>
          <a:p>
            <a:pPr algn="ctr">
              <a:spcBef>
                <a:spcPts val="100"/>
              </a:spcBef>
              <a:spcAft>
                <a:spcPts val="150"/>
              </a:spcAft>
            </a:pPr>
            <a:r>
              <a:rPr lang="en-US" sz="1050" b="1" u="sng" dirty="0"/>
              <a:t>System Design and Architecture</a:t>
            </a:r>
            <a:endParaRPr lang="en-US" sz="1050" b="1" u="sng" dirty="0">
              <a:solidFill>
                <a:srgbClr val="231F20"/>
              </a:solidFill>
              <a:latin typeface="+mj-lt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050" b="1" dirty="0">
              <a:solidFill>
                <a:srgbClr val="0070C0"/>
              </a:solidFill>
              <a:latin typeface="+mj-lt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050" b="1" dirty="0">
              <a:solidFill>
                <a:srgbClr val="0070C0"/>
              </a:solidFill>
              <a:latin typeface="+mj-lt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 b="1" cap="none" dirty="0">
                <a:solidFill>
                  <a:srgbClr val="0070C0"/>
                </a:solidFill>
                <a:latin typeface="+mj-lt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dirty="0">
              <a:latin typeface="+mj-lt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231F2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231F2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1" name="TextBox 2"/>
          <p:cNvSpPr txBox="1"/>
          <p:nvPr/>
        </p:nvSpPr>
        <p:spPr>
          <a:xfrm>
            <a:off x="4326505" y="435969"/>
            <a:ext cx="6263014" cy="85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Students: Akshat Thakur (22BCE1108), Anantabh Sahu (22BCE1357), Prashant Singh (22BCE1116)</a:t>
            </a:r>
          </a:p>
          <a:p>
            <a:r>
              <a:rPr lang="en-US" sz="1300" b="1" dirty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Guide: Dr. Shree Prakash, Assistant Professor</a:t>
            </a:r>
          </a:p>
          <a:p>
            <a:r>
              <a:rPr lang="en-US" sz="1300" b="1" dirty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School Of Computer Science And Engineering</a:t>
            </a:r>
            <a:endParaRPr lang="en-IN" sz="1300" b="1" dirty="0">
              <a:solidFill>
                <a:schemeClr val="bg1"/>
              </a:solidFill>
              <a:latin typeface="+mj-lt"/>
              <a:ea typeface="Times New Roman" panose="02020603050405020304" pitchFamily="18" charset="0"/>
            </a:endParaRPr>
          </a:p>
        </p:txBody>
      </p:sp>
      <p:pic>
        <p:nvPicPr>
          <p:cNvPr id="2097152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038" y="45161"/>
            <a:ext cx="4296428" cy="12495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3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604938" y="16572"/>
            <a:ext cx="2167003" cy="122721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4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6208" y="6728324"/>
            <a:ext cx="4116760" cy="2183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Microsoft Office PowerPoint</Application>
  <PresentationFormat>A3 Paper (297x420 mm)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Anantabh Sahu</cp:lastModifiedBy>
  <cp:revision>1</cp:revision>
  <dcterms:created xsi:type="dcterms:W3CDTF">2019-03-04T11:30:00Z</dcterms:created>
  <dcterms:modified xsi:type="dcterms:W3CDTF">2026-04-05T23:31:48Z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3d34c83041b44448ad807b169298ac3b</vt:lpwstr>
  </property>
  <property fmtid="{D5CDD505-2E9C-101B-9397-08002B2CF9AE}" pid="3" name="KSOProductBuildVer">
    <vt:lpwstr>1033-12.2.0.23196</vt:lpwstr>
  </property>
</Properties>
</file>